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45b7bacf-6399-b4c1-4823-46756eb1f308}">
          <p14:sldIdLst>
            <p14:sldId id="256"/>
          </p14:sldIdLst>
        </p14:section>
        <p14:section name="Part 1 · Finding the gaps" id="{81bebf96-2406-d09b-ec39-365946c801eb}">
          <p14:sldIdLst>
            <p14:sldId id="257"/>
            <p14:sldId id="258"/>
          </p14:sldIdLst>
        </p14:section>
        <p14:section name="Part 2 · The advisor's review" id="{61593f9c-77b7-ec0a-c446-3bb3590d76b7}">
          <p14:sldIdLst>
            <p14:sldId id="259"/>
            <p14:sldId id="260"/>
          </p14:sldIdLst>
        </p14:section>
        <p14:section name="Part 3 · The client's report" id="{34baddfd-889d-40f3-8d4d-014a189d2234}">
          <p14:sldIdLst>
            <p14:sldId id="261"/>
            <p14:sldId id="262"/>
          </p14:sldIdLst>
        </p14:section>
        <p14:section name="Roadmap" id="{a15e4a8a-e3c0-8177-cab6-15c79bfbd8c8}">
          <p14:sldIdLst>
            <p14:sldId id="263"/>
          </p14:sldIdLst>
        </p14:section>
        <p14:section name="Appendix" id="{6741de3c-cd32-d289-6e2f-0bbede6a3c6a}">
          <p14:sldIdLst>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23B30"/>
                </a:solidFill>
                <a:latin typeface="+mj-lt"/>
              </a:defRPr>
            </a:pPr>
            <a:r>
              <a:rPr sz="1400" b="0" i="0" u="none" strike="noStrike">
                <a:solidFill>
                  <a:srgbClr val="123B30"/>
                </a:solidFill>
                <a:latin typeface="+mj-lt"/>
              </a:rPr>
              <a:t>Stonebridge: each call is 22.5% of commitment</a:t>
            </a:r>
          </a:p>
        </c:rich>
      </c:tx>
      <c:layout/>
      <c:overlay val="0"/>
    </c:title>
    <c:autoTitleDeleted val="0"/>
    <c:plotArea>
      <c:layout/>
      <c:barChart>
        <c:barDir val="col"/>
        <c:grouping val="clustered"/>
        <c:varyColors val="0"/>
        <c:ser>
          <c:idx val="0"/>
          <c:order val="0"/>
          <c:tx>
            <c:strRef>
              <c:f>Sheet1!$B$1</c:f>
              <c:strCache>
                <c:ptCount val="1"/>
                <c:pt idx="0">
                  <c:v>PS Holdings</c:v>
                </c:pt>
              </c:strCache>
            </c:strRef>
          </c:tx>
          <c:spPr>
            <a:solidFill>
              <a:srgbClr val="1F7A5C"/>
            </a:solidFill>
            <a:effectLst/>
          </c:spPr>
          <c:invertIfNegative val="0"/>
          <c:dLbls>
            <c:numFmt formatCode="0.0" sourceLinked="0"/>
            <c:txPr>
              <a:bodyPr/>
              <a:lstStyle/>
              <a:p>
                <a:pPr>
                  <a:defRPr b="0" i="0" strike="noStrike" sz="900" u="none">
                    <a:solidFill>
                      <a:srgbClr val="5B6B64"/>
                    </a:solidFill>
                    <a:latin typeface="+mn-lt"/>
                  </a:defRPr>
                </a:pPr>
              </a:p>
            </c:txPr>
            <c:showLegendKey val="0"/>
            <c:showVal val="1"/>
            <c:showCatName val="0"/>
            <c:showSerName val="0"/>
            <c:showPercent val="0"/>
            <c:showBubbleSize val="0"/>
            <c:showLeaderLines val="0"/>
          </c:dLbls>
          <c:cat>
            <c:multiLvlStrRef>
              <c:f>Sheet1!$A$2:$A$5</c:f>
              <c:multiLvlStrCache>
                <c:ptCount val="4"/>
                <c:lvl>
                  <c:pt idx="0">
                    <c:v>Jan '24</c:v>
                  </c:pt>
                  <c:pt idx="1">
                    <c:v>Apr '24</c:v>
                  </c:pt>
                  <c:pt idx="2">
                    <c:v>Oct '24</c:v>
                  </c:pt>
                  <c:pt idx="3">
                    <c:v>Dec '24</c:v>
                  </c:pt>
                </c:lvl>
              </c:multiLvlStrCache>
            </c:multiLvlStrRef>
          </c:cat>
          <c:val>
            <c:numRef>
              <c:f>Sheet1!$B$2:$B$5</c:f>
              <c:numCache>
                <c:formatCode>General</c:formatCode>
                <c:ptCount val="4"/>
                <c:pt idx="0">
                  <c:v>22.5</c:v>
                </c:pt>
                <c:pt idx="1">
                  <c:v>22.5</c:v>
                </c:pt>
                <c:pt idx="2">
                  <c:v>22.5</c:v>
                </c:pt>
                <c:pt idx="3">
                  <c:v>22.5</c:v>
                </c:pt>
              </c:numCache>
            </c:numRef>
          </c:val>
        </c:ser>
        <c:ser>
          <c:idx val="1"/>
          <c:order val="1"/>
          <c:tx>
            <c:strRef>
              <c:f>Sheet1!$C$1</c:f>
              <c:strCache>
                <c:ptCount val="1"/>
                <c:pt idx="0">
                  <c:v>P. Shah Trust</c:v>
                </c:pt>
              </c:strCache>
            </c:strRef>
          </c:tx>
          <c:spPr>
            <a:solidFill>
              <a:srgbClr val="4E9C80"/>
            </a:solidFill>
            <a:effectLst/>
          </c:spPr>
          <c:invertIfNegative val="0"/>
          <c:dLbls>
            <c:numFmt formatCode="0.0" sourceLinked="0"/>
            <c:txPr>
              <a:bodyPr/>
              <a:lstStyle/>
              <a:p>
                <a:pPr>
                  <a:defRPr b="0" i="0" strike="noStrike" sz="900" u="none">
                    <a:solidFill>
                      <a:srgbClr val="5B6B64"/>
                    </a:solidFill>
                    <a:latin typeface="+mn-lt"/>
                  </a:defRPr>
                </a:pPr>
              </a:p>
            </c:txPr>
            <c:showLegendKey val="0"/>
            <c:showVal val="1"/>
            <c:showCatName val="0"/>
            <c:showSerName val="0"/>
            <c:showPercent val="0"/>
            <c:showBubbleSize val="0"/>
            <c:showLeaderLines val="0"/>
          </c:dLbls>
          <c:cat>
            <c:multiLvlStrRef>
              <c:f>Sheet1!$A$2:$A$5</c:f>
              <c:multiLvlStrCache>
                <c:ptCount val="4"/>
                <c:lvl>
                  <c:pt idx="0">
                    <c:v>Jan '24</c:v>
                  </c:pt>
                  <c:pt idx="1">
                    <c:v>Apr '24</c:v>
                  </c:pt>
                  <c:pt idx="2">
                    <c:v>Oct '24</c:v>
                  </c:pt>
                  <c:pt idx="3">
                    <c:v>Dec '24</c:v>
                  </c:pt>
                </c:lvl>
              </c:multiLvlStrCache>
            </c:multiLvlStrRef>
          </c:cat>
          <c:val>
            <c:numRef>
              <c:f>Sheet1!$C$2:$C$5</c:f>
              <c:numCache>
                <c:formatCode>General</c:formatCode>
                <c:ptCount val="4"/>
                <c:pt idx="0">
                  <c:v>22.5</c:v>
                </c:pt>
                <c:pt idx="1">
                  <c:v>22.5</c:v>
                </c:pt>
                <c:pt idx="2">
                  <c:v>22.5</c:v>
                </c:pt>
                <c:pt idx="3">
                  <c:v>22.5</c:v>
                </c:pt>
              </c:numCache>
            </c:numRef>
          </c:val>
        </c:ser>
        <c:ser>
          <c:idx val="2"/>
          <c:order val="2"/>
          <c:tx>
            <c:strRef>
              <c:f>Sheet1!$D$1</c:f>
              <c:strCache>
                <c:ptCount val="1"/>
                <c:pt idx="0">
                  <c:v>Hale Family Trust</c:v>
                </c:pt>
              </c:strCache>
            </c:strRef>
          </c:tx>
          <c:spPr>
            <a:solidFill>
              <a:srgbClr val="B9D7C9"/>
            </a:solidFill>
            <a:effectLst/>
          </c:spPr>
          <c:invertIfNegative val="0"/>
          <c:dLbls>
            <c:numFmt formatCode="0.0" sourceLinked="0"/>
            <c:txPr>
              <a:bodyPr/>
              <a:lstStyle/>
              <a:p>
                <a:pPr>
                  <a:defRPr b="0" i="0" strike="noStrike" sz="900" u="none">
                    <a:solidFill>
                      <a:srgbClr val="5B6B64"/>
                    </a:solidFill>
                    <a:latin typeface="+mn-lt"/>
                  </a:defRPr>
                </a:pPr>
              </a:p>
            </c:txPr>
            <c:showLegendKey val="0"/>
            <c:showVal val="1"/>
            <c:showCatName val="0"/>
            <c:showSerName val="0"/>
            <c:showPercent val="0"/>
            <c:showBubbleSize val="0"/>
            <c:showLeaderLines val="0"/>
          </c:dLbls>
          <c:cat>
            <c:multiLvlStrRef>
              <c:f>Sheet1!$A$2:$A$5</c:f>
              <c:multiLvlStrCache>
                <c:ptCount val="4"/>
                <c:lvl>
                  <c:pt idx="0">
                    <c:v>Jan '24</c:v>
                  </c:pt>
                  <c:pt idx="1">
                    <c:v>Apr '24</c:v>
                  </c:pt>
                  <c:pt idx="2">
                    <c:v>Oct '24</c:v>
                  </c:pt>
                  <c:pt idx="3">
                    <c:v>Dec '24</c:v>
                  </c:pt>
                </c:lvl>
              </c:multiLvlStrCache>
            </c:multiLvlStrRef>
          </c:cat>
          <c:val>
            <c:numRef>
              <c:f>Sheet1!$D$2:$D$5</c:f>
              <c:numCache>
                <c:formatCode>General</c:formatCode>
                <c:ptCount val="4"/>
                <c:pt idx="0">
                  <c:v>22.5</c:v>
                </c:pt>
                <c:pt idx="1">
                  <c:v>22.5</c:v>
                </c:pt>
                <c:pt idx="2">
                  <c:v>22.5</c:v>
                </c:pt>
                <c:pt idx="3">
                  <c:v>22.5</c:v>
                </c:pt>
              </c:numCache>
            </c:numRef>
          </c:val>
        </c:ser>
        <c:dLbls>
          <c:numFmt formatCode="0.0" sourceLinked="0"/>
          <c:txPr>
            <a:bodyPr/>
            <a:lstStyle/>
            <a:p>
              <a:pPr>
                <a:defRPr b="0" i="0" strike="noStrike" sz="900" u="none">
                  <a:solidFill>
                    <a:srgbClr val="5B6B64"/>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000" b="0" i="0" u="none" strike="noStrike">
                <a:solidFill>
                  <a:srgbClr val="5B6B64"/>
                </a:solidFill>
                <a:latin typeface="+mn-lt"/>
              </a:defRPr>
            </a:pPr>
            <a:endParaRPr lang="en-US"/>
          </a:p>
        </c:txPr>
        <c:crossAx val="2094734552"/>
        <c:crosses val="autoZero"/>
        <c:auto val="1"/>
        <c:lblAlgn val="ctr"/>
        <c:noMultiLvlLbl val="1"/>
      </c:catAx>
      <c:valAx>
        <c:axId val="2094734552"/>
        <c:scaling>
          <c:orientation val="minMax"/>
          <c:max val="3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5B6B64"/>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23B30"/>
                </a:solidFill>
                <a:latin typeface="+mj-lt"/>
              </a:defRPr>
            </a:pPr>
            <a:r>
              <a:rPr sz="1400" b="0" i="0" u="none" strike="noStrike">
                <a:solidFill>
                  <a:srgbClr val="123B30"/>
                </a:solidFill>
                <a:latin typeface="+mj-lt"/>
              </a:rPr>
              <a:t>Northwell: same dates, different shares</a:t>
            </a:r>
          </a:p>
        </c:rich>
      </c:tx>
      <c:layout/>
      <c:overlay val="0"/>
    </c:title>
    <c:autoTitleDeleted val="0"/>
    <c:plotArea>
      <c:layout/>
      <c:barChart>
        <c:barDir val="col"/>
        <c:grouping val="clustered"/>
        <c:varyColors val="0"/>
        <c:ser>
          <c:idx val="0"/>
          <c:order val="0"/>
          <c:tx>
            <c:strRef>
              <c:f>Sheet1!$B$1</c:f>
              <c:strCache>
                <c:ptCount val="1"/>
                <c:pt idx="0">
                  <c:v>Priyanka Shah</c:v>
                </c:pt>
              </c:strCache>
            </c:strRef>
          </c:tx>
          <c:spPr>
            <a:solidFill>
              <a:srgbClr val="A9B5AF"/>
            </a:solidFill>
            <a:effectLst/>
          </c:spPr>
          <c:invertIfNegative val="0"/>
          <c:dLbls>
            <c:numFmt formatCode="0.0" sourceLinked="0"/>
            <c:txPr>
              <a:bodyPr/>
              <a:lstStyle/>
              <a:p>
                <a:pPr>
                  <a:defRPr b="0" i="0" strike="noStrike" sz="900" u="none">
                    <a:solidFill>
                      <a:srgbClr val="5B6B64"/>
                    </a:solidFill>
                    <a:latin typeface="+mn-lt"/>
                  </a:defRPr>
                </a:pPr>
              </a:p>
            </c:txPr>
            <c:showLegendKey val="0"/>
            <c:showVal val="1"/>
            <c:showCatName val="0"/>
            <c:showSerName val="0"/>
            <c:showPercent val="0"/>
            <c:showBubbleSize val="0"/>
            <c:showLeaderLines val="0"/>
          </c:dLbls>
          <c:cat>
            <c:multiLvlStrRef>
              <c:f>Sheet1!$A$2:$A$6</c:f>
              <c:multiLvlStrCache>
                <c:ptCount val="5"/>
                <c:lvl>
                  <c:pt idx="0">
                    <c:v>Jul '22</c:v>
                  </c:pt>
                  <c:pt idx="1">
                    <c:v>Sep '22</c:v>
                  </c:pt>
                  <c:pt idx="2">
                    <c:v>Mar '23</c:v>
                  </c:pt>
                  <c:pt idx="3">
                    <c:v>May '23</c:v>
                  </c:pt>
                  <c:pt idx="4">
                    <c:v>Aug '23</c:v>
                  </c:pt>
                </c:lvl>
              </c:multiLvlStrCache>
            </c:multiLvlStrRef>
          </c:cat>
          <c:val>
            <c:numRef>
              <c:f>Sheet1!$B$2:$B$6</c:f>
              <c:numCache>
                <c:formatCode>General</c:formatCode>
                <c:ptCount val="5"/>
                <c:pt idx="0">
                  <c:v>20</c:v>
                </c:pt>
                <c:pt idx="1">
                  <c:v>20</c:v>
                </c:pt>
                <c:pt idx="2">
                  <c:v>20</c:v>
                </c:pt>
                <c:pt idx="3">
                  <c:v>20</c:v>
                </c:pt>
                <c:pt idx="4">
                  <c:v>20</c:v>
                </c:pt>
              </c:numCache>
            </c:numRef>
          </c:val>
        </c:ser>
        <c:ser>
          <c:idx val="1"/>
          <c:order val="1"/>
          <c:tx>
            <c:strRef>
              <c:f>Sheet1!$C$1</c:f>
              <c:strCache>
                <c:ptCount val="1"/>
                <c:pt idx="0">
                  <c:v>Hale Family Trust II</c:v>
                </c:pt>
              </c:strCache>
            </c:strRef>
          </c:tx>
          <c:spPr>
            <a:solidFill>
              <a:srgbClr val="C2412D"/>
            </a:solidFill>
            <a:effectLst/>
          </c:spPr>
          <c:invertIfNegative val="0"/>
          <c:dLbls>
            <c:numFmt formatCode="0.0" sourceLinked="0"/>
            <c:txPr>
              <a:bodyPr/>
              <a:lstStyle/>
              <a:p>
                <a:pPr>
                  <a:defRPr b="0" i="0" strike="noStrike" sz="900" u="none">
                    <a:solidFill>
                      <a:srgbClr val="5B6B64"/>
                    </a:solidFill>
                    <a:latin typeface="+mn-lt"/>
                  </a:defRPr>
                </a:pPr>
              </a:p>
            </c:txPr>
            <c:showLegendKey val="0"/>
            <c:showVal val="1"/>
            <c:showCatName val="0"/>
            <c:showSerName val="0"/>
            <c:showPercent val="0"/>
            <c:showBubbleSize val="0"/>
            <c:showLeaderLines val="0"/>
          </c:dLbls>
          <c:cat>
            <c:multiLvlStrRef>
              <c:f>Sheet1!$A$2:$A$6</c:f>
              <c:multiLvlStrCache>
                <c:ptCount val="5"/>
                <c:lvl>
                  <c:pt idx="0">
                    <c:v>Jul '22</c:v>
                  </c:pt>
                  <c:pt idx="1">
                    <c:v>Sep '22</c:v>
                  </c:pt>
                  <c:pt idx="2">
                    <c:v>Mar '23</c:v>
                  </c:pt>
                  <c:pt idx="3">
                    <c:v>May '23</c:v>
                  </c:pt>
                  <c:pt idx="4">
                    <c:v>Aug '23</c:v>
                  </c:pt>
                </c:lvl>
              </c:multiLvlStrCache>
            </c:multiLvlStrRef>
          </c:cat>
          <c:val>
            <c:numRef>
              <c:f>Sheet1!$C$2:$C$6</c:f>
              <c:numCache>
                <c:formatCode>General</c:formatCode>
                <c:ptCount val="5"/>
                <c:pt idx="0">
                  <c:v>15</c:v>
                </c:pt>
                <c:pt idx="1">
                  <c:v>25</c:v>
                </c:pt>
                <c:pt idx="2">
                  <c:v>16.67</c:v>
                </c:pt>
                <c:pt idx="3">
                  <c:v>23.33</c:v>
                </c:pt>
                <c:pt idx="4">
                  <c:v>20</c:v>
                </c:pt>
              </c:numCache>
            </c:numRef>
          </c:val>
        </c:ser>
        <c:dLbls>
          <c:numFmt formatCode="0.0" sourceLinked="0"/>
          <c:txPr>
            <a:bodyPr/>
            <a:lstStyle/>
            <a:p>
              <a:pPr>
                <a:defRPr b="0" i="0" strike="noStrike" sz="900" u="none">
                  <a:solidFill>
                    <a:srgbClr val="5B6B64"/>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000" b="0" i="0" u="none" strike="noStrike">
                <a:solidFill>
                  <a:srgbClr val="5B6B64"/>
                </a:solidFill>
                <a:latin typeface="+mn-lt"/>
              </a:defRPr>
            </a:pPr>
            <a:endParaRPr lang="en-US"/>
          </a:p>
        </c:txPr>
        <c:crossAx val="2094734552"/>
        <c:crosses val="autoZero"/>
        <c:auto val="1"/>
        <c:lblAlgn val="ctr"/>
        <c:noMultiLvlLbl val="1"/>
      </c:catAx>
      <c:valAx>
        <c:axId val="2094734552"/>
        <c:scaling>
          <c:orientation val="minMax"/>
          <c:max val="3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5B6B64"/>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Harbor Ridge connected two households last week: Hale and Shah. Seven legal entities, twelve fund positions, 338 documents.
The headline: in five funds across both households, statements report calls and distributions that hadn't happened yet as of the statement date.
Everything that follows is built on one principle: nothing reaches a client that the advisor hasn't cleared, and the client always knows what is and isn't verified.
Two Bridge advantages come up in every part: Bridge sees the same fund across many investors, and it holds the portal logins.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dot is one check on one position. Red changes a number the client sees; amber is document hygiene.
Only Ashbourne and Falcon Ridge tie.
Every check is a deterministic rule: same input, same output, and every failure carries its explanation (for example, 'includes calls dated after 9/30/24, rows 6 and 7').
Example for check 1: Stonebridge PS Holdings Q3'24 statement (row 3) says $225,000 paid in; only $112,500 was due by 9/30. The other two calls (rows 6, 7) are due in October and December.
Assumptions: contributed is gross of distributions; calls count by due date; $1 tolerance; tax estimates exempt from the date rule; value swing threshold 5x / 0.2x; staleness shown as an as-of date, not a failure.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Capital calls and distributions are pro-rata: on the same date, every investor pays the same percentage of their commitment.
Stonebridge: three entities, 22.5% on every call, 24.75% on the distribution. The Q3'24 statements in all three count the October and December calls and the March 2025 distribution. Identical across investors means a GP reporting convention, not three extraction errors. Bridge resolves it once.
Northwell: on the same five dates, Priyanka was called 20% each time (rows 197-201); Hale Family Trust II was called 15, 25, 16.7, 23.3 and 20% (rows 314-318). Both reach 100% and distributions match (67.5%), but the per-call amounts don't. Either one investor's calls are wrong or there was a late-close equalization. The advisor confirms.
A single-household tool can't run this check. It gets stronger as Bridge's coverage grows.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Tier is set by how sure Bridge can be, not by which check failed.
Tier 1 leans on Bridge's real advantage: portal logins. For a missing or suspect document, Bridge's first move is to fetch it again and re-read it, not to ask the advisor. Many tier 3 and 4 issues fall to tier 2 after that.
Only issues that change a client-facing number block the report. Old breaks, like Audax's small 2021 differences, can be acknowledged rather than resolved.
Anything that changes a client number gets at least one confirm click. The default shows the GP's statement as reported, with a footnote.
Designed for the advisor, not an ops analyst: recommendations, not raw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advisor reviews one position at a time, because that's how he thinks. Left: positions by status. Center: statements against notices, breaks highlighted. Right: Bridge's explanation, the recommended action and alternatives.
Overrides record who, when, old and new values, a reason code from a fixed list, a note and evidence. Every change is versioned and can be undone. He can never edit GP source figures, delete a failed check or edit the audit log.
Bridge has four ops people and an ideal customer who drops 3,000 unsorted documents on it. Addepar fixes exceptions with an alternatives data-ops team. Bridge can't, so this screen is the scaling mechanism: fix once and apply to every investor in the fund, remember each GP's conventions, and for GP-blocked items draft the inquiry, watch the portal with the customer's login, and re-run the checks when the corrected document lands.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the client sees: positions grouped by entity, each with its own as-of date and source, plus a clean document list for their household only.
Pending positions stay visible so the portfolio doesn't look smaller than it is, but carry no numbers and are left out of totals with a note.
Unverified figures appear only when the advisor explicitly chooses to show them; that choice is recorded as an override.
Hidden from the client: the checks, the audit trail, raw duplicates, hygiene issues and internal reason codes.
Figures shown are the Q3'24 statements as reported; the Stonebridge rows carry the advisor-approved footnote.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Borrowed from audit practice: every report opens with a verification statement, the way an auditor issues an unqualified or qualified opinion. The advisor's release is the signature; the audit trail is the working papers.
Today, before review, 2 of 12 positions reconcile. The example statement shows the Shah household after the advisor's review.
The guarantee comes from how the content is built, not from a gate. The advisor can generate a report at any time; an uncleared figure can never render as a plain number. Anything not explicitly cleared is excluded, every figure traces to a source row or an advisor resolution, documents reach a report only if they belong to that household, and each report is a frozen, versioned snapshot that records which issues were open.
'Bridge-verified' is also exactly what an underwriter wants to see.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eight checks, the tiered review and reports with a verification statement.
Next: remember each GP's conventions, close the loop with GPs through the portal, and resolve in bulk across investors.
Later: other security types (evergreen funds, hedge funds and directs don't have drawdown-style calls, so checks 1, 2 and 8 change shape), fund benchmarking from Bridge's internal dataset, and Bridge-verified data as input for lending and liquidity decisions.
Key assumptions: contributed is gross; calls count by due date; $1 tolerance; the book is reviewed as of its latest posting date (4/24/25); tax estimates are exempt from the date check; value-swing thresholds are 5x and 0.2x; the file was provided as .xlsx.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Generated directly from the reconciliation checks (checks/reconcile.py) and pinned by its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548640"/>
            <a:ext cx="10972800" cy="320040"/>
          </a:xfrm>
          <a:prstGeom prst="rect">
            <a:avLst/>
          </a:prstGeom>
          <a:noFill/>
          <a:ln/>
        </p:spPr>
        <p:txBody>
          <a:bodyPr wrap="square" rtlCol="0"/>
          <a:lstStyle>
            <a:lvl1pPr indent="0" marL="0">
              <a:buNone/>
              <a:defRPr lang="en-US" sz="1200" b="1" spc="200" kern="0" dirty="0">
                <a:solidFill>
                  <a:schemeClr val="accent6"/>
                </a:solidFill>
              </a:defRPr>
            </a:lvl1pPr>
          </a:lstStyle>
          <a:p>
            <a:pPr indent="0" marL="0">
              <a:buNone/>
            </a:pPr>
            <a:endParaRPr lang="en-US" sz="1200" dirty="0"/>
          </a:p>
        </p:txBody>
      </p:sp>
      <p:sp>
        <p:nvSpPr>
          <p:cNvPr id="3" name="Text 0"/>
          <p:cNvSpPr/>
          <p:nvPr>
            <p:ph idx="101" type="title" hasCustomPrompt="1"/>
          </p:nvPr>
        </p:nvSpPr>
        <p:spPr>
          <a:xfrm>
            <a:off x="548640" y="914400"/>
            <a:ext cx="10972800" cy="1005840"/>
          </a:xfrm>
          <a:prstGeom prst="rect">
            <a:avLst/>
          </a:prstGeom>
          <a:noFill/>
          <a:ln/>
        </p:spPr>
        <p:txBody>
          <a:bodyPr wrap="square" rtlCol="0"/>
          <a:lstStyle>
            <a:lvl1pPr algn="l" indent="0" marL="0">
              <a:buNone/>
              <a:defRPr lang="en-US" sz="48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0972800" cy="274320"/>
          </a:xfrm>
          <a:prstGeom prst="rect">
            <a:avLst/>
          </a:prstGeom>
          <a:noFill/>
          <a:ln/>
        </p:spPr>
        <p:txBody>
          <a:bodyPr wrap="square" rtlCol="0"/>
          <a:lstStyle>
            <a:lvl1pPr indent="0" marL="0">
              <a:buNone/>
              <a:defRPr lang="en-US" sz="1100" b="1" spc="200" kern="0" dirty="0">
                <a:solidFill>
                  <a:schemeClr val="accent1"/>
                </a:solidFill>
              </a:defRPr>
            </a:lvl1pPr>
          </a:lstStyle>
          <a:p>
            <a:pPr indent="0" marL="0">
              <a:buNone/>
            </a:pPr>
            <a:endParaRPr lang="en-US" sz="1100" dirty="0"/>
          </a:p>
        </p:txBody>
      </p:sp>
      <p:sp>
        <p:nvSpPr>
          <p:cNvPr id="3" name="Text 0"/>
          <p:cNvSpPr/>
          <p:nvPr>
            <p:ph idx="101" type="title" hasCustomPrompt="1"/>
          </p:nvPr>
        </p:nvSpPr>
        <p:spPr>
          <a:xfrm>
            <a:off x="548640" y="621792"/>
            <a:ext cx="11064240" cy="640080"/>
          </a:xfrm>
          <a:prstGeom prst="rect">
            <a:avLst/>
          </a:prstGeom>
          <a:noFill/>
          <a:ln/>
        </p:spPr>
        <p:txBody>
          <a:bodyPr wrap="square" rtlCol="0"/>
          <a:lstStyle>
            <a:lvl1pPr algn="l" indent="0" marL="0">
              <a:buNone/>
              <a:defRPr lang="en-US" sz="32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4" name="Text 0"/>
          <p:cNvSpPr/>
          <p:nvPr/>
        </p:nvSpPr>
        <p:spPr>
          <a:xfrm>
            <a:off x="548640" y="6473952"/>
            <a:ext cx="5486400" cy="228600"/>
          </a:xfrm>
          <a:prstGeom prst="rect">
            <a:avLst/>
          </a:prstGeom>
          <a:noFill/>
          <a:ln/>
        </p:spPr>
        <p:txBody>
          <a:bodyPr wrap="square" lIns="0" tIns="0" rIns="0" bIns="0" rtlCol="0" anchor="ctr"/>
          <a:lstStyle/>
          <a:p>
            <a:pPr indent="0" marL="0">
              <a:buNone/>
            </a:pPr>
            <a:r>
              <a:rPr lang="en-US" sz="900" dirty="0">
                <a:solidFill>
                  <a:schemeClr val="accent5"/>
                </a:solidFill>
              </a:rPr>
              <a:t>Harbor Ridge · Thursday review</a:t>
            </a:r>
            <a:endParaRPr lang="en-US" sz="900" dirty="0"/>
          </a:p>
        </p:txBody>
      </p:sp>
      <p:sp>
        <p:nvSpPr>
          <p:cNvPr id="25" name="Slide Number Placeholder 0"/>
          <p:cNvSpPr>
            <a:spLocks noGrp="1"/>
          </p:cNvSpPr>
          <p:nvPr>
            <p:ph type="sldNum" sz="quarter" idx="4294967295"/>
          </p:nvPr>
        </p:nvSpPr>
        <p:spPr>
          <a:xfrm>
            <a:off x="11274552" y="6473952"/>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74552" y="6473952"/>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3.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548640"/>
            <a:ext cx="10972800" cy="320040"/>
          </a:xfrm>
          <a:prstGeom prst="rect">
            <a:avLst/>
          </a:prstGeom>
          <a:noFill/>
          <a:ln/>
        </p:spPr>
        <p:txBody>
          <a:bodyPr wrap="square" lIns="0" tIns="0" rIns="0" bIns="0" rtlCol="0"/>
          <a:lstStyle/>
          <a:p>
            <a:pPr indent="0" marL="0">
              <a:buNone/>
            </a:pPr>
            <a:r>
              <a:rPr lang="en-US" sz="1200" b="1" spc="200" kern="0" dirty="0">
                <a:solidFill>
                  <a:schemeClr val="accent6"/>
                </a:solidFill>
              </a:rPr>
              <a:t>BRIDGE · PRODUCT EXERCISE</a:t>
            </a:r>
            <a:endParaRPr lang="en-US" sz="1200" dirty="0"/>
          </a:p>
        </p:txBody>
      </p:sp>
      <p:sp>
        <p:nvSpPr>
          <p:cNvPr id="3" name="Text 0"/>
          <p:cNvSpPr/>
          <p:nvPr>
            <p:ph idx="101" type="title" hasCustomPrompt="1"/>
          </p:nvPr>
        </p:nvSpPr>
        <p:spPr>
          <a:xfrm>
            <a:off x="548640" y="914400"/>
            <a:ext cx="10972800" cy="1005840"/>
          </a:xfrm>
          <a:prstGeom prst="rect">
            <a:avLst/>
          </a:prstGeom>
          <a:noFill/>
          <a:ln/>
        </p:spPr>
        <p:txBody>
          <a:bodyPr wrap="square" lIns="0" tIns="0" rIns="0" bIns="0" rtlCol="0" anchor="t"/>
          <a:lstStyle/>
          <a:p>
            <a:pPr algn="l" indent="0" marL="0">
              <a:buNone/>
            </a:pPr>
            <a:r>
              <a:rPr lang="en-US" sz="4800" b="1" dirty="0">
                <a:solidFill>
                  <a:schemeClr val="bg1"/>
                </a:solidFill>
                <a:latin typeface="Cambria" pitchFamily="34" charset="0"/>
                <a:ea typeface="Cambria" pitchFamily="34" charset="-122"/>
                <a:cs typeface="Cambria" pitchFamily="34" charset="-120"/>
              </a:rPr>
              <a:t>Make Thursday safe to show</a:t>
            </a:r>
            <a:endParaRPr lang="en-US" sz="4800" dirty="0"/>
          </a:p>
        </p:txBody>
      </p:sp>
      <p:sp>
        <p:nvSpPr>
          <p:cNvPr id="4" name="Text 2"/>
          <p:cNvSpPr txBox="1"/>
          <p:nvPr/>
        </p:nvSpPr>
        <p:spPr>
          <a:xfrm>
            <a:off x="548640" y="2331720"/>
            <a:ext cx="2468880" cy="914400"/>
          </a:xfrm>
          <a:prstGeom prst="rect">
            <a:avLst/>
          </a:prstGeom>
          <a:noFill/>
          <a:ln/>
        </p:spPr>
        <p:txBody>
          <a:bodyPr wrap="square" lIns="0" tIns="0" rIns="0" bIns="0" rtlCol="0" anchor="t"/>
          <a:lstStyle/>
          <a:p>
            <a:pPr indent="0" marL="0">
              <a:buNone/>
            </a:pPr>
            <a:r>
              <a:rPr lang="en-US" sz="6000" b="1" dirty="0">
                <a:solidFill>
                  <a:schemeClr val="bg1"/>
                </a:solidFill>
                <a:latin typeface="Cambria" pitchFamily="34" charset="0"/>
                <a:ea typeface="Cambria" pitchFamily="34" charset="-122"/>
                <a:cs typeface="Cambria" pitchFamily="34" charset="-120"/>
              </a:rPr>
              <a:t>2</a:t>
            </a:r>
            <a:endParaRPr lang="en-US" sz="6000" dirty="0"/>
          </a:p>
        </p:txBody>
      </p:sp>
      <p:sp>
        <p:nvSpPr>
          <p:cNvPr id="5" name="Text 3"/>
          <p:cNvSpPr txBox="1"/>
          <p:nvPr/>
        </p:nvSpPr>
        <p:spPr>
          <a:xfrm>
            <a:off x="548640" y="3246120"/>
            <a:ext cx="2468880" cy="320040"/>
          </a:xfrm>
          <a:prstGeom prst="rect">
            <a:avLst/>
          </a:prstGeom>
          <a:noFill/>
          <a:ln/>
        </p:spPr>
        <p:txBody>
          <a:bodyPr wrap="square" lIns="0" tIns="0" rIns="0" bIns="0" rtlCol="0" anchor="t"/>
          <a:lstStyle/>
          <a:p>
            <a:pPr indent="0" marL="0">
              <a:buNone/>
            </a:pPr>
            <a:r>
              <a:rPr lang="en-US" sz="1600" dirty="0">
                <a:solidFill>
                  <a:schemeClr val="accent6"/>
                </a:solidFill>
              </a:rPr>
              <a:t>households</a:t>
            </a:r>
            <a:endParaRPr lang="en-US" sz="1600" dirty="0"/>
          </a:p>
        </p:txBody>
      </p:sp>
      <p:sp>
        <p:nvSpPr>
          <p:cNvPr id="6" name="Text 4"/>
          <p:cNvSpPr txBox="1"/>
          <p:nvPr/>
        </p:nvSpPr>
        <p:spPr>
          <a:xfrm>
            <a:off x="3291840" y="2331720"/>
            <a:ext cx="2468880" cy="914400"/>
          </a:xfrm>
          <a:prstGeom prst="rect">
            <a:avLst/>
          </a:prstGeom>
          <a:noFill/>
          <a:ln/>
        </p:spPr>
        <p:txBody>
          <a:bodyPr wrap="square" lIns="0" tIns="0" rIns="0" bIns="0" rtlCol="0" anchor="t"/>
          <a:lstStyle/>
          <a:p>
            <a:pPr indent="0" marL="0">
              <a:buNone/>
            </a:pPr>
            <a:r>
              <a:rPr lang="en-US" sz="6000" b="1" dirty="0">
                <a:solidFill>
                  <a:schemeClr val="bg1"/>
                </a:solidFill>
                <a:latin typeface="Cambria" pitchFamily="34" charset="0"/>
                <a:ea typeface="Cambria" pitchFamily="34" charset="-122"/>
                <a:cs typeface="Cambria" pitchFamily="34" charset="-120"/>
              </a:rPr>
              <a:t>7</a:t>
            </a:r>
            <a:endParaRPr lang="en-US" sz="6000" dirty="0"/>
          </a:p>
        </p:txBody>
      </p:sp>
      <p:sp>
        <p:nvSpPr>
          <p:cNvPr id="7" name="Text 5"/>
          <p:cNvSpPr txBox="1"/>
          <p:nvPr/>
        </p:nvSpPr>
        <p:spPr>
          <a:xfrm>
            <a:off x="3291840" y="3246120"/>
            <a:ext cx="2468880" cy="320040"/>
          </a:xfrm>
          <a:prstGeom prst="rect">
            <a:avLst/>
          </a:prstGeom>
          <a:noFill/>
          <a:ln/>
        </p:spPr>
        <p:txBody>
          <a:bodyPr wrap="square" lIns="0" tIns="0" rIns="0" bIns="0" rtlCol="0" anchor="t"/>
          <a:lstStyle/>
          <a:p>
            <a:pPr indent="0" marL="0">
              <a:buNone/>
            </a:pPr>
            <a:r>
              <a:rPr lang="en-US" sz="1600" dirty="0">
                <a:solidFill>
                  <a:schemeClr val="accent6"/>
                </a:solidFill>
              </a:rPr>
              <a:t>entities</a:t>
            </a:r>
            <a:endParaRPr lang="en-US" sz="1600" dirty="0"/>
          </a:p>
        </p:txBody>
      </p:sp>
      <p:sp>
        <p:nvSpPr>
          <p:cNvPr id="8" name="Text 6"/>
          <p:cNvSpPr txBox="1"/>
          <p:nvPr/>
        </p:nvSpPr>
        <p:spPr>
          <a:xfrm>
            <a:off x="6035040" y="2331720"/>
            <a:ext cx="2468880" cy="914400"/>
          </a:xfrm>
          <a:prstGeom prst="rect">
            <a:avLst/>
          </a:prstGeom>
          <a:noFill/>
          <a:ln/>
        </p:spPr>
        <p:txBody>
          <a:bodyPr wrap="square" lIns="0" tIns="0" rIns="0" bIns="0" rtlCol="0" anchor="t"/>
          <a:lstStyle/>
          <a:p>
            <a:pPr indent="0" marL="0">
              <a:buNone/>
            </a:pPr>
            <a:r>
              <a:rPr lang="en-US" sz="6000" b="1" dirty="0">
                <a:solidFill>
                  <a:schemeClr val="bg1"/>
                </a:solidFill>
                <a:latin typeface="Cambria" pitchFamily="34" charset="0"/>
                <a:ea typeface="Cambria" pitchFamily="34" charset="-122"/>
                <a:cs typeface="Cambria" pitchFamily="34" charset="-120"/>
              </a:rPr>
              <a:t>12</a:t>
            </a:r>
            <a:endParaRPr lang="en-US" sz="6000" dirty="0"/>
          </a:p>
        </p:txBody>
      </p:sp>
      <p:sp>
        <p:nvSpPr>
          <p:cNvPr id="9" name="Text 7"/>
          <p:cNvSpPr txBox="1"/>
          <p:nvPr/>
        </p:nvSpPr>
        <p:spPr>
          <a:xfrm>
            <a:off x="6035040" y="3246120"/>
            <a:ext cx="2468880" cy="320040"/>
          </a:xfrm>
          <a:prstGeom prst="rect">
            <a:avLst/>
          </a:prstGeom>
          <a:noFill/>
          <a:ln/>
        </p:spPr>
        <p:txBody>
          <a:bodyPr wrap="square" lIns="0" tIns="0" rIns="0" bIns="0" rtlCol="0" anchor="t"/>
          <a:lstStyle/>
          <a:p>
            <a:pPr indent="0" marL="0">
              <a:buNone/>
            </a:pPr>
            <a:r>
              <a:rPr lang="en-US" sz="1600" dirty="0">
                <a:solidFill>
                  <a:schemeClr val="accent6"/>
                </a:solidFill>
              </a:rPr>
              <a:t>positions</a:t>
            </a:r>
            <a:endParaRPr lang="en-US" sz="1600" dirty="0"/>
          </a:p>
        </p:txBody>
      </p:sp>
      <p:sp>
        <p:nvSpPr>
          <p:cNvPr id="10" name="Text 8"/>
          <p:cNvSpPr txBox="1"/>
          <p:nvPr/>
        </p:nvSpPr>
        <p:spPr>
          <a:xfrm>
            <a:off x="8778240" y="2331720"/>
            <a:ext cx="2468880" cy="914400"/>
          </a:xfrm>
          <a:prstGeom prst="rect">
            <a:avLst/>
          </a:prstGeom>
          <a:noFill/>
          <a:ln/>
        </p:spPr>
        <p:txBody>
          <a:bodyPr wrap="square" lIns="0" tIns="0" rIns="0" bIns="0" rtlCol="0" anchor="t"/>
          <a:lstStyle/>
          <a:p>
            <a:pPr indent="0" marL="0">
              <a:buNone/>
            </a:pPr>
            <a:r>
              <a:rPr lang="en-US" sz="6000" b="1" dirty="0">
                <a:solidFill>
                  <a:schemeClr val="bg1"/>
                </a:solidFill>
                <a:latin typeface="Cambria" pitchFamily="34" charset="0"/>
                <a:ea typeface="Cambria" pitchFamily="34" charset="-122"/>
                <a:cs typeface="Cambria" pitchFamily="34" charset="-120"/>
              </a:rPr>
              <a:t>338</a:t>
            </a:r>
            <a:endParaRPr lang="en-US" sz="6000" dirty="0"/>
          </a:p>
        </p:txBody>
      </p:sp>
      <p:sp>
        <p:nvSpPr>
          <p:cNvPr id="11" name="Text 9"/>
          <p:cNvSpPr txBox="1"/>
          <p:nvPr/>
        </p:nvSpPr>
        <p:spPr>
          <a:xfrm>
            <a:off x="8778240" y="3246120"/>
            <a:ext cx="2468880" cy="320040"/>
          </a:xfrm>
          <a:prstGeom prst="rect">
            <a:avLst/>
          </a:prstGeom>
          <a:noFill/>
          <a:ln/>
        </p:spPr>
        <p:txBody>
          <a:bodyPr wrap="square" lIns="0" tIns="0" rIns="0" bIns="0" rtlCol="0" anchor="t"/>
          <a:lstStyle/>
          <a:p>
            <a:pPr indent="0" marL="0">
              <a:buNone/>
            </a:pPr>
            <a:r>
              <a:rPr lang="en-US" sz="1600" dirty="0">
                <a:solidFill>
                  <a:schemeClr val="accent6"/>
                </a:solidFill>
              </a:rPr>
              <a:t>documents</a:t>
            </a:r>
            <a:endParaRPr lang="en-US" sz="1600" dirty="0"/>
          </a:p>
        </p:txBody>
      </p:sp>
      <p:sp>
        <p:nvSpPr>
          <p:cNvPr id="12" name="Shape 10"/>
          <p:cNvSpPr/>
          <p:nvPr/>
        </p:nvSpPr>
        <p:spPr>
          <a:xfrm>
            <a:off x="548640" y="4507992"/>
            <a:ext cx="237744" cy="237744"/>
          </a:xfrm>
          <a:prstGeom prst="ellipse">
            <a:avLst/>
          </a:prstGeom>
          <a:solidFill>
            <a:schemeClr val="accent2"/>
          </a:solidFill>
          <a:ln w="9525">
            <a:solidFill>
              <a:schemeClr val="accent2"/>
            </a:solidFill>
            <a:prstDash val="solid"/>
          </a:ln>
        </p:spPr>
      </p:sp>
      <p:sp>
        <p:nvSpPr>
          <p:cNvPr id="13" name="Text 11"/>
          <p:cNvSpPr txBox="1"/>
          <p:nvPr/>
        </p:nvSpPr>
        <p:spPr>
          <a:xfrm>
            <a:off x="1005840" y="4434840"/>
            <a:ext cx="10058400" cy="411480"/>
          </a:xfrm>
          <a:prstGeom prst="rect">
            <a:avLst/>
          </a:prstGeom>
          <a:noFill/>
          <a:ln/>
        </p:spPr>
        <p:txBody>
          <a:bodyPr wrap="square" lIns="0" tIns="0" rIns="0" bIns="0" rtlCol="0" anchor="ctr"/>
          <a:lstStyle/>
          <a:p>
            <a:pPr indent="0" marL="0">
              <a:buNone/>
            </a:pPr>
            <a:r>
              <a:rPr lang="en-US" sz="2200" dirty="0">
                <a:solidFill>
                  <a:schemeClr val="bg1"/>
                </a:solidFill>
              </a:rPr>
              <a:t>Five funds report money that hadn't moved yet</a:t>
            </a:r>
            <a:endParaRPr lang="en-US" sz="2200" dirty="0"/>
          </a:p>
        </p:txBody>
      </p:sp>
      <p:sp>
        <p:nvSpPr>
          <p:cNvPr id="14" name="Shape 12"/>
          <p:cNvSpPr/>
          <p:nvPr/>
        </p:nvSpPr>
        <p:spPr>
          <a:xfrm>
            <a:off x="548640" y="5148072"/>
            <a:ext cx="237744" cy="237744"/>
          </a:xfrm>
          <a:prstGeom prst="ellipse">
            <a:avLst/>
          </a:prstGeom>
          <a:solidFill>
            <a:schemeClr val="accent1"/>
          </a:solidFill>
          <a:ln w="9525">
            <a:solidFill>
              <a:schemeClr val="accent1"/>
            </a:solidFill>
            <a:prstDash val="solid"/>
          </a:ln>
        </p:spPr>
      </p:sp>
      <p:sp>
        <p:nvSpPr>
          <p:cNvPr id="15" name="Text 13"/>
          <p:cNvSpPr txBox="1"/>
          <p:nvPr/>
        </p:nvSpPr>
        <p:spPr>
          <a:xfrm>
            <a:off x="1005840" y="5074920"/>
            <a:ext cx="10058400" cy="411480"/>
          </a:xfrm>
          <a:prstGeom prst="rect">
            <a:avLst/>
          </a:prstGeom>
          <a:noFill/>
          <a:ln/>
        </p:spPr>
        <p:txBody>
          <a:bodyPr wrap="square" lIns="0" tIns="0" rIns="0" bIns="0" rtlCol="0" anchor="ctr"/>
          <a:lstStyle/>
          <a:p>
            <a:pPr indent="0" marL="0">
              <a:buNone/>
            </a:pPr>
            <a:r>
              <a:rPr lang="en-US" sz="2200" dirty="0">
                <a:solidFill>
                  <a:schemeClr val="bg1"/>
                </a:solidFill>
              </a:rPr>
              <a:t>Principle: nothing reaches a client the advisor hasn't cleared</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0972800" cy="274320"/>
          </a:xfrm>
          <a:prstGeom prst="rect">
            <a:avLst/>
          </a:prstGeom>
          <a:noFill/>
          <a:ln/>
        </p:spPr>
        <p:txBody>
          <a:bodyPr wrap="square" lIns="0" tIns="0" rIns="0" bIns="0" rtlCol="0"/>
          <a:lstStyle/>
          <a:p>
            <a:pPr indent="0" marL="0">
              <a:buNone/>
            </a:pPr>
            <a:r>
              <a:rPr lang="en-US" sz="1100" b="1" spc="200" kern="0" dirty="0">
                <a:solidFill>
                  <a:schemeClr val="accent1"/>
                </a:solidFill>
              </a:rPr>
              <a:t>PART 1 · FINDING THE GAPS</a:t>
            </a:r>
            <a:endParaRPr lang="en-US" sz="1100" dirty="0"/>
          </a:p>
        </p:txBody>
      </p:sp>
      <p:sp>
        <p:nvSpPr>
          <p:cNvPr id="3" name="Text 0"/>
          <p:cNvSpPr/>
          <p:nvPr>
            <p:ph idx="101" type="title" hasCustomPrompt="1"/>
          </p:nvPr>
        </p:nvSpPr>
        <p:spPr>
          <a:xfrm>
            <a:off x="548640" y="621792"/>
            <a:ext cx="11064240" cy="640080"/>
          </a:xfrm>
          <a:prstGeom prst="rect">
            <a:avLst/>
          </a:prstGeom>
          <a:noFill/>
          <a:ln/>
        </p:spPr>
        <p:txBody>
          <a:bodyPr wrap="square" lIns="0" tIns="0" rIns="0" bIns="0" rtlCol="0" anchor="t"/>
          <a:lstStyle/>
          <a:p>
            <a:pPr algn="l" indent="0" marL="0">
              <a:buNone/>
            </a:pPr>
            <a:r>
              <a:rPr lang="en-US" sz="3200" b="1" dirty="0">
                <a:solidFill>
                  <a:schemeClr val="tx2"/>
                </a:solidFill>
                <a:latin typeface="Cambria" pitchFamily="34" charset="0"/>
                <a:ea typeface="Cambria" pitchFamily="34" charset="-122"/>
                <a:cs typeface="Cambria" pitchFamily="34" charset="-120"/>
              </a:rPr>
              <a:t>Eight checks, one picture</a:t>
            </a:r>
            <a:endParaRPr lang="en-US" sz="3200" dirty="0"/>
          </a:p>
        </p:txBody>
      </p:sp>
      <p:sp>
        <p:nvSpPr>
          <p:cNvPr id="4" name="Text 2"/>
          <p:cNvSpPr txBox="1"/>
          <p:nvPr/>
        </p:nvSpPr>
        <p:spPr>
          <a:xfrm>
            <a:off x="3291840" y="1463040"/>
            <a:ext cx="338328" cy="256032"/>
          </a:xfrm>
          <a:prstGeom prst="rect">
            <a:avLst/>
          </a:prstGeom>
          <a:noFill/>
          <a:ln/>
        </p:spPr>
        <p:txBody>
          <a:bodyPr wrap="square" lIns="0" tIns="0" rIns="0" bIns="0" rtlCol="0" anchor="t"/>
          <a:lstStyle/>
          <a:p>
            <a:pPr algn="ctr" indent="0" marL="0">
              <a:buNone/>
            </a:pPr>
            <a:r>
              <a:rPr lang="en-US" sz="1100" b="1" dirty="0">
                <a:solidFill>
                  <a:schemeClr val="accent5"/>
                </a:solidFill>
              </a:rPr>
              <a:t>1</a:t>
            </a:r>
            <a:endParaRPr lang="en-US" sz="1100" dirty="0"/>
          </a:p>
        </p:txBody>
      </p:sp>
      <p:sp>
        <p:nvSpPr>
          <p:cNvPr id="5" name="Text 3"/>
          <p:cNvSpPr txBox="1"/>
          <p:nvPr/>
        </p:nvSpPr>
        <p:spPr>
          <a:xfrm>
            <a:off x="3630168" y="1463040"/>
            <a:ext cx="338328" cy="256032"/>
          </a:xfrm>
          <a:prstGeom prst="rect">
            <a:avLst/>
          </a:prstGeom>
          <a:noFill/>
          <a:ln/>
        </p:spPr>
        <p:txBody>
          <a:bodyPr wrap="square" lIns="0" tIns="0" rIns="0" bIns="0" rtlCol="0" anchor="t"/>
          <a:lstStyle/>
          <a:p>
            <a:pPr algn="ctr" indent="0" marL="0">
              <a:buNone/>
            </a:pPr>
            <a:r>
              <a:rPr lang="en-US" sz="1100" b="1" dirty="0">
                <a:solidFill>
                  <a:schemeClr val="accent5"/>
                </a:solidFill>
              </a:rPr>
              <a:t>2</a:t>
            </a:r>
            <a:endParaRPr lang="en-US" sz="1100" dirty="0"/>
          </a:p>
        </p:txBody>
      </p:sp>
      <p:sp>
        <p:nvSpPr>
          <p:cNvPr id="6" name="Text 4"/>
          <p:cNvSpPr txBox="1"/>
          <p:nvPr/>
        </p:nvSpPr>
        <p:spPr>
          <a:xfrm>
            <a:off x="3968496" y="1463040"/>
            <a:ext cx="338328" cy="256032"/>
          </a:xfrm>
          <a:prstGeom prst="rect">
            <a:avLst/>
          </a:prstGeom>
          <a:noFill/>
          <a:ln/>
        </p:spPr>
        <p:txBody>
          <a:bodyPr wrap="square" lIns="0" tIns="0" rIns="0" bIns="0" rtlCol="0" anchor="t"/>
          <a:lstStyle/>
          <a:p>
            <a:pPr algn="ctr" indent="0" marL="0">
              <a:buNone/>
            </a:pPr>
            <a:r>
              <a:rPr lang="en-US" sz="1100" b="1" dirty="0">
                <a:solidFill>
                  <a:schemeClr val="accent5"/>
                </a:solidFill>
              </a:rPr>
              <a:t>3</a:t>
            </a:r>
            <a:endParaRPr lang="en-US" sz="1100" dirty="0"/>
          </a:p>
        </p:txBody>
      </p:sp>
      <p:sp>
        <p:nvSpPr>
          <p:cNvPr id="7" name="Text 5"/>
          <p:cNvSpPr txBox="1"/>
          <p:nvPr/>
        </p:nvSpPr>
        <p:spPr>
          <a:xfrm>
            <a:off x="4306824" y="1463040"/>
            <a:ext cx="338328" cy="256032"/>
          </a:xfrm>
          <a:prstGeom prst="rect">
            <a:avLst/>
          </a:prstGeom>
          <a:noFill/>
          <a:ln/>
        </p:spPr>
        <p:txBody>
          <a:bodyPr wrap="square" lIns="0" tIns="0" rIns="0" bIns="0" rtlCol="0" anchor="t"/>
          <a:lstStyle/>
          <a:p>
            <a:pPr algn="ctr" indent="0" marL="0">
              <a:buNone/>
            </a:pPr>
            <a:r>
              <a:rPr lang="en-US" sz="1100" b="1" dirty="0">
                <a:solidFill>
                  <a:schemeClr val="accent5"/>
                </a:solidFill>
              </a:rPr>
              <a:t>4</a:t>
            </a:r>
            <a:endParaRPr lang="en-US" sz="1100" dirty="0"/>
          </a:p>
        </p:txBody>
      </p:sp>
      <p:sp>
        <p:nvSpPr>
          <p:cNvPr id="8" name="Text 6"/>
          <p:cNvSpPr txBox="1"/>
          <p:nvPr/>
        </p:nvSpPr>
        <p:spPr>
          <a:xfrm>
            <a:off x="4645152" y="1463040"/>
            <a:ext cx="338328" cy="256032"/>
          </a:xfrm>
          <a:prstGeom prst="rect">
            <a:avLst/>
          </a:prstGeom>
          <a:noFill/>
          <a:ln/>
        </p:spPr>
        <p:txBody>
          <a:bodyPr wrap="square" lIns="0" tIns="0" rIns="0" bIns="0" rtlCol="0" anchor="t"/>
          <a:lstStyle/>
          <a:p>
            <a:pPr algn="ctr" indent="0" marL="0">
              <a:buNone/>
            </a:pPr>
            <a:r>
              <a:rPr lang="en-US" sz="1100" b="1" dirty="0">
                <a:solidFill>
                  <a:schemeClr val="accent5"/>
                </a:solidFill>
              </a:rPr>
              <a:t>5</a:t>
            </a:r>
            <a:endParaRPr lang="en-US" sz="1100" dirty="0"/>
          </a:p>
        </p:txBody>
      </p:sp>
      <p:sp>
        <p:nvSpPr>
          <p:cNvPr id="9" name="Text 7"/>
          <p:cNvSpPr txBox="1"/>
          <p:nvPr/>
        </p:nvSpPr>
        <p:spPr>
          <a:xfrm>
            <a:off x="4983480" y="1463040"/>
            <a:ext cx="338328" cy="256032"/>
          </a:xfrm>
          <a:prstGeom prst="rect">
            <a:avLst/>
          </a:prstGeom>
          <a:noFill/>
          <a:ln/>
        </p:spPr>
        <p:txBody>
          <a:bodyPr wrap="square" lIns="0" tIns="0" rIns="0" bIns="0" rtlCol="0" anchor="t"/>
          <a:lstStyle/>
          <a:p>
            <a:pPr algn="ctr" indent="0" marL="0">
              <a:buNone/>
            </a:pPr>
            <a:r>
              <a:rPr lang="en-US" sz="1100" b="1" dirty="0">
                <a:solidFill>
                  <a:schemeClr val="accent5"/>
                </a:solidFill>
              </a:rPr>
              <a:t>6</a:t>
            </a:r>
            <a:endParaRPr lang="en-US" sz="1100" dirty="0"/>
          </a:p>
        </p:txBody>
      </p:sp>
      <p:sp>
        <p:nvSpPr>
          <p:cNvPr id="10" name="Text 8"/>
          <p:cNvSpPr txBox="1"/>
          <p:nvPr/>
        </p:nvSpPr>
        <p:spPr>
          <a:xfrm>
            <a:off x="5321808" y="1463040"/>
            <a:ext cx="338328" cy="256032"/>
          </a:xfrm>
          <a:prstGeom prst="rect">
            <a:avLst/>
          </a:prstGeom>
          <a:noFill/>
          <a:ln/>
        </p:spPr>
        <p:txBody>
          <a:bodyPr wrap="square" lIns="0" tIns="0" rIns="0" bIns="0" rtlCol="0" anchor="t"/>
          <a:lstStyle/>
          <a:p>
            <a:pPr algn="ctr" indent="0" marL="0">
              <a:buNone/>
            </a:pPr>
            <a:r>
              <a:rPr lang="en-US" sz="1100" b="1" dirty="0">
                <a:solidFill>
                  <a:schemeClr val="accent5"/>
                </a:solidFill>
              </a:rPr>
              <a:t>7</a:t>
            </a:r>
            <a:endParaRPr lang="en-US" sz="1100" dirty="0"/>
          </a:p>
        </p:txBody>
      </p:sp>
      <p:sp>
        <p:nvSpPr>
          <p:cNvPr id="11" name="Text 9"/>
          <p:cNvSpPr txBox="1"/>
          <p:nvPr/>
        </p:nvSpPr>
        <p:spPr>
          <a:xfrm>
            <a:off x="5660136" y="1463040"/>
            <a:ext cx="338328" cy="256032"/>
          </a:xfrm>
          <a:prstGeom prst="rect">
            <a:avLst/>
          </a:prstGeom>
          <a:noFill/>
          <a:ln/>
        </p:spPr>
        <p:txBody>
          <a:bodyPr wrap="square" lIns="0" tIns="0" rIns="0" bIns="0" rtlCol="0" anchor="t"/>
          <a:lstStyle/>
          <a:p>
            <a:pPr algn="ctr" indent="0" marL="0">
              <a:buNone/>
            </a:pPr>
            <a:r>
              <a:rPr lang="en-US" sz="1100" b="1" dirty="0">
                <a:solidFill>
                  <a:schemeClr val="accent5"/>
                </a:solidFill>
              </a:rPr>
              <a:t>8</a:t>
            </a:r>
            <a:endParaRPr lang="en-US" sz="1100" dirty="0"/>
          </a:p>
        </p:txBody>
      </p:sp>
      <p:sp>
        <p:nvSpPr>
          <p:cNvPr id="12" name="Text 10"/>
          <p:cNvSpPr txBox="1"/>
          <p:nvPr/>
        </p:nvSpPr>
        <p:spPr>
          <a:xfrm>
            <a:off x="6089904" y="1463040"/>
            <a:ext cx="502920" cy="256032"/>
          </a:xfrm>
          <a:prstGeom prst="rect">
            <a:avLst/>
          </a:prstGeom>
          <a:noFill/>
          <a:ln/>
        </p:spPr>
        <p:txBody>
          <a:bodyPr wrap="square" lIns="0" tIns="0" rIns="0" bIns="0" rtlCol="0" anchor="t"/>
          <a:lstStyle/>
          <a:p>
            <a:pPr algn="ctr" indent="0" marL="0">
              <a:buNone/>
            </a:pPr>
            <a:r>
              <a:rPr lang="en-US" sz="1100" b="1" dirty="0">
                <a:solidFill>
                  <a:schemeClr val="accent1"/>
                </a:solidFill>
              </a:rPr>
              <a:t>Ties</a:t>
            </a:r>
            <a:endParaRPr lang="en-US" sz="1100" dirty="0"/>
          </a:p>
        </p:txBody>
      </p:sp>
      <p:sp>
        <p:nvSpPr>
          <p:cNvPr id="13" name="Text 11"/>
          <p:cNvSpPr txBox="1"/>
          <p:nvPr/>
        </p:nvSpPr>
        <p:spPr>
          <a:xfrm>
            <a:off x="548640" y="1792224"/>
            <a:ext cx="2743200" cy="201168"/>
          </a:xfrm>
          <a:prstGeom prst="rect">
            <a:avLst/>
          </a:prstGeom>
          <a:noFill/>
          <a:ln/>
        </p:spPr>
        <p:txBody>
          <a:bodyPr wrap="square" lIns="0" tIns="0" rIns="0" bIns="0" rtlCol="0" anchor="t"/>
          <a:lstStyle/>
          <a:p>
            <a:pPr indent="0" marL="0">
              <a:buNone/>
            </a:pPr>
            <a:r>
              <a:rPr lang="en-US" sz="950" b="1" spc="150" kern="0" dirty="0">
                <a:solidFill>
                  <a:schemeClr val="accent5"/>
                </a:solidFill>
              </a:rPr>
              <a:t>HALE HOUSEHOLD</a:t>
            </a:r>
            <a:endParaRPr lang="en-US" sz="950" dirty="0"/>
          </a:p>
        </p:txBody>
      </p:sp>
      <p:sp>
        <p:nvSpPr>
          <p:cNvPr id="14" name="Text 12"/>
          <p:cNvSpPr txBox="1"/>
          <p:nvPr/>
        </p:nvSpPr>
        <p:spPr>
          <a:xfrm>
            <a:off x="548640" y="2002536"/>
            <a:ext cx="2743200" cy="288036"/>
          </a:xfrm>
          <a:prstGeom prst="rect">
            <a:avLst/>
          </a:prstGeom>
          <a:noFill/>
          <a:ln/>
        </p:spPr>
        <p:txBody>
          <a:bodyPr wrap="square" lIns="0" tIns="0" rIns="0" bIns="0" rtlCol="0" anchor="ctr"/>
          <a:lstStyle/>
          <a:p>
            <a:pPr indent="0" marL="0">
              <a:buNone/>
            </a:pPr>
            <a:r>
              <a:rPr lang="en-US" sz="1100" b="1" dirty="0">
                <a:solidFill>
                  <a:schemeClr val="tx1"/>
                </a:solidFill>
              </a:rPr>
              <a:t>Audax</a:t>
            </a:r>
            <a:pPr indent="0" marL="0">
              <a:buNone/>
            </a:pPr>
            <a:r>
              <a:rPr lang="en-US" sz="1100" dirty="0">
                <a:solidFill>
                  <a:schemeClr val="accent5"/>
                </a:solidFill>
              </a:rPr>
              <a:t>  Jonathan Hale</a:t>
            </a:r>
            <a:endParaRPr lang="en-US" sz="1100" dirty="0"/>
          </a:p>
        </p:txBody>
      </p:sp>
      <p:sp>
        <p:nvSpPr>
          <p:cNvPr id="15" name="Shape 13"/>
          <p:cNvSpPr/>
          <p:nvPr/>
        </p:nvSpPr>
        <p:spPr>
          <a:xfrm>
            <a:off x="3369564" y="2055114"/>
            <a:ext cx="182880" cy="182880"/>
          </a:xfrm>
          <a:prstGeom prst="ellipse">
            <a:avLst/>
          </a:prstGeom>
          <a:solidFill>
            <a:schemeClr val="accent2"/>
          </a:solidFill>
          <a:ln w="9525">
            <a:solidFill>
              <a:schemeClr val="accent2"/>
            </a:solidFill>
            <a:prstDash val="solid"/>
          </a:ln>
        </p:spPr>
      </p:sp>
      <p:sp>
        <p:nvSpPr>
          <p:cNvPr id="16" name="Shape 14"/>
          <p:cNvSpPr/>
          <p:nvPr/>
        </p:nvSpPr>
        <p:spPr>
          <a:xfrm>
            <a:off x="3707892" y="2055114"/>
            <a:ext cx="182880" cy="182880"/>
          </a:xfrm>
          <a:prstGeom prst="ellipse">
            <a:avLst/>
          </a:prstGeom>
          <a:solidFill>
            <a:schemeClr val="accent2"/>
          </a:solidFill>
          <a:ln w="9525">
            <a:solidFill>
              <a:schemeClr val="accent2"/>
            </a:solidFill>
            <a:prstDash val="solid"/>
          </a:ln>
        </p:spPr>
      </p:sp>
      <p:sp>
        <p:nvSpPr>
          <p:cNvPr id="17" name="Shape 15"/>
          <p:cNvSpPr/>
          <p:nvPr/>
        </p:nvSpPr>
        <p:spPr>
          <a:xfrm>
            <a:off x="4082796" y="2091690"/>
            <a:ext cx="109728" cy="109728"/>
          </a:xfrm>
          <a:prstGeom prst="ellipse">
            <a:avLst/>
          </a:prstGeom>
          <a:solidFill>
            <a:schemeClr val="bg2"/>
          </a:solidFill>
          <a:ln w="9525">
            <a:solidFill>
              <a:schemeClr val="accent4"/>
            </a:solidFill>
            <a:prstDash val="solid"/>
          </a:ln>
        </p:spPr>
      </p:sp>
      <p:sp>
        <p:nvSpPr>
          <p:cNvPr id="18" name="Shape 16"/>
          <p:cNvSpPr/>
          <p:nvPr/>
        </p:nvSpPr>
        <p:spPr>
          <a:xfrm>
            <a:off x="4384548" y="2055114"/>
            <a:ext cx="182880" cy="182880"/>
          </a:xfrm>
          <a:prstGeom prst="ellipse">
            <a:avLst/>
          </a:prstGeom>
          <a:solidFill>
            <a:schemeClr val="accent2"/>
          </a:solidFill>
          <a:ln w="9525">
            <a:solidFill>
              <a:schemeClr val="accent2"/>
            </a:solidFill>
            <a:prstDash val="solid"/>
          </a:ln>
        </p:spPr>
      </p:sp>
      <p:sp>
        <p:nvSpPr>
          <p:cNvPr id="19" name="Shape 17"/>
          <p:cNvSpPr/>
          <p:nvPr/>
        </p:nvSpPr>
        <p:spPr>
          <a:xfrm>
            <a:off x="4722876" y="2055114"/>
            <a:ext cx="182880" cy="182880"/>
          </a:xfrm>
          <a:prstGeom prst="ellipse">
            <a:avLst/>
          </a:prstGeom>
          <a:solidFill>
            <a:schemeClr val="accent3"/>
          </a:solidFill>
          <a:ln w="9525">
            <a:solidFill>
              <a:schemeClr val="accent3"/>
            </a:solidFill>
            <a:prstDash val="solid"/>
          </a:ln>
        </p:spPr>
      </p:sp>
      <p:sp>
        <p:nvSpPr>
          <p:cNvPr id="20" name="Shape 18"/>
          <p:cNvSpPr/>
          <p:nvPr/>
        </p:nvSpPr>
        <p:spPr>
          <a:xfrm>
            <a:off x="5097780" y="2091690"/>
            <a:ext cx="109728" cy="109728"/>
          </a:xfrm>
          <a:prstGeom prst="ellipse">
            <a:avLst/>
          </a:prstGeom>
          <a:solidFill>
            <a:schemeClr val="bg2"/>
          </a:solidFill>
          <a:ln w="9525">
            <a:solidFill>
              <a:schemeClr val="accent4"/>
            </a:solidFill>
            <a:prstDash val="solid"/>
          </a:ln>
        </p:spPr>
      </p:sp>
      <p:sp>
        <p:nvSpPr>
          <p:cNvPr id="21" name="Shape 19"/>
          <p:cNvSpPr/>
          <p:nvPr/>
        </p:nvSpPr>
        <p:spPr>
          <a:xfrm>
            <a:off x="5399532" y="2055114"/>
            <a:ext cx="182880" cy="182880"/>
          </a:xfrm>
          <a:prstGeom prst="ellipse">
            <a:avLst/>
          </a:prstGeom>
          <a:solidFill>
            <a:schemeClr val="accent3"/>
          </a:solidFill>
          <a:ln w="9525">
            <a:solidFill>
              <a:schemeClr val="accent3"/>
            </a:solidFill>
            <a:prstDash val="solid"/>
          </a:ln>
        </p:spPr>
      </p:sp>
      <p:sp>
        <p:nvSpPr>
          <p:cNvPr id="22" name="Shape 20"/>
          <p:cNvSpPr/>
          <p:nvPr/>
        </p:nvSpPr>
        <p:spPr>
          <a:xfrm>
            <a:off x="5774436" y="2091690"/>
            <a:ext cx="109728" cy="109728"/>
          </a:xfrm>
          <a:prstGeom prst="ellipse">
            <a:avLst/>
          </a:prstGeom>
          <a:solidFill>
            <a:schemeClr val="bg2"/>
          </a:solidFill>
          <a:ln w="9525">
            <a:solidFill>
              <a:schemeClr val="accent4"/>
            </a:solidFill>
            <a:prstDash val="solid"/>
          </a:ln>
        </p:spPr>
      </p:sp>
      <p:sp>
        <p:nvSpPr>
          <p:cNvPr id="23" name="Text 21"/>
          <p:cNvSpPr txBox="1"/>
          <p:nvPr/>
        </p:nvSpPr>
        <p:spPr>
          <a:xfrm>
            <a:off x="548640" y="2290572"/>
            <a:ext cx="2743200" cy="288036"/>
          </a:xfrm>
          <a:prstGeom prst="rect">
            <a:avLst/>
          </a:prstGeom>
          <a:noFill/>
          <a:ln/>
        </p:spPr>
        <p:txBody>
          <a:bodyPr wrap="square" lIns="0" tIns="0" rIns="0" bIns="0" rtlCol="0" anchor="ctr"/>
          <a:lstStyle/>
          <a:p>
            <a:pPr indent="0" marL="0">
              <a:buNone/>
            </a:pPr>
            <a:r>
              <a:rPr lang="en-US" sz="1100" b="1" dirty="0">
                <a:solidFill>
                  <a:schemeClr val="tx1"/>
                </a:solidFill>
              </a:rPr>
              <a:t>Northwell</a:t>
            </a:r>
            <a:pPr indent="0" marL="0">
              <a:buNone/>
            </a:pPr>
            <a:r>
              <a:rPr lang="en-US" sz="1100" dirty="0">
                <a:solidFill>
                  <a:schemeClr val="accent5"/>
                </a:solidFill>
              </a:rPr>
              <a:t>  Hale Family Trust II</a:t>
            </a:r>
            <a:endParaRPr lang="en-US" sz="1100" dirty="0"/>
          </a:p>
        </p:txBody>
      </p:sp>
      <p:sp>
        <p:nvSpPr>
          <p:cNvPr id="24" name="Shape 22"/>
          <p:cNvSpPr/>
          <p:nvPr/>
        </p:nvSpPr>
        <p:spPr>
          <a:xfrm>
            <a:off x="3406140" y="2379726"/>
            <a:ext cx="109728" cy="109728"/>
          </a:xfrm>
          <a:prstGeom prst="ellipse">
            <a:avLst/>
          </a:prstGeom>
          <a:solidFill>
            <a:schemeClr val="bg2"/>
          </a:solidFill>
          <a:ln w="9525">
            <a:solidFill>
              <a:schemeClr val="accent4"/>
            </a:solidFill>
            <a:prstDash val="solid"/>
          </a:ln>
        </p:spPr>
      </p:sp>
      <p:sp>
        <p:nvSpPr>
          <p:cNvPr id="25" name="Shape 23"/>
          <p:cNvSpPr/>
          <p:nvPr/>
        </p:nvSpPr>
        <p:spPr>
          <a:xfrm>
            <a:off x="3707892" y="2343150"/>
            <a:ext cx="182880" cy="182880"/>
          </a:xfrm>
          <a:prstGeom prst="ellipse">
            <a:avLst/>
          </a:prstGeom>
          <a:solidFill>
            <a:schemeClr val="accent2"/>
          </a:solidFill>
          <a:ln w="9525">
            <a:solidFill>
              <a:schemeClr val="accent2"/>
            </a:solidFill>
            <a:prstDash val="solid"/>
          </a:ln>
        </p:spPr>
      </p:sp>
      <p:sp>
        <p:nvSpPr>
          <p:cNvPr id="26" name="Shape 24"/>
          <p:cNvSpPr/>
          <p:nvPr/>
        </p:nvSpPr>
        <p:spPr>
          <a:xfrm>
            <a:off x="4046220" y="2343150"/>
            <a:ext cx="182880" cy="182880"/>
          </a:xfrm>
          <a:prstGeom prst="ellipse">
            <a:avLst/>
          </a:prstGeom>
          <a:solidFill>
            <a:schemeClr val="accent2"/>
          </a:solidFill>
          <a:ln w="9525">
            <a:solidFill>
              <a:schemeClr val="accent2"/>
            </a:solidFill>
            <a:prstDash val="solid"/>
          </a:ln>
        </p:spPr>
      </p:sp>
      <p:sp>
        <p:nvSpPr>
          <p:cNvPr id="27" name="Shape 25"/>
          <p:cNvSpPr/>
          <p:nvPr/>
        </p:nvSpPr>
        <p:spPr>
          <a:xfrm>
            <a:off x="4421124" y="2379726"/>
            <a:ext cx="109728" cy="109728"/>
          </a:xfrm>
          <a:prstGeom prst="ellipse">
            <a:avLst/>
          </a:prstGeom>
          <a:solidFill>
            <a:schemeClr val="bg2"/>
          </a:solidFill>
          <a:ln w="9525">
            <a:solidFill>
              <a:schemeClr val="accent4"/>
            </a:solidFill>
            <a:prstDash val="solid"/>
          </a:ln>
        </p:spPr>
      </p:sp>
      <p:sp>
        <p:nvSpPr>
          <p:cNvPr id="28" name="Shape 26"/>
          <p:cNvSpPr/>
          <p:nvPr/>
        </p:nvSpPr>
        <p:spPr>
          <a:xfrm>
            <a:off x="4759452" y="2379726"/>
            <a:ext cx="109728" cy="109728"/>
          </a:xfrm>
          <a:prstGeom prst="ellipse">
            <a:avLst/>
          </a:prstGeom>
          <a:solidFill>
            <a:schemeClr val="bg2"/>
          </a:solidFill>
          <a:ln w="9525">
            <a:solidFill>
              <a:schemeClr val="accent4"/>
            </a:solidFill>
            <a:prstDash val="solid"/>
          </a:ln>
        </p:spPr>
      </p:sp>
      <p:sp>
        <p:nvSpPr>
          <p:cNvPr id="29" name="Shape 27"/>
          <p:cNvSpPr/>
          <p:nvPr/>
        </p:nvSpPr>
        <p:spPr>
          <a:xfrm>
            <a:off x="5097780" y="2379726"/>
            <a:ext cx="109728" cy="109728"/>
          </a:xfrm>
          <a:prstGeom prst="ellipse">
            <a:avLst/>
          </a:prstGeom>
          <a:solidFill>
            <a:schemeClr val="bg2"/>
          </a:solidFill>
          <a:ln w="9525">
            <a:solidFill>
              <a:schemeClr val="accent4"/>
            </a:solidFill>
            <a:prstDash val="solid"/>
          </a:ln>
        </p:spPr>
      </p:sp>
      <p:sp>
        <p:nvSpPr>
          <p:cNvPr id="30" name="Shape 28"/>
          <p:cNvSpPr/>
          <p:nvPr/>
        </p:nvSpPr>
        <p:spPr>
          <a:xfrm>
            <a:off x="5399532" y="2343150"/>
            <a:ext cx="182880" cy="182880"/>
          </a:xfrm>
          <a:prstGeom prst="ellipse">
            <a:avLst/>
          </a:prstGeom>
          <a:solidFill>
            <a:schemeClr val="accent3"/>
          </a:solidFill>
          <a:ln w="9525">
            <a:solidFill>
              <a:schemeClr val="accent3"/>
            </a:solidFill>
            <a:prstDash val="solid"/>
          </a:ln>
        </p:spPr>
      </p:sp>
      <p:sp>
        <p:nvSpPr>
          <p:cNvPr id="31" name="Shape 29"/>
          <p:cNvSpPr/>
          <p:nvPr/>
        </p:nvSpPr>
        <p:spPr>
          <a:xfrm>
            <a:off x="5737860" y="2343150"/>
            <a:ext cx="182880" cy="182880"/>
          </a:xfrm>
          <a:prstGeom prst="ellipse">
            <a:avLst/>
          </a:prstGeom>
          <a:solidFill>
            <a:schemeClr val="accent2"/>
          </a:solidFill>
          <a:ln w="9525">
            <a:solidFill>
              <a:schemeClr val="accent2"/>
            </a:solidFill>
            <a:prstDash val="solid"/>
          </a:ln>
        </p:spPr>
      </p:sp>
      <p:sp>
        <p:nvSpPr>
          <p:cNvPr id="32" name="Text 30"/>
          <p:cNvSpPr txBox="1"/>
          <p:nvPr/>
        </p:nvSpPr>
        <p:spPr>
          <a:xfrm>
            <a:off x="548640" y="2578608"/>
            <a:ext cx="2743200" cy="288036"/>
          </a:xfrm>
          <a:prstGeom prst="rect">
            <a:avLst/>
          </a:prstGeom>
          <a:noFill/>
          <a:ln/>
        </p:spPr>
        <p:txBody>
          <a:bodyPr wrap="square" lIns="0" tIns="0" rIns="0" bIns="0" rtlCol="0" anchor="ctr"/>
          <a:lstStyle/>
          <a:p>
            <a:pPr indent="0" marL="0">
              <a:buNone/>
            </a:pPr>
            <a:r>
              <a:rPr lang="en-US" sz="1100" b="1" dirty="0">
                <a:solidFill>
                  <a:schemeClr val="tx1"/>
                </a:solidFill>
              </a:rPr>
              <a:t>Redmont</a:t>
            </a:r>
            <a:pPr indent="0" marL="0">
              <a:buNone/>
            </a:pPr>
            <a:r>
              <a:rPr lang="en-US" sz="1100" dirty="0">
                <a:solidFill>
                  <a:schemeClr val="accent5"/>
                </a:solidFill>
              </a:rPr>
              <a:t>  Hale Family Trust</a:t>
            </a:r>
            <a:endParaRPr lang="en-US" sz="1100" dirty="0"/>
          </a:p>
        </p:txBody>
      </p:sp>
      <p:sp>
        <p:nvSpPr>
          <p:cNvPr id="33" name="Shape 31"/>
          <p:cNvSpPr/>
          <p:nvPr/>
        </p:nvSpPr>
        <p:spPr>
          <a:xfrm>
            <a:off x="3369564" y="2631186"/>
            <a:ext cx="182880" cy="182880"/>
          </a:xfrm>
          <a:prstGeom prst="ellipse">
            <a:avLst/>
          </a:prstGeom>
          <a:solidFill>
            <a:schemeClr val="accent2"/>
          </a:solidFill>
          <a:ln w="9525">
            <a:solidFill>
              <a:schemeClr val="accent2"/>
            </a:solidFill>
            <a:prstDash val="solid"/>
          </a:ln>
        </p:spPr>
      </p:sp>
      <p:sp>
        <p:nvSpPr>
          <p:cNvPr id="34" name="Shape 32"/>
          <p:cNvSpPr/>
          <p:nvPr/>
        </p:nvSpPr>
        <p:spPr>
          <a:xfrm>
            <a:off x="3707892" y="2631186"/>
            <a:ext cx="182880" cy="182880"/>
          </a:xfrm>
          <a:prstGeom prst="ellipse">
            <a:avLst/>
          </a:prstGeom>
          <a:solidFill>
            <a:schemeClr val="accent2"/>
          </a:solidFill>
          <a:ln w="9525">
            <a:solidFill>
              <a:schemeClr val="accent2"/>
            </a:solidFill>
            <a:prstDash val="solid"/>
          </a:ln>
        </p:spPr>
      </p:sp>
      <p:sp>
        <p:nvSpPr>
          <p:cNvPr id="35" name="Shape 33"/>
          <p:cNvSpPr/>
          <p:nvPr/>
        </p:nvSpPr>
        <p:spPr>
          <a:xfrm>
            <a:off x="4082796" y="2667762"/>
            <a:ext cx="109728" cy="109728"/>
          </a:xfrm>
          <a:prstGeom prst="ellipse">
            <a:avLst/>
          </a:prstGeom>
          <a:solidFill>
            <a:schemeClr val="bg2"/>
          </a:solidFill>
          <a:ln w="9525">
            <a:solidFill>
              <a:schemeClr val="accent4"/>
            </a:solidFill>
            <a:prstDash val="solid"/>
          </a:ln>
        </p:spPr>
      </p:sp>
      <p:sp>
        <p:nvSpPr>
          <p:cNvPr id="36" name="Shape 34"/>
          <p:cNvSpPr/>
          <p:nvPr/>
        </p:nvSpPr>
        <p:spPr>
          <a:xfrm>
            <a:off x="4421124" y="2667762"/>
            <a:ext cx="109728" cy="109728"/>
          </a:xfrm>
          <a:prstGeom prst="ellipse">
            <a:avLst/>
          </a:prstGeom>
          <a:solidFill>
            <a:schemeClr val="bg2"/>
          </a:solidFill>
          <a:ln w="9525">
            <a:solidFill>
              <a:schemeClr val="accent4"/>
            </a:solidFill>
            <a:prstDash val="solid"/>
          </a:ln>
        </p:spPr>
      </p:sp>
      <p:sp>
        <p:nvSpPr>
          <p:cNvPr id="37" name="Shape 35"/>
          <p:cNvSpPr/>
          <p:nvPr/>
        </p:nvSpPr>
        <p:spPr>
          <a:xfrm>
            <a:off x="4759452" y="2667762"/>
            <a:ext cx="109728" cy="109728"/>
          </a:xfrm>
          <a:prstGeom prst="ellipse">
            <a:avLst/>
          </a:prstGeom>
          <a:solidFill>
            <a:schemeClr val="bg2"/>
          </a:solidFill>
          <a:ln w="9525">
            <a:solidFill>
              <a:schemeClr val="accent4"/>
            </a:solidFill>
            <a:prstDash val="solid"/>
          </a:ln>
        </p:spPr>
      </p:sp>
      <p:sp>
        <p:nvSpPr>
          <p:cNvPr id="38" name="Shape 36"/>
          <p:cNvSpPr/>
          <p:nvPr/>
        </p:nvSpPr>
        <p:spPr>
          <a:xfrm>
            <a:off x="5097780" y="2667762"/>
            <a:ext cx="109728" cy="109728"/>
          </a:xfrm>
          <a:prstGeom prst="ellipse">
            <a:avLst/>
          </a:prstGeom>
          <a:solidFill>
            <a:schemeClr val="bg2"/>
          </a:solidFill>
          <a:ln w="9525">
            <a:solidFill>
              <a:schemeClr val="accent4"/>
            </a:solidFill>
            <a:prstDash val="solid"/>
          </a:ln>
        </p:spPr>
      </p:sp>
      <p:sp>
        <p:nvSpPr>
          <p:cNvPr id="39" name="Shape 37"/>
          <p:cNvSpPr/>
          <p:nvPr/>
        </p:nvSpPr>
        <p:spPr>
          <a:xfrm>
            <a:off x="5436108" y="2667762"/>
            <a:ext cx="109728" cy="109728"/>
          </a:xfrm>
          <a:prstGeom prst="ellipse">
            <a:avLst/>
          </a:prstGeom>
          <a:solidFill>
            <a:schemeClr val="bg2"/>
          </a:solidFill>
          <a:ln w="9525">
            <a:solidFill>
              <a:schemeClr val="accent4"/>
            </a:solidFill>
            <a:prstDash val="solid"/>
          </a:ln>
        </p:spPr>
      </p:sp>
      <p:sp>
        <p:nvSpPr>
          <p:cNvPr id="40" name="Shape 38"/>
          <p:cNvSpPr/>
          <p:nvPr/>
        </p:nvSpPr>
        <p:spPr>
          <a:xfrm>
            <a:off x="5774436" y="2667762"/>
            <a:ext cx="109728" cy="109728"/>
          </a:xfrm>
          <a:prstGeom prst="ellipse">
            <a:avLst/>
          </a:prstGeom>
          <a:solidFill>
            <a:schemeClr val="bg2"/>
          </a:solidFill>
          <a:ln w="9525">
            <a:solidFill>
              <a:schemeClr val="accent4"/>
            </a:solidFill>
            <a:prstDash val="solid"/>
          </a:ln>
        </p:spPr>
      </p:sp>
      <p:sp>
        <p:nvSpPr>
          <p:cNvPr id="41" name="Text 39"/>
          <p:cNvSpPr txBox="1"/>
          <p:nvPr/>
        </p:nvSpPr>
        <p:spPr>
          <a:xfrm>
            <a:off x="548640" y="2866644"/>
            <a:ext cx="2743200" cy="288036"/>
          </a:xfrm>
          <a:prstGeom prst="rect">
            <a:avLst/>
          </a:prstGeom>
          <a:noFill/>
          <a:ln/>
        </p:spPr>
        <p:txBody>
          <a:bodyPr wrap="square" lIns="0" tIns="0" rIns="0" bIns="0" rtlCol="0" anchor="ctr"/>
          <a:lstStyle/>
          <a:p>
            <a:pPr indent="0" marL="0">
              <a:buNone/>
            </a:pPr>
            <a:r>
              <a:rPr lang="en-US" sz="1100" b="1" dirty="0">
                <a:solidFill>
                  <a:schemeClr val="tx1"/>
                </a:solidFill>
              </a:rPr>
              <a:t>Silverstone</a:t>
            </a:r>
            <a:pPr indent="0" marL="0">
              <a:buNone/>
            </a:pPr>
            <a:r>
              <a:rPr lang="en-US" sz="1100" dirty="0">
                <a:solidFill>
                  <a:schemeClr val="accent5"/>
                </a:solidFill>
              </a:rPr>
              <a:t>  Jonathan Hale</a:t>
            </a:r>
            <a:endParaRPr lang="en-US" sz="1100" dirty="0"/>
          </a:p>
        </p:txBody>
      </p:sp>
      <p:sp>
        <p:nvSpPr>
          <p:cNvPr id="42" name="Shape 40"/>
          <p:cNvSpPr/>
          <p:nvPr/>
        </p:nvSpPr>
        <p:spPr>
          <a:xfrm>
            <a:off x="3369564" y="2919222"/>
            <a:ext cx="182880" cy="182880"/>
          </a:xfrm>
          <a:prstGeom prst="ellipse">
            <a:avLst/>
          </a:prstGeom>
          <a:solidFill>
            <a:schemeClr val="accent2"/>
          </a:solidFill>
          <a:ln w="9525">
            <a:solidFill>
              <a:schemeClr val="accent2"/>
            </a:solidFill>
            <a:prstDash val="solid"/>
          </a:ln>
        </p:spPr>
      </p:sp>
      <p:sp>
        <p:nvSpPr>
          <p:cNvPr id="43" name="Shape 41"/>
          <p:cNvSpPr/>
          <p:nvPr/>
        </p:nvSpPr>
        <p:spPr>
          <a:xfrm>
            <a:off x="3744468" y="2955798"/>
            <a:ext cx="109728" cy="109728"/>
          </a:xfrm>
          <a:prstGeom prst="ellipse">
            <a:avLst/>
          </a:prstGeom>
          <a:solidFill>
            <a:schemeClr val="bg2"/>
          </a:solidFill>
          <a:ln w="9525">
            <a:solidFill>
              <a:schemeClr val="accent4"/>
            </a:solidFill>
            <a:prstDash val="solid"/>
          </a:ln>
        </p:spPr>
      </p:sp>
      <p:sp>
        <p:nvSpPr>
          <p:cNvPr id="44" name="Shape 42"/>
          <p:cNvSpPr/>
          <p:nvPr/>
        </p:nvSpPr>
        <p:spPr>
          <a:xfrm>
            <a:off x="4082796" y="2955798"/>
            <a:ext cx="109728" cy="109728"/>
          </a:xfrm>
          <a:prstGeom prst="ellipse">
            <a:avLst/>
          </a:prstGeom>
          <a:solidFill>
            <a:schemeClr val="bg2"/>
          </a:solidFill>
          <a:ln w="9525">
            <a:solidFill>
              <a:schemeClr val="accent4"/>
            </a:solidFill>
            <a:prstDash val="solid"/>
          </a:ln>
        </p:spPr>
      </p:sp>
      <p:sp>
        <p:nvSpPr>
          <p:cNvPr id="45" name="Shape 43"/>
          <p:cNvSpPr/>
          <p:nvPr/>
        </p:nvSpPr>
        <p:spPr>
          <a:xfrm>
            <a:off x="4384548" y="2919222"/>
            <a:ext cx="182880" cy="182880"/>
          </a:xfrm>
          <a:prstGeom prst="ellipse">
            <a:avLst/>
          </a:prstGeom>
          <a:solidFill>
            <a:schemeClr val="accent3"/>
          </a:solidFill>
          <a:ln w="9525">
            <a:solidFill>
              <a:schemeClr val="accent3"/>
            </a:solidFill>
            <a:prstDash val="solid"/>
          </a:ln>
        </p:spPr>
      </p:sp>
      <p:sp>
        <p:nvSpPr>
          <p:cNvPr id="46" name="Shape 44"/>
          <p:cNvSpPr/>
          <p:nvPr/>
        </p:nvSpPr>
        <p:spPr>
          <a:xfrm>
            <a:off x="4759452" y="2955798"/>
            <a:ext cx="109728" cy="109728"/>
          </a:xfrm>
          <a:prstGeom prst="ellipse">
            <a:avLst/>
          </a:prstGeom>
          <a:solidFill>
            <a:schemeClr val="bg2"/>
          </a:solidFill>
          <a:ln w="9525">
            <a:solidFill>
              <a:schemeClr val="accent4"/>
            </a:solidFill>
            <a:prstDash val="solid"/>
          </a:ln>
        </p:spPr>
      </p:sp>
      <p:sp>
        <p:nvSpPr>
          <p:cNvPr id="47" name="Shape 45"/>
          <p:cNvSpPr/>
          <p:nvPr/>
        </p:nvSpPr>
        <p:spPr>
          <a:xfrm>
            <a:off x="5061204" y="2919222"/>
            <a:ext cx="182880" cy="182880"/>
          </a:xfrm>
          <a:prstGeom prst="ellipse">
            <a:avLst/>
          </a:prstGeom>
          <a:solidFill>
            <a:schemeClr val="accent3"/>
          </a:solidFill>
          <a:ln w="9525">
            <a:solidFill>
              <a:schemeClr val="accent3"/>
            </a:solidFill>
            <a:prstDash val="solid"/>
          </a:ln>
        </p:spPr>
      </p:sp>
      <p:sp>
        <p:nvSpPr>
          <p:cNvPr id="48" name="Shape 46"/>
          <p:cNvSpPr/>
          <p:nvPr/>
        </p:nvSpPr>
        <p:spPr>
          <a:xfrm>
            <a:off x="5399532" y="2919222"/>
            <a:ext cx="182880" cy="182880"/>
          </a:xfrm>
          <a:prstGeom prst="ellipse">
            <a:avLst/>
          </a:prstGeom>
          <a:solidFill>
            <a:schemeClr val="accent3"/>
          </a:solidFill>
          <a:ln w="9525">
            <a:solidFill>
              <a:schemeClr val="accent3"/>
            </a:solidFill>
            <a:prstDash val="solid"/>
          </a:ln>
        </p:spPr>
      </p:sp>
      <p:sp>
        <p:nvSpPr>
          <p:cNvPr id="49" name="Shape 47"/>
          <p:cNvSpPr/>
          <p:nvPr/>
        </p:nvSpPr>
        <p:spPr>
          <a:xfrm>
            <a:off x="5774436" y="2955798"/>
            <a:ext cx="109728" cy="109728"/>
          </a:xfrm>
          <a:prstGeom prst="ellipse">
            <a:avLst/>
          </a:prstGeom>
          <a:solidFill>
            <a:schemeClr val="bg2"/>
          </a:solidFill>
          <a:ln w="9525">
            <a:solidFill>
              <a:schemeClr val="accent4"/>
            </a:solidFill>
            <a:prstDash val="solid"/>
          </a:ln>
        </p:spPr>
      </p:sp>
      <p:sp>
        <p:nvSpPr>
          <p:cNvPr id="50" name="Text 48"/>
          <p:cNvSpPr txBox="1"/>
          <p:nvPr/>
        </p:nvSpPr>
        <p:spPr>
          <a:xfrm>
            <a:off x="548640" y="3154680"/>
            <a:ext cx="2743200" cy="288036"/>
          </a:xfrm>
          <a:prstGeom prst="rect">
            <a:avLst/>
          </a:prstGeom>
          <a:noFill/>
          <a:ln/>
        </p:spPr>
        <p:txBody>
          <a:bodyPr wrap="square" lIns="0" tIns="0" rIns="0" bIns="0" rtlCol="0" anchor="ctr"/>
          <a:lstStyle/>
          <a:p>
            <a:pPr indent="0" marL="0">
              <a:buNone/>
            </a:pPr>
            <a:r>
              <a:rPr lang="en-US" sz="1100" b="1" dirty="0">
                <a:solidFill>
                  <a:schemeClr val="tx1"/>
                </a:solidFill>
              </a:rPr>
              <a:t>Stonebridge</a:t>
            </a:r>
            <a:pPr indent="0" marL="0">
              <a:buNone/>
            </a:pPr>
            <a:r>
              <a:rPr lang="en-US" sz="1100" dirty="0">
                <a:solidFill>
                  <a:schemeClr val="accent5"/>
                </a:solidFill>
              </a:rPr>
              <a:t>  Hale Family Trust</a:t>
            </a:r>
            <a:endParaRPr lang="en-US" sz="1100" dirty="0"/>
          </a:p>
        </p:txBody>
      </p:sp>
      <p:sp>
        <p:nvSpPr>
          <p:cNvPr id="51" name="Shape 49"/>
          <p:cNvSpPr/>
          <p:nvPr/>
        </p:nvSpPr>
        <p:spPr>
          <a:xfrm>
            <a:off x="3369564" y="3207258"/>
            <a:ext cx="182880" cy="182880"/>
          </a:xfrm>
          <a:prstGeom prst="ellipse">
            <a:avLst/>
          </a:prstGeom>
          <a:solidFill>
            <a:schemeClr val="accent2"/>
          </a:solidFill>
          <a:ln w="9525">
            <a:solidFill>
              <a:schemeClr val="accent2"/>
            </a:solidFill>
            <a:prstDash val="solid"/>
          </a:ln>
        </p:spPr>
      </p:sp>
      <p:sp>
        <p:nvSpPr>
          <p:cNvPr id="52" name="Shape 50"/>
          <p:cNvSpPr/>
          <p:nvPr/>
        </p:nvSpPr>
        <p:spPr>
          <a:xfrm>
            <a:off x="3707892" y="3207258"/>
            <a:ext cx="182880" cy="182880"/>
          </a:xfrm>
          <a:prstGeom prst="ellipse">
            <a:avLst/>
          </a:prstGeom>
          <a:solidFill>
            <a:schemeClr val="accent2"/>
          </a:solidFill>
          <a:ln w="9525">
            <a:solidFill>
              <a:schemeClr val="accent2"/>
            </a:solidFill>
            <a:prstDash val="solid"/>
          </a:ln>
        </p:spPr>
      </p:sp>
      <p:sp>
        <p:nvSpPr>
          <p:cNvPr id="53" name="Shape 51"/>
          <p:cNvSpPr/>
          <p:nvPr/>
        </p:nvSpPr>
        <p:spPr>
          <a:xfrm>
            <a:off x="4082796" y="3243834"/>
            <a:ext cx="109728" cy="109728"/>
          </a:xfrm>
          <a:prstGeom prst="ellipse">
            <a:avLst/>
          </a:prstGeom>
          <a:solidFill>
            <a:schemeClr val="bg2"/>
          </a:solidFill>
          <a:ln w="9525">
            <a:solidFill>
              <a:schemeClr val="accent4"/>
            </a:solidFill>
            <a:prstDash val="solid"/>
          </a:ln>
        </p:spPr>
      </p:sp>
      <p:sp>
        <p:nvSpPr>
          <p:cNvPr id="54" name="Shape 52"/>
          <p:cNvSpPr/>
          <p:nvPr/>
        </p:nvSpPr>
        <p:spPr>
          <a:xfrm>
            <a:off x="4421124" y="3243834"/>
            <a:ext cx="109728" cy="109728"/>
          </a:xfrm>
          <a:prstGeom prst="ellipse">
            <a:avLst/>
          </a:prstGeom>
          <a:solidFill>
            <a:schemeClr val="bg2"/>
          </a:solidFill>
          <a:ln w="9525">
            <a:solidFill>
              <a:schemeClr val="accent4"/>
            </a:solidFill>
            <a:prstDash val="solid"/>
          </a:ln>
        </p:spPr>
      </p:sp>
      <p:sp>
        <p:nvSpPr>
          <p:cNvPr id="55" name="Shape 53"/>
          <p:cNvSpPr/>
          <p:nvPr/>
        </p:nvSpPr>
        <p:spPr>
          <a:xfrm>
            <a:off x="4722876" y="3207258"/>
            <a:ext cx="182880" cy="182880"/>
          </a:xfrm>
          <a:prstGeom prst="ellipse">
            <a:avLst/>
          </a:prstGeom>
          <a:solidFill>
            <a:schemeClr val="accent3"/>
          </a:solidFill>
          <a:ln w="9525">
            <a:solidFill>
              <a:schemeClr val="accent3"/>
            </a:solidFill>
            <a:prstDash val="solid"/>
          </a:ln>
        </p:spPr>
      </p:sp>
      <p:sp>
        <p:nvSpPr>
          <p:cNvPr id="56" name="Shape 54"/>
          <p:cNvSpPr/>
          <p:nvPr/>
        </p:nvSpPr>
        <p:spPr>
          <a:xfrm>
            <a:off x="5061204" y="3207258"/>
            <a:ext cx="182880" cy="182880"/>
          </a:xfrm>
          <a:prstGeom prst="ellipse">
            <a:avLst/>
          </a:prstGeom>
          <a:solidFill>
            <a:schemeClr val="accent3"/>
          </a:solidFill>
          <a:ln w="9525">
            <a:solidFill>
              <a:schemeClr val="accent3"/>
            </a:solidFill>
            <a:prstDash val="solid"/>
          </a:ln>
        </p:spPr>
      </p:sp>
      <p:sp>
        <p:nvSpPr>
          <p:cNvPr id="57" name="Shape 55"/>
          <p:cNvSpPr/>
          <p:nvPr/>
        </p:nvSpPr>
        <p:spPr>
          <a:xfrm>
            <a:off x="5436108" y="3243834"/>
            <a:ext cx="109728" cy="109728"/>
          </a:xfrm>
          <a:prstGeom prst="ellipse">
            <a:avLst/>
          </a:prstGeom>
          <a:solidFill>
            <a:schemeClr val="bg2"/>
          </a:solidFill>
          <a:ln w="9525">
            <a:solidFill>
              <a:schemeClr val="accent4"/>
            </a:solidFill>
            <a:prstDash val="solid"/>
          </a:ln>
        </p:spPr>
      </p:sp>
      <p:sp>
        <p:nvSpPr>
          <p:cNvPr id="58" name="Shape 56"/>
          <p:cNvSpPr/>
          <p:nvPr/>
        </p:nvSpPr>
        <p:spPr>
          <a:xfrm>
            <a:off x="5774436" y="3243834"/>
            <a:ext cx="109728" cy="109728"/>
          </a:xfrm>
          <a:prstGeom prst="ellipse">
            <a:avLst/>
          </a:prstGeom>
          <a:solidFill>
            <a:schemeClr val="bg2"/>
          </a:solidFill>
          <a:ln w="9525">
            <a:solidFill>
              <a:schemeClr val="accent4"/>
            </a:solidFill>
            <a:prstDash val="solid"/>
          </a:ln>
        </p:spPr>
      </p:sp>
      <p:sp>
        <p:nvSpPr>
          <p:cNvPr id="59" name="Text 57"/>
          <p:cNvSpPr txBox="1"/>
          <p:nvPr/>
        </p:nvSpPr>
        <p:spPr>
          <a:xfrm>
            <a:off x="548640" y="3442716"/>
            <a:ext cx="2743200" cy="288036"/>
          </a:xfrm>
          <a:prstGeom prst="rect">
            <a:avLst/>
          </a:prstGeom>
          <a:noFill/>
          <a:ln/>
        </p:spPr>
        <p:txBody>
          <a:bodyPr wrap="square" lIns="0" tIns="0" rIns="0" bIns="0" rtlCol="0" anchor="ctr"/>
          <a:lstStyle/>
          <a:p>
            <a:pPr indent="0" marL="0">
              <a:buNone/>
            </a:pPr>
            <a:r>
              <a:rPr lang="en-US" sz="1100" b="1" dirty="0">
                <a:solidFill>
                  <a:schemeClr val="tx1"/>
                </a:solidFill>
              </a:rPr>
              <a:t>Timberline</a:t>
            </a:r>
            <a:pPr indent="0" marL="0">
              <a:buNone/>
            </a:pPr>
            <a:r>
              <a:rPr lang="en-US" sz="1100" dirty="0">
                <a:solidFill>
                  <a:schemeClr val="accent5"/>
                </a:solidFill>
              </a:rPr>
              <a:t>  Hale Family LLC</a:t>
            </a:r>
            <a:endParaRPr lang="en-US" sz="1100" dirty="0"/>
          </a:p>
        </p:txBody>
      </p:sp>
      <p:sp>
        <p:nvSpPr>
          <p:cNvPr id="60" name="Shape 58"/>
          <p:cNvSpPr/>
          <p:nvPr/>
        </p:nvSpPr>
        <p:spPr>
          <a:xfrm>
            <a:off x="3369564" y="3495294"/>
            <a:ext cx="182880" cy="182880"/>
          </a:xfrm>
          <a:prstGeom prst="ellipse">
            <a:avLst/>
          </a:prstGeom>
          <a:solidFill>
            <a:schemeClr val="accent2"/>
          </a:solidFill>
          <a:ln w="9525">
            <a:solidFill>
              <a:schemeClr val="accent2"/>
            </a:solidFill>
            <a:prstDash val="solid"/>
          </a:ln>
        </p:spPr>
      </p:sp>
      <p:sp>
        <p:nvSpPr>
          <p:cNvPr id="61" name="Shape 59"/>
          <p:cNvSpPr/>
          <p:nvPr/>
        </p:nvSpPr>
        <p:spPr>
          <a:xfrm>
            <a:off x="3744468" y="3531870"/>
            <a:ext cx="109728" cy="109728"/>
          </a:xfrm>
          <a:prstGeom prst="ellipse">
            <a:avLst/>
          </a:prstGeom>
          <a:solidFill>
            <a:schemeClr val="bg2"/>
          </a:solidFill>
          <a:ln w="9525">
            <a:solidFill>
              <a:schemeClr val="accent4"/>
            </a:solidFill>
            <a:prstDash val="solid"/>
          </a:ln>
        </p:spPr>
      </p:sp>
      <p:sp>
        <p:nvSpPr>
          <p:cNvPr id="62" name="Shape 60"/>
          <p:cNvSpPr/>
          <p:nvPr/>
        </p:nvSpPr>
        <p:spPr>
          <a:xfrm>
            <a:off x="4046220" y="3495294"/>
            <a:ext cx="182880" cy="182880"/>
          </a:xfrm>
          <a:prstGeom prst="ellipse">
            <a:avLst/>
          </a:prstGeom>
          <a:solidFill>
            <a:schemeClr val="accent2"/>
          </a:solidFill>
          <a:ln w="9525">
            <a:solidFill>
              <a:schemeClr val="accent2"/>
            </a:solidFill>
            <a:prstDash val="solid"/>
          </a:ln>
        </p:spPr>
      </p:sp>
      <p:sp>
        <p:nvSpPr>
          <p:cNvPr id="63" name="Shape 61"/>
          <p:cNvSpPr/>
          <p:nvPr/>
        </p:nvSpPr>
        <p:spPr>
          <a:xfrm>
            <a:off x="4421124" y="3531870"/>
            <a:ext cx="109728" cy="109728"/>
          </a:xfrm>
          <a:prstGeom prst="ellipse">
            <a:avLst/>
          </a:prstGeom>
          <a:solidFill>
            <a:schemeClr val="bg2"/>
          </a:solidFill>
          <a:ln w="9525">
            <a:solidFill>
              <a:schemeClr val="accent4"/>
            </a:solidFill>
            <a:prstDash val="solid"/>
          </a:ln>
        </p:spPr>
      </p:sp>
      <p:sp>
        <p:nvSpPr>
          <p:cNvPr id="64" name="Shape 62"/>
          <p:cNvSpPr/>
          <p:nvPr/>
        </p:nvSpPr>
        <p:spPr>
          <a:xfrm>
            <a:off x="4759452" y="3531870"/>
            <a:ext cx="109728" cy="109728"/>
          </a:xfrm>
          <a:prstGeom prst="ellipse">
            <a:avLst/>
          </a:prstGeom>
          <a:solidFill>
            <a:schemeClr val="bg2"/>
          </a:solidFill>
          <a:ln w="9525">
            <a:solidFill>
              <a:schemeClr val="accent4"/>
            </a:solidFill>
            <a:prstDash val="solid"/>
          </a:ln>
        </p:spPr>
      </p:sp>
      <p:sp>
        <p:nvSpPr>
          <p:cNvPr id="65" name="Shape 63"/>
          <p:cNvSpPr/>
          <p:nvPr/>
        </p:nvSpPr>
        <p:spPr>
          <a:xfrm>
            <a:off x="5097780" y="3531870"/>
            <a:ext cx="109728" cy="109728"/>
          </a:xfrm>
          <a:prstGeom prst="ellipse">
            <a:avLst/>
          </a:prstGeom>
          <a:solidFill>
            <a:schemeClr val="bg2"/>
          </a:solidFill>
          <a:ln w="9525">
            <a:solidFill>
              <a:schemeClr val="accent4"/>
            </a:solidFill>
            <a:prstDash val="solid"/>
          </a:ln>
        </p:spPr>
      </p:sp>
      <p:sp>
        <p:nvSpPr>
          <p:cNvPr id="66" name="Shape 64"/>
          <p:cNvSpPr/>
          <p:nvPr/>
        </p:nvSpPr>
        <p:spPr>
          <a:xfrm>
            <a:off x="5436108" y="3531870"/>
            <a:ext cx="109728" cy="109728"/>
          </a:xfrm>
          <a:prstGeom prst="ellipse">
            <a:avLst/>
          </a:prstGeom>
          <a:solidFill>
            <a:schemeClr val="bg2"/>
          </a:solidFill>
          <a:ln w="9525">
            <a:solidFill>
              <a:schemeClr val="accent4"/>
            </a:solidFill>
            <a:prstDash val="solid"/>
          </a:ln>
        </p:spPr>
      </p:sp>
      <p:sp>
        <p:nvSpPr>
          <p:cNvPr id="67" name="Shape 65"/>
          <p:cNvSpPr/>
          <p:nvPr/>
        </p:nvSpPr>
        <p:spPr>
          <a:xfrm>
            <a:off x="5774436" y="3531870"/>
            <a:ext cx="109728" cy="109728"/>
          </a:xfrm>
          <a:prstGeom prst="ellipse">
            <a:avLst/>
          </a:prstGeom>
          <a:solidFill>
            <a:schemeClr val="bg2"/>
          </a:solidFill>
          <a:ln w="9525">
            <a:solidFill>
              <a:schemeClr val="accent4"/>
            </a:solidFill>
            <a:prstDash val="solid"/>
          </a:ln>
        </p:spPr>
      </p:sp>
      <p:sp>
        <p:nvSpPr>
          <p:cNvPr id="68" name="Text 66"/>
          <p:cNvSpPr txBox="1"/>
          <p:nvPr/>
        </p:nvSpPr>
        <p:spPr>
          <a:xfrm>
            <a:off x="548640" y="3767328"/>
            <a:ext cx="2743200" cy="201168"/>
          </a:xfrm>
          <a:prstGeom prst="rect">
            <a:avLst/>
          </a:prstGeom>
          <a:noFill/>
          <a:ln/>
        </p:spPr>
        <p:txBody>
          <a:bodyPr wrap="square" lIns="0" tIns="0" rIns="0" bIns="0" rtlCol="0" anchor="t"/>
          <a:lstStyle/>
          <a:p>
            <a:pPr indent="0" marL="0">
              <a:buNone/>
            </a:pPr>
            <a:r>
              <a:rPr lang="en-US" sz="950" b="1" spc="150" kern="0" dirty="0">
                <a:solidFill>
                  <a:schemeClr val="accent5"/>
                </a:solidFill>
              </a:rPr>
              <a:t>SHAH HOUSEHOLD</a:t>
            </a:r>
            <a:endParaRPr lang="en-US" sz="950" dirty="0"/>
          </a:p>
        </p:txBody>
      </p:sp>
      <p:sp>
        <p:nvSpPr>
          <p:cNvPr id="69" name="Text 67"/>
          <p:cNvSpPr txBox="1"/>
          <p:nvPr/>
        </p:nvSpPr>
        <p:spPr>
          <a:xfrm>
            <a:off x="548640" y="3977640"/>
            <a:ext cx="2743200" cy="288036"/>
          </a:xfrm>
          <a:prstGeom prst="rect">
            <a:avLst/>
          </a:prstGeom>
          <a:noFill/>
          <a:ln/>
        </p:spPr>
        <p:txBody>
          <a:bodyPr wrap="square" lIns="0" tIns="0" rIns="0" bIns="0" rtlCol="0" anchor="ctr"/>
          <a:lstStyle/>
          <a:p>
            <a:pPr indent="0" marL="0">
              <a:buNone/>
            </a:pPr>
            <a:r>
              <a:rPr lang="en-US" sz="1100" b="1" dirty="0">
                <a:solidFill>
                  <a:schemeClr val="tx1"/>
                </a:solidFill>
              </a:rPr>
              <a:t>Apax XI</a:t>
            </a:r>
            <a:pPr indent="0" marL="0">
              <a:buNone/>
            </a:pPr>
            <a:r>
              <a:rPr lang="en-US" sz="1100" dirty="0">
                <a:solidFill>
                  <a:schemeClr val="accent5"/>
                </a:solidFill>
              </a:rPr>
              <a:t>  Priyanka Shah</a:t>
            </a:r>
            <a:endParaRPr lang="en-US" sz="1100" dirty="0"/>
          </a:p>
        </p:txBody>
      </p:sp>
      <p:sp>
        <p:nvSpPr>
          <p:cNvPr id="70" name="Shape 68"/>
          <p:cNvSpPr/>
          <p:nvPr/>
        </p:nvSpPr>
        <p:spPr>
          <a:xfrm>
            <a:off x="3369564" y="4030218"/>
            <a:ext cx="182880" cy="182880"/>
          </a:xfrm>
          <a:prstGeom prst="ellipse">
            <a:avLst/>
          </a:prstGeom>
          <a:solidFill>
            <a:schemeClr val="accent2"/>
          </a:solidFill>
          <a:ln w="9525">
            <a:solidFill>
              <a:schemeClr val="accent2"/>
            </a:solidFill>
            <a:prstDash val="solid"/>
          </a:ln>
        </p:spPr>
      </p:sp>
      <p:sp>
        <p:nvSpPr>
          <p:cNvPr id="71" name="Shape 69"/>
          <p:cNvSpPr/>
          <p:nvPr/>
        </p:nvSpPr>
        <p:spPr>
          <a:xfrm>
            <a:off x="3744468" y="4066794"/>
            <a:ext cx="109728" cy="109728"/>
          </a:xfrm>
          <a:prstGeom prst="ellipse">
            <a:avLst/>
          </a:prstGeom>
          <a:solidFill>
            <a:schemeClr val="bg2"/>
          </a:solidFill>
          <a:ln w="9525">
            <a:solidFill>
              <a:schemeClr val="accent4"/>
            </a:solidFill>
            <a:prstDash val="solid"/>
          </a:ln>
        </p:spPr>
      </p:sp>
      <p:sp>
        <p:nvSpPr>
          <p:cNvPr id="72" name="Shape 70"/>
          <p:cNvSpPr/>
          <p:nvPr/>
        </p:nvSpPr>
        <p:spPr>
          <a:xfrm>
            <a:off x="4046220" y="4030218"/>
            <a:ext cx="182880" cy="182880"/>
          </a:xfrm>
          <a:prstGeom prst="ellipse">
            <a:avLst/>
          </a:prstGeom>
          <a:solidFill>
            <a:schemeClr val="accent2"/>
          </a:solidFill>
          <a:ln w="9525">
            <a:solidFill>
              <a:schemeClr val="accent2"/>
            </a:solidFill>
            <a:prstDash val="solid"/>
          </a:ln>
        </p:spPr>
      </p:sp>
      <p:sp>
        <p:nvSpPr>
          <p:cNvPr id="73" name="Shape 71"/>
          <p:cNvSpPr/>
          <p:nvPr/>
        </p:nvSpPr>
        <p:spPr>
          <a:xfrm>
            <a:off x="4384548" y="4030218"/>
            <a:ext cx="182880" cy="182880"/>
          </a:xfrm>
          <a:prstGeom prst="ellipse">
            <a:avLst/>
          </a:prstGeom>
          <a:solidFill>
            <a:schemeClr val="accent3"/>
          </a:solidFill>
          <a:ln w="9525">
            <a:solidFill>
              <a:schemeClr val="accent3"/>
            </a:solidFill>
            <a:prstDash val="solid"/>
          </a:ln>
        </p:spPr>
      </p:sp>
      <p:sp>
        <p:nvSpPr>
          <p:cNvPr id="74" name="Shape 72"/>
          <p:cNvSpPr/>
          <p:nvPr/>
        </p:nvSpPr>
        <p:spPr>
          <a:xfrm>
            <a:off x="4722876" y="4030218"/>
            <a:ext cx="182880" cy="182880"/>
          </a:xfrm>
          <a:prstGeom prst="ellipse">
            <a:avLst/>
          </a:prstGeom>
          <a:solidFill>
            <a:schemeClr val="accent3"/>
          </a:solidFill>
          <a:ln w="9525">
            <a:solidFill>
              <a:schemeClr val="accent3"/>
            </a:solidFill>
            <a:prstDash val="solid"/>
          </a:ln>
        </p:spPr>
      </p:sp>
      <p:sp>
        <p:nvSpPr>
          <p:cNvPr id="75" name="Shape 73"/>
          <p:cNvSpPr/>
          <p:nvPr/>
        </p:nvSpPr>
        <p:spPr>
          <a:xfrm>
            <a:off x="5061204" y="4030218"/>
            <a:ext cx="182880" cy="182880"/>
          </a:xfrm>
          <a:prstGeom prst="ellipse">
            <a:avLst/>
          </a:prstGeom>
          <a:solidFill>
            <a:schemeClr val="accent3"/>
          </a:solidFill>
          <a:ln w="9525">
            <a:solidFill>
              <a:schemeClr val="accent3"/>
            </a:solidFill>
            <a:prstDash val="solid"/>
          </a:ln>
        </p:spPr>
      </p:sp>
      <p:sp>
        <p:nvSpPr>
          <p:cNvPr id="76" name="Shape 74"/>
          <p:cNvSpPr/>
          <p:nvPr/>
        </p:nvSpPr>
        <p:spPr>
          <a:xfrm>
            <a:off x="5399532" y="4030218"/>
            <a:ext cx="182880" cy="182880"/>
          </a:xfrm>
          <a:prstGeom prst="ellipse">
            <a:avLst/>
          </a:prstGeom>
          <a:solidFill>
            <a:schemeClr val="accent3"/>
          </a:solidFill>
          <a:ln w="9525">
            <a:solidFill>
              <a:schemeClr val="accent3"/>
            </a:solidFill>
            <a:prstDash val="solid"/>
          </a:ln>
        </p:spPr>
      </p:sp>
      <p:sp>
        <p:nvSpPr>
          <p:cNvPr id="77" name="Shape 75"/>
          <p:cNvSpPr/>
          <p:nvPr/>
        </p:nvSpPr>
        <p:spPr>
          <a:xfrm>
            <a:off x="5774436" y="4066794"/>
            <a:ext cx="109728" cy="109728"/>
          </a:xfrm>
          <a:prstGeom prst="ellipse">
            <a:avLst/>
          </a:prstGeom>
          <a:solidFill>
            <a:schemeClr val="bg2"/>
          </a:solidFill>
          <a:ln w="9525">
            <a:solidFill>
              <a:schemeClr val="accent4"/>
            </a:solidFill>
            <a:prstDash val="solid"/>
          </a:ln>
        </p:spPr>
      </p:sp>
      <p:sp>
        <p:nvSpPr>
          <p:cNvPr id="78" name="Text 76"/>
          <p:cNvSpPr txBox="1"/>
          <p:nvPr/>
        </p:nvSpPr>
        <p:spPr>
          <a:xfrm>
            <a:off x="548640" y="4265676"/>
            <a:ext cx="2743200" cy="288036"/>
          </a:xfrm>
          <a:prstGeom prst="rect">
            <a:avLst/>
          </a:prstGeom>
          <a:noFill/>
          <a:ln/>
        </p:spPr>
        <p:txBody>
          <a:bodyPr wrap="square" lIns="0" tIns="0" rIns="0" bIns="0" rtlCol="0" anchor="ctr"/>
          <a:lstStyle/>
          <a:p>
            <a:pPr indent="0" marL="0">
              <a:buNone/>
            </a:pPr>
            <a:r>
              <a:rPr lang="en-US" sz="1100" b="1" dirty="0">
                <a:solidFill>
                  <a:schemeClr val="tx1"/>
                </a:solidFill>
              </a:rPr>
              <a:t>Ashbourne</a:t>
            </a:r>
            <a:pPr indent="0" marL="0">
              <a:buNone/>
            </a:pPr>
            <a:r>
              <a:rPr lang="en-US" sz="1100" dirty="0">
                <a:solidFill>
                  <a:schemeClr val="accent5"/>
                </a:solidFill>
              </a:rPr>
              <a:t>  P. Shah Trust</a:t>
            </a:r>
            <a:endParaRPr lang="en-US" sz="1100" dirty="0"/>
          </a:p>
        </p:txBody>
      </p:sp>
      <p:sp>
        <p:nvSpPr>
          <p:cNvPr id="79" name="Shape 77"/>
          <p:cNvSpPr/>
          <p:nvPr/>
        </p:nvSpPr>
        <p:spPr>
          <a:xfrm>
            <a:off x="3406140" y="4354830"/>
            <a:ext cx="109728" cy="109728"/>
          </a:xfrm>
          <a:prstGeom prst="ellipse">
            <a:avLst/>
          </a:prstGeom>
          <a:solidFill>
            <a:schemeClr val="bg2"/>
          </a:solidFill>
          <a:ln w="9525">
            <a:solidFill>
              <a:schemeClr val="accent4"/>
            </a:solidFill>
            <a:prstDash val="solid"/>
          </a:ln>
        </p:spPr>
      </p:sp>
      <p:sp>
        <p:nvSpPr>
          <p:cNvPr id="80" name="Shape 78"/>
          <p:cNvSpPr/>
          <p:nvPr/>
        </p:nvSpPr>
        <p:spPr>
          <a:xfrm>
            <a:off x="3744468" y="4354830"/>
            <a:ext cx="109728" cy="109728"/>
          </a:xfrm>
          <a:prstGeom prst="ellipse">
            <a:avLst/>
          </a:prstGeom>
          <a:solidFill>
            <a:schemeClr val="bg2"/>
          </a:solidFill>
          <a:ln w="9525">
            <a:solidFill>
              <a:schemeClr val="accent4"/>
            </a:solidFill>
            <a:prstDash val="solid"/>
          </a:ln>
        </p:spPr>
      </p:sp>
      <p:sp>
        <p:nvSpPr>
          <p:cNvPr id="81" name="Shape 79"/>
          <p:cNvSpPr/>
          <p:nvPr/>
        </p:nvSpPr>
        <p:spPr>
          <a:xfrm>
            <a:off x="4082796" y="4354830"/>
            <a:ext cx="109728" cy="109728"/>
          </a:xfrm>
          <a:prstGeom prst="ellipse">
            <a:avLst/>
          </a:prstGeom>
          <a:solidFill>
            <a:schemeClr val="bg2"/>
          </a:solidFill>
          <a:ln w="9525">
            <a:solidFill>
              <a:schemeClr val="accent4"/>
            </a:solidFill>
            <a:prstDash val="solid"/>
          </a:ln>
        </p:spPr>
      </p:sp>
      <p:sp>
        <p:nvSpPr>
          <p:cNvPr id="82" name="Shape 80"/>
          <p:cNvSpPr/>
          <p:nvPr/>
        </p:nvSpPr>
        <p:spPr>
          <a:xfrm>
            <a:off x="4421124" y="4354830"/>
            <a:ext cx="109728" cy="109728"/>
          </a:xfrm>
          <a:prstGeom prst="ellipse">
            <a:avLst/>
          </a:prstGeom>
          <a:solidFill>
            <a:schemeClr val="bg2"/>
          </a:solidFill>
          <a:ln w="9525">
            <a:solidFill>
              <a:schemeClr val="accent4"/>
            </a:solidFill>
            <a:prstDash val="solid"/>
          </a:ln>
        </p:spPr>
      </p:sp>
      <p:sp>
        <p:nvSpPr>
          <p:cNvPr id="83" name="Shape 81"/>
          <p:cNvSpPr/>
          <p:nvPr/>
        </p:nvSpPr>
        <p:spPr>
          <a:xfrm>
            <a:off x="4759452" y="4354830"/>
            <a:ext cx="109728" cy="109728"/>
          </a:xfrm>
          <a:prstGeom prst="ellipse">
            <a:avLst/>
          </a:prstGeom>
          <a:solidFill>
            <a:schemeClr val="bg2"/>
          </a:solidFill>
          <a:ln w="9525">
            <a:solidFill>
              <a:schemeClr val="accent4"/>
            </a:solidFill>
            <a:prstDash val="solid"/>
          </a:ln>
        </p:spPr>
      </p:sp>
      <p:sp>
        <p:nvSpPr>
          <p:cNvPr id="84" name="Shape 82"/>
          <p:cNvSpPr/>
          <p:nvPr/>
        </p:nvSpPr>
        <p:spPr>
          <a:xfrm>
            <a:off x="5061204" y="4318254"/>
            <a:ext cx="182880" cy="182880"/>
          </a:xfrm>
          <a:prstGeom prst="ellipse">
            <a:avLst/>
          </a:prstGeom>
          <a:solidFill>
            <a:schemeClr val="accent3"/>
          </a:solidFill>
          <a:ln w="9525">
            <a:solidFill>
              <a:schemeClr val="accent3"/>
            </a:solidFill>
            <a:prstDash val="solid"/>
          </a:ln>
        </p:spPr>
      </p:sp>
      <p:sp>
        <p:nvSpPr>
          <p:cNvPr id="85" name="Shape 83"/>
          <p:cNvSpPr/>
          <p:nvPr/>
        </p:nvSpPr>
        <p:spPr>
          <a:xfrm>
            <a:off x="5436108" y="4354830"/>
            <a:ext cx="109728" cy="109728"/>
          </a:xfrm>
          <a:prstGeom prst="ellipse">
            <a:avLst/>
          </a:prstGeom>
          <a:solidFill>
            <a:schemeClr val="bg2"/>
          </a:solidFill>
          <a:ln w="9525">
            <a:solidFill>
              <a:schemeClr val="accent4"/>
            </a:solidFill>
            <a:prstDash val="solid"/>
          </a:ln>
        </p:spPr>
      </p:sp>
      <p:sp>
        <p:nvSpPr>
          <p:cNvPr id="86" name="Shape 84"/>
          <p:cNvSpPr/>
          <p:nvPr/>
        </p:nvSpPr>
        <p:spPr>
          <a:xfrm>
            <a:off x="5774436" y="4354830"/>
            <a:ext cx="109728" cy="109728"/>
          </a:xfrm>
          <a:prstGeom prst="ellipse">
            <a:avLst/>
          </a:prstGeom>
          <a:solidFill>
            <a:schemeClr val="bg2"/>
          </a:solidFill>
          <a:ln w="9525">
            <a:solidFill>
              <a:schemeClr val="accent4"/>
            </a:solidFill>
            <a:prstDash val="solid"/>
          </a:ln>
        </p:spPr>
      </p:sp>
      <p:sp>
        <p:nvSpPr>
          <p:cNvPr id="87" name="Shape 85"/>
          <p:cNvSpPr/>
          <p:nvPr/>
        </p:nvSpPr>
        <p:spPr>
          <a:xfrm>
            <a:off x="6249924" y="4318254"/>
            <a:ext cx="182880" cy="182880"/>
          </a:xfrm>
          <a:prstGeom prst="ellipse">
            <a:avLst/>
          </a:prstGeom>
          <a:solidFill>
            <a:schemeClr val="accent1"/>
          </a:solidFill>
          <a:ln w="9525">
            <a:solidFill>
              <a:schemeClr val="accent1"/>
            </a:solidFill>
            <a:prstDash val="solid"/>
          </a:ln>
        </p:spPr>
      </p:sp>
      <p:sp>
        <p:nvSpPr>
          <p:cNvPr id="88" name="Text 86"/>
          <p:cNvSpPr txBox="1"/>
          <p:nvPr/>
        </p:nvSpPr>
        <p:spPr>
          <a:xfrm>
            <a:off x="548640" y="4553712"/>
            <a:ext cx="2743200" cy="288036"/>
          </a:xfrm>
          <a:prstGeom prst="rect">
            <a:avLst/>
          </a:prstGeom>
          <a:noFill/>
          <a:ln/>
        </p:spPr>
        <p:txBody>
          <a:bodyPr wrap="square" lIns="0" tIns="0" rIns="0" bIns="0" rtlCol="0" anchor="ctr"/>
          <a:lstStyle/>
          <a:p>
            <a:pPr indent="0" marL="0">
              <a:buNone/>
            </a:pPr>
            <a:r>
              <a:rPr lang="en-US" sz="1100" b="1" dirty="0">
                <a:solidFill>
                  <a:schemeClr val="tx1"/>
                </a:solidFill>
              </a:rPr>
              <a:t>Falcon Ridge</a:t>
            </a:r>
            <a:pPr indent="0" marL="0">
              <a:buNone/>
            </a:pPr>
            <a:r>
              <a:rPr lang="en-US" sz="1100" dirty="0">
                <a:solidFill>
                  <a:schemeClr val="accent5"/>
                </a:solidFill>
              </a:rPr>
              <a:t>  P. Shah Trust</a:t>
            </a:r>
            <a:endParaRPr lang="en-US" sz="1100" dirty="0"/>
          </a:p>
        </p:txBody>
      </p:sp>
      <p:sp>
        <p:nvSpPr>
          <p:cNvPr id="89" name="Shape 87"/>
          <p:cNvSpPr/>
          <p:nvPr/>
        </p:nvSpPr>
        <p:spPr>
          <a:xfrm>
            <a:off x="3406140" y="4642866"/>
            <a:ext cx="109728" cy="109728"/>
          </a:xfrm>
          <a:prstGeom prst="ellipse">
            <a:avLst/>
          </a:prstGeom>
          <a:solidFill>
            <a:schemeClr val="bg2"/>
          </a:solidFill>
          <a:ln w="9525">
            <a:solidFill>
              <a:schemeClr val="accent4"/>
            </a:solidFill>
            <a:prstDash val="solid"/>
          </a:ln>
        </p:spPr>
      </p:sp>
      <p:sp>
        <p:nvSpPr>
          <p:cNvPr id="90" name="Shape 88"/>
          <p:cNvSpPr/>
          <p:nvPr/>
        </p:nvSpPr>
        <p:spPr>
          <a:xfrm>
            <a:off x="3744468" y="4642866"/>
            <a:ext cx="109728" cy="109728"/>
          </a:xfrm>
          <a:prstGeom prst="ellipse">
            <a:avLst/>
          </a:prstGeom>
          <a:solidFill>
            <a:schemeClr val="bg2"/>
          </a:solidFill>
          <a:ln w="9525">
            <a:solidFill>
              <a:schemeClr val="accent4"/>
            </a:solidFill>
            <a:prstDash val="solid"/>
          </a:ln>
        </p:spPr>
      </p:sp>
      <p:sp>
        <p:nvSpPr>
          <p:cNvPr id="91" name="Shape 89"/>
          <p:cNvSpPr/>
          <p:nvPr/>
        </p:nvSpPr>
        <p:spPr>
          <a:xfrm>
            <a:off x="4082796" y="4642866"/>
            <a:ext cx="109728" cy="109728"/>
          </a:xfrm>
          <a:prstGeom prst="ellipse">
            <a:avLst/>
          </a:prstGeom>
          <a:solidFill>
            <a:schemeClr val="bg2"/>
          </a:solidFill>
          <a:ln w="9525">
            <a:solidFill>
              <a:schemeClr val="accent4"/>
            </a:solidFill>
            <a:prstDash val="solid"/>
          </a:ln>
        </p:spPr>
      </p:sp>
      <p:sp>
        <p:nvSpPr>
          <p:cNvPr id="92" name="Shape 90"/>
          <p:cNvSpPr/>
          <p:nvPr/>
        </p:nvSpPr>
        <p:spPr>
          <a:xfrm>
            <a:off x="4421124" y="4642866"/>
            <a:ext cx="109728" cy="109728"/>
          </a:xfrm>
          <a:prstGeom prst="ellipse">
            <a:avLst/>
          </a:prstGeom>
          <a:solidFill>
            <a:schemeClr val="bg2"/>
          </a:solidFill>
          <a:ln w="9525">
            <a:solidFill>
              <a:schemeClr val="accent4"/>
            </a:solidFill>
            <a:prstDash val="solid"/>
          </a:ln>
        </p:spPr>
      </p:sp>
      <p:sp>
        <p:nvSpPr>
          <p:cNvPr id="93" name="Shape 91"/>
          <p:cNvSpPr/>
          <p:nvPr/>
        </p:nvSpPr>
        <p:spPr>
          <a:xfrm>
            <a:off x="4759452" y="4642866"/>
            <a:ext cx="109728" cy="109728"/>
          </a:xfrm>
          <a:prstGeom prst="ellipse">
            <a:avLst/>
          </a:prstGeom>
          <a:solidFill>
            <a:schemeClr val="bg2"/>
          </a:solidFill>
          <a:ln w="9525">
            <a:solidFill>
              <a:schemeClr val="accent4"/>
            </a:solidFill>
            <a:prstDash val="solid"/>
          </a:ln>
        </p:spPr>
      </p:sp>
      <p:sp>
        <p:nvSpPr>
          <p:cNvPr id="94" name="Shape 92"/>
          <p:cNvSpPr/>
          <p:nvPr/>
        </p:nvSpPr>
        <p:spPr>
          <a:xfrm>
            <a:off x="5061204" y="4606290"/>
            <a:ext cx="182880" cy="182880"/>
          </a:xfrm>
          <a:prstGeom prst="ellipse">
            <a:avLst/>
          </a:prstGeom>
          <a:solidFill>
            <a:schemeClr val="accent3"/>
          </a:solidFill>
          <a:ln w="9525">
            <a:solidFill>
              <a:schemeClr val="accent3"/>
            </a:solidFill>
            <a:prstDash val="solid"/>
          </a:ln>
        </p:spPr>
      </p:sp>
      <p:sp>
        <p:nvSpPr>
          <p:cNvPr id="95" name="Shape 93"/>
          <p:cNvSpPr/>
          <p:nvPr/>
        </p:nvSpPr>
        <p:spPr>
          <a:xfrm>
            <a:off x="5399532" y="4606290"/>
            <a:ext cx="182880" cy="182880"/>
          </a:xfrm>
          <a:prstGeom prst="ellipse">
            <a:avLst/>
          </a:prstGeom>
          <a:solidFill>
            <a:schemeClr val="accent3"/>
          </a:solidFill>
          <a:ln w="9525">
            <a:solidFill>
              <a:schemeClr val="accent3"/>
            </a:solidFill>
            <a:prstDash val="solid"/>
          </a:ln>
        </p:spPr>
      </p:sp>
      <p:sp>
        <p:nvSpPr>
          <p:cNvPr id="96" name="Shape 94"/>
          <p:cNvSpPr/>
          <p:nvPr/>
        </p:nvSpPr>
        <p:spPr>
          <a:xfrm>
            <a:off x="5774436" y="4642866"/>
            <a:ext cx="109728" cy="109728"/>
          </a:xfrm>
          <a:prstGeom prst="ellipse">
            <a:avLst/>
          </a:prstGeom>
          <a:solidFill>
            <a:schemeClr val="bg2"/>
          </a:solidFill>
          <a:ln w="9525">
            <a:solidFill>
              <a:schemeClr val="accent4"/>
            </a:solidFill>
            <a:prstDash val="solid"/>
          </a:ln>
        </p:spPr>
      </p:sp>
      <p:sp>
        <p:nvSpPr>
          <p:cNvPr id="97" name="Shape 95"/>
          <p:cNvSpPr/>
          <p:nvPr/>
        </p:nvSpPr>
        <p:spPr>
          <a:xfrm>
            <a:off x="6249924" y="4606290"/>
            <a:ext cx="182880" cy="182880"/>
          </a:xfrm>
          <a:prstGeom prst="ellipse">
            <a:avLst/>
          </a:prstGeom>
          <a:solidFill>
            <a:schemeClr val="accent1"/>
          </a:solidFill>
          <a:ln w="9525">
            <a:solidFill>
              <a:schemeClr val="accent1"/>
            </a:solidFill>
            <a:prstDash val="solid"/>
          </a:ln>
        </p:spPr>
      </p:sp>
      <p:sp>
        <p:nvSpPr>
          <p:cNvPr id="98" name="Text 96"/>
          <p:cNvSpPr txBox="1"/>
          <p:nvPr/>
        </p:nvSpPr>
        <p:spPr>
          <a:xfrm>
            <a:off x="548640" y="4841748"/>
            <a:ext cx="2743200" cy="288036"/>
          </a:xfrm>
          <a:prstGeom prst="rect">
            <a:avLst/>
          </a:prstGeom>
          <a:noFill/>
          <a:ln/>
        </p:spPr>
        <p:txBody>
          <a:bodyPr wrap="square" lIns="0" tIns="0" rIns="0" bIns="0" rtlCol="0" anchor="ctr"/>
          <a:lstStyle/>
          <a:p>
            <a:pPr indent="0" marL="0">
              <a:buNone/>
            </a:pPr>
            <a:r>
              <a:rPr lang="en-US" sz="1100" b="1" dirty="0">
                <a:solidFill>
                  <a:schemeClr val="tx1"/>
                </a:solidFill>
              </a:rPr>
              <a:t>Northwell</a:t>
            </a:r>
            <a:pPr indent="0" marL="0">
              <a:buNone/>
            </a:pPr>
            <a:r>
              <a:rPr lang="en-US" sz="1100" dirty="0">
                <a:solidFill>
                  <a:schemeClr val="accent5"/>
                </a:solidFill>
              </a:rPr>
              <a:t>  Priyanka Shah</a:t>
            </a:r>
            <a:endParaRPr lang="en-US" sz="1100" dirty="0"/>
          </a:p>
        </p:txBody>
      </p:sp>
      <p:sp>
        <p:nvSpPr>
          <p:cNvPr id="99" name="Shape 97"/>
          <p:cNvSpPr/>
          <p:nvPr/>
        </p:nvSpPr>
        <p:spPr>
          <a:xfrm>
            <a:off x="3369564" y="4894326"/>
            <a:ext cx="182880" cy="182880"/>
          </a:xfrm>
          <a:prstGeom prst="ellipse">
            <a:avLst/>
          </a:prstGeom>
          <a:solidFill>
            <a:schemeClr val="accent2"/>
          </a:solidFill>
          <a:ln w="9525">
            <a:solidFill>
              <a:schemeClr val="accent2"/>
            </a:solidFill>
            <a:prstDash val="solid"/>
          </a:ln>
        </p:spPr>
      </p:sp>
      <p:sp>
        <p:nvSpPr>
          <p:cNvPr id="100" name="Shape 98"/>
          <p:cNvSpPr/>
          <p:nvPr/>
        </p:nvSpPr>
        <p:spPr>
          <a:xfrm>
            <a:off x="3707892" y="4894326"/>
            <a:ext cx="182880" cy="182880"/>
          </a:xfrm>
          <a:prstGeom prst="ellipse">
            <a:avLst/>
          </a:prstGeom>
          <a:solidFill>
            <a:schemeClr val="accent2"/>
          </a:solidFill>
          <a:ln w="9525">
            <a:solidFill>
              <a:schemeClr val="accent2"/>
            </a:solidFill>
            <a:prstDash val="solid"/>
          </a:ln>
        </p:spPr>
      </p:sp>
      <p:sp>
        <p:nvSpPr>
          <p:cNvPr id="101" name="Shape 99"/>
          <p:cNvSpPr/>
          <p:nvPr/>
        </p:nvSpPr>
        <p:spPr>
          <a:xfrm>
            <a:off x="4082796" y="4930902"/>
            <a:ext cx="109728" cy="109728"/>
          </a:xfrm>
          <a:prstGeom prst="ellipse">
            <a:avLst/>
          </a:prstGeom>
          <a:solidFill>
            <a:schemeClr val="bg2"/>
          </a:solidFill>
          <a:ln w="9525">
            <a:solidFill>
              <a:schemeClr val="accent4"/>
            </a:solidFill>
            <a:prstDash val="solid"/>
          </a:ln>
        </p:spPr>
      </p:sp>
      <p:sp>
        <p:nvSpPr>
          <p:cNvPr id="102" name="Shape 100"/>
          <p:cNvSpPr/>
          <p:nvPr/>
        </p:nvSpPr>
        <p:spPr>
          <a:xfrm>
            <a:off x="4421124" y="4930902"/>
            <a:ext cx="109728" cy="109728"/>
          </a:xfrm>
          <a:prstGeom prst="ellipse">
            <a:avLst/>
          </a:prstGeom>
          <a:solidFill>
            <a:schemeClr val="bg2"/>
          </a:solidFill>
          <a:ln w="9525">
            <a:solidFill>
              <a:schemeClr val="accent4"/>
            </a:solidFill>
            <a:prstDash val="solid"/>
          </a:ln>
        </p:spPr>
      </p:sp>
      <p:sp>
        <p:nvSpPr>
          <p:cNvPr id="103" name="Shape 101"/>
          <p:cNvSpPr/>
          <p:nvPr/>
        </p:nvSpPr>
        <p:spPr>
          <a:xfrm>
            <a:off x="4759452" y="4930902"/>
            <a:ext cx="109728" cy="109728"/>
          </a:xfrm>
          <a:prstGeom prst="ellipse">
            <a:avLst/>
          </a:prstGeom>
          <a:solidFill>
            <a:schemeClr val="bg2"/>
          </a:solidFill>
          <a:ln w="9525">
            <a:solidFill>
              <a:schemeClr val="accent4"/>
            </a:solidFill>
            <a:prstDash val="solid"/>
          </a:ln>
        </p:spPr>
      </p:sp>
      <p:sp>
        <p:nvSpPr>
          <p:cNvPr id="104" name="Shape 102"/>
          <p:cNvSpPr/>
          <p:nvPr/>
        </p:nvSpPr>
        <p:spPr>
          <a:xfrm>
            <a:off x="5097780" y="4930902"/>
            <a:ext cx="109728" cy="109728"/>
          </a:xfrm>
          <a:prstGeom prst="ellipse">
            <a:avLst/>
          </a:prstGeom>
          <a:solidFill>
            <a:schemeClr val="bg2"/>
          </a:solidFill>
          <a:ln w="9525">
            <a:solidFill>
              <a:schemeClr val="accent4"/>
            </a:solidFill>
            <a:prstDash val="solid"/>
          </a:ln>
        </p:spPr>
      </p:sp>
      <p:sp>
        <p:nvSpPr>
          <p:cNvPr id="105" name="Shape 103"/>
          <p:cNvSpPr/>
          <p:nvPr/>
        </p:nvSpPr>
        <p:spPr>
          <a:xfrm>
            <a:off x="5399532" y="4894326"/>
            <a:ext cx="182880" cy="182880"/>
          </a:xfrm>
          <a:prstGeom prst="ellipse">
            <a:avLst/>
          </a:prstGeom>
          <a:solidFill>
            <a:schemeClr val="accent3"/>
          </a:solidFill>
          <a:ln w="9525">
            <a:solidFill>
              <a:schemeClr val="accent3"/>
            </a:solidFill>
            <a:prstDash val="solid"/>
          </a:ln>
        </p:spPr>
      </p:sp>
      <p:sp>
        <p:nvSpPr>
          <p:cNvPr id="106" name="Shape 104"/>
          <p:cNvSpPr/>
          <p:nvPr/>
        </p:nvSpPr>
        <p:spPr>
          <a:xfrm>
            <a:off x="5737860" y="4894326"/>
            <a:ext cx="182880" cy="182880"/>
          </a:xfrm>
          <a:prstGeom prst="ellipse">
            <a:avLst/>
          </a:prstGeom>
          <a:solidFill>
            <a:schemeClr val="accent2"/>
          </a:solidFill>
          <a:ln w="9525">
            <a:solidFill>
              <a:schemeClr val="accent2"/>
            </a:solidFill>
            <a:prstDash val="solid"/>
          </a:ln>
        </p:spPr>
      </p:sp>
      <p:sp>
        <p:nvSpPr>
          <p:cNvPr id="107" name="Text 105"/>
          <p:cNvSpPr txBox="1"/>
          <p:nvPr/>
        </p:nvSpPr>
        <p:spPr>
          <a:xfrm>
            <a:off x="548640" y="5129784"/>
            <a:ext cx="2743200" cy="288036"/>
          </a:xfrm>
          <a:prstGeom prst="rect">
            <a:avLst/>
          </a:prstGeom>
          <a:noFill/>
          <a:ln/>
        </p:spPr>
        <p:txBody>
          <a:bodyPr wrap="square" lIns="0" tIns="0" rIns="0" bIns="0" rtlCol="0" anchor="ctr"/>
          <a:lstStyle/>
          <a:p>
            <a:pPr indent="0" marL="0">
              <a:buNone/>
            </a:pPr>
            <a:r>
              <a:rPr lang="en-US" sz="1100" b="1" dirty="0">
                <a:solidFill>
                  <a:schemeClr val="tx1"/>
                </a:solidFill>
              </a:rPr>
              <a:t>Stonebridge</a:t>
            </a:r>
            <a:pPr indent="0" marL="0">
              <a:buNone/>
            </a:pPr>
            <a:r>
              <a:rPr lang="en-US" sz="1100" dirty="0">
                <a:solidFill>
                  <a:schemeClr val="accent5"/>
                </a:solidFill>
              </a:rPr>
              <a:t>  P. Shah Trust</a:t>
            </a:r>
            <a:endParaRPr lang="en-US" sz="1100" dirty="0"/>
          </a:p>
        </p:txBody>
      </p:sp>
      <p:sp>
        <p:nvSpPr>
          <p:cNvPr id="108" name="Shape 106"/>
          <p:cNvSpPr/>
          <p:nvPr/>
        </p:nvSpPr>
        <p:spPr>
          <a:xfrm>
            <a:off x="3369564" y="5182362"/>
            <a:ext cx="182880" cy="182880"/>
          </a:xfrm>
          <a:prstGeom prst="ellipse">
            <a:avLst/>
          </a:prstGeom>
          <a:solidFill>
            <a:schemeClr val="accent2"/>
          </a:solidFill>
          <a:ln w="9525">
            <a:solidFill>
              <a:schemeClr val="accent2"/>
            </a:solidFill>
            <a:prstDash val="solid"/>
          </a:ln>
        </p:spPr>
      </p:sp>
      <p:sp>
        <p:nvSpPr>
          <p:cNvPr id="109" name="Shape 107"/>
          <p:cNvSpPr/>
          <p:nvPr/>
        </p:nvSpPr>
        <p:spPr>
          <a:xfrm>
            <a:off x="3707892" y="5182362"/>
            <a:ext cx="182880" cy="182880"/>
          </a:xfrm>
          <a:prstGeom prst="ellipse">
            <a:avLst/>
          </a:prstGeom>
          <a:solidFill>
            <a:schemeClr val="accent2"/>
          </a:solidFill>
          <a:ln w="9525">
            <a:solidFill>
              <a:schemeClr val="accent2"/>
            </a:solidFill>
            <a:prstDash val="solid"/>
          </a:ln>
        </p:spPr>
      </p:sp>
      <p:sp>
        <p:nvSpPr>
          <p:cNvPr id="110" name="Shape 108"/>
          <p:cNvSpPr/>
          <p:nvPr/>
        </p:nvSpPr>
        <p:spPr>
          <a:xfrm>
            <a:off x="4082796" y="5218938"/>
            <a:ext cx="109728" cy="109728"/>
          </a:xfrm>
          <a:prstGeom prst="ellipse">
            <a:avLst/>
          </a:prstGeom>
          <a:solidFill>
            <a:schemeClr val="bg2"/>
          </a:solidFill>
          <a:ln w="9525">
            <a:solidFill>
              <a:schemeClr val="accent4"/>
            </a:solidFill>
            <a:prstDash val="solid"/>
          </a:ln>
        </p:spPr>
      </p:sp>
      <p:sp>
        <p:nvSpPr>
          <p:cNvPr id="111" name="Shape 109"/>
          <p:cNvSpPr/>
          <p:nvPr/>
        </p:nvSpPr>
        <p:spPr>
          <a:xfrm>
            <a:off x="4421124" y="5218938"/>
            <a:ext cx="109728" cy="109728"/>
          </a:xfrm>
          <a:prstGeom prst="ellipse">
            <a:avLst/>
          </a:prstGeom>
          <a:solidFill>
            <a:schemeClr val="bg2"/>
          </a:solidFill>
          <a:ln w="9525">
            <a:solidFill>
              <a:schemeClr val="accent4"/>
            </a:solidFill>
            <a:prstDash val="solid"/>
          </a:ln>
        </p:spPr>
      </p:sp>
      <p:sp>
        <p:nvSpPr>
          <p:cNvPr id="112" name="Shape 110"/>
          <p:cNvSpPr/>
          <p:nvPr/>
        </p:nvSpPr>
        <p:spPr>
          <a:xfrm>
            <a:off x="4759452" y="5218938"/>
            <a:ext cx="109728" cy="109728"/>
          </a:xfrm>
          <a:prstGeom prst="ellipse">
            <a:avLst/>
          </a:prstGeom>
          <a:solidFill>
            <a:schemeClr val="bg2"/>
          </a:solidFill>
          <a:ln w="9525">
            <a:solidFill>
              <a:schemeClr val="accent4"/>
            </a:solidFill>
            <a:prstDash val="solid"/>
          </a:ln>
        </p:spPr>
      </p:sp>
      <p:sp>
        <p:nvSpPr>
          <p:cNvPr id="113" name="Shape 111"/>
          <p:cNvSpPr/>
          <p:nvPr/>
        </p:nvSpPr>
        <p:spPr>
          <a:xfrm>
            <a:off x="5061204" y="5182362"/>
            <a:ext cx="182880" cy="182880"/>
          </a:xfrm>
          <a:prstGeom prst="ellipse">
            <a:avLst/>
          </a:prstGeom>
          <a:solidFill>
            <a:schemeClr val="accent3"/>
          </a:solidFill>
          <a:ln w="9525">
            <a:solidFill>
              <a:schemeClr val="accent3"/>
            </a:solidFill>
            <a:prstDash val="solid"/>
          </a:ln>
        </p:spPr>
      </p:sp>
      <p:sp>
        <p:nvSpPr>
          <p:cNvPr id="114" name="Shape 112"/>
          <p:cNvSpPr/>
          <p:nvPr/>
        </p:nvSpPr>
        <p:spPr>
          <a:xfrm>
            <a:off x="5436108" y="5218938"/>
            <a:ext cx="109728" cy="109728"/>
          </a:xfrm>
          <a:prstGeom prst="ellipse">
            <a:avLst/>
          </a:prstGeom>
          <a:solidFill>
            <a:schemeClr val="bg2"/>
          </a:solidFill>
          <a:ln w="9525">
            <a:solidFill>
              <a:schemeClr val="accent4"/>
            </a:solidFill>
            <a:prstDash val="solid"/>
          </a:ln>
        </p:spPr>
      </p:sp>
      <p:sp>
        <p:nvSpPr>
          <p:cNvPr id="115" name="Shape 113"/>
          <p:cNvSpPr/>
          <p:nvPr/>
        </p:nvSpPr>
        <p:spPr>
          <a:xfrm>
            <a:off x="5774436" y="5218938"/>
            <a:ext cx="109728" cy="109728"/>
          </a:xfrm>
          <a:prstGeom prst="ellipse">
            <a:avLst/>
          </a:prstGeom>
          <a:solidFill>
            <a:schemeClr val="bg2"/>
          </a:solidFill>
          <a:ln w="9525">
            <a:solidFill>
              <a:schemeClr val="accent4"/>
            </a:solidFill>
            <a:prstDash val="solid"/>
          </a:ln>
        </p:spPr>
      </p:sp>
      <p:sp>
        <p:nvSpPr>
          <p:cNvPr id="116" name="Text 114"/>
          <p:cNvSpPr txBox="1"/>
          <p:nvPr/>
        </p:nvSpPr>
        <p:spPr>
          <a:xfrm>
            <a:off x="548640" y="5417820"/>
            <a:ext cx="2743200" cy="288036"/>
          </a:xfrm>
          <a:prstGeom prst="rect">
            <a:avLst/>
          </a:prstGeom>
          <a:noFill/>
          <a:ln/>
        </p:spPr>
        <p:txBody>
          <a:bodyPr wrap="square" lIns="0" tIns="0" rIns="0" bIns="0" rtlCol="0" anchor="ctr"/>
          <a:lstStyle/>
          <a:p>
            <a:pPr indent="0" marL="0">
              <a:buNone/>
            </a:pPr>
            <a:r>
              <a:rPr lang="en-US" sz="1100" b="1" dirty="0">
                <a:solidFill>
                  <a:schemeClr val="tx1"/>
                </a:solidFill>
              </a:rPr>
              <a:t>Stonebridge</a:t>
            </a:r>
            <a:pPr indent="0" marL="0">
              <a:buNone/>
            </a:pPr>
            <a:r>
              <a:rPr lang="en-US" sz="1100" dirty="0">
                <a:solidFill>
                  <a:schemeClr val="accent5"/>
                </a:solidFill>
              </a:rPr>
              <a:t>  PS Holdings LLC</a:t>
            </a:r>
            <a:endParaRPr lang="en-US" sz="1100" dirty="0"/>
          </a:p>
        </p:txBody>
      </p:sp>
      <p:sp>
        <p:nvSpPr>
          <p:cNvPr id="117" name="Shape 115"/>
          <p:cNvSpPr/>
          <p:nvPr/>
        </p:nvSpPr>
        <p:spPr>
          <a:xfrm>
            <a:off x="3369564" y="5470398"/>
            <a:ext cx="182880" cy="182880"/>
          </a:xfrm>
          <a:prstGeom prst="ellipse">
            <a:avLst/>
          </a:prstGeom>
          <a:solidFill>
            <a:schemeClr val="accent2"/>
          </a:solidFill>
          <a:ln w="9525">
            <a:solidFill>
              <a:schemeClr val="accent2"/>
            </a:solidFill>
            <a:prstDash val="solid"/>
          </a:ln>
        </p:spPr>
      </p:sp>
      <p:sp>
        <p:nvSpPr>
          <p:cNvPr id="118" name="Shape 116"/>
          <p:cNvSpPr/>
          <p:nvPr/>
        </p:nvSpPr>
        <p:spPr>
          <a:xfrm>
            <a:off x="3707892" y="5470398"/>
            <a:ext cx="182880" cy="182880"/>
          </a:xfrm>
          <a:prstGeom prst="ellipse">
            <a:avLst/>
          </a:prstGeom>
          <a:solidFill>
            <a:schemeClr val="accent2"/>
          </a:solidFill>
          <a:ln w="9525">
            <a:solidFill>
              <a:schemeClr val="accent2"/>
            </a:solidFill>
            <a:prstDash val="solid"/>
          </a:ln>
        </p:spPr>
      </p:sp>
      <p:sp>
        <p:nvSpPr>
          <p:cNvPr id="119" name="Shape 117"/>
          <p:cNvSpPr/>
          <p:nvPr/>
        </p:nvSpPr>
        <p:spPr>
          <a:xfrm>
            <a:off x="4082796" y="5506974"/>
            <a:ext cx="109728" cy="109728"/>
          </a:xfrm>
          <a:prstGeom prst="ellipse">
            <a:avLst/>
          </a:prstGeom>
          <a:solidFill>
            <a:schemeClr val="bg2"/>
          </a:solidFill>
          <a:ln w="9525">
            <a:solidFill>
              <a:schemeClr val="accent4"/>
            </a:solidFill>
            <a:prstDash val="solid"/>
          </a:ln>
        </p:spPr>
      </p:sp>
      <p:sp>
        <p:nvSpPr>
          <p:cNvPr id="120" name="Shape 118"/>
          <p:cNvSpPr/>
          <p:nvPr/>
        </p:nvSpPr>
        <p:spPr>
          <a:xfrm>
            <a:off x="4421124" y="5506974"/>
            <a:ext cx="109728" cy="109728"/>
          </a:xfrm>
          <a:prstGeom prst="ellipse">
            <a:avLst/>
          </a:prstGeom>
          <a:solidFill>
            <a:schemeClr val="bg2"/>
          </a:solidFill>
          <a:ln w="9525">
            <a:solidFill>
              <a:schemeClr val="accent4"/>
            </a:solidFill>
            <a:prstDash val="solid"/>
          </a:ln>
        </p:spPr>
      </p:sp>
      <p:sp>
        <p:nvSpPr>
          <p:cNvPr id="121" name="Shape 119"/>
          <p:cNvSpPr/>
          <p:nvPr/>
        </p:nvSpPr>
        <p:spPr>
          <a:xfrm>
            <a:off x="4759452" y="5506974"/>
            <a:ext cx="109728" cy="109728"/>
          </a:xfrm>
          <a:prstGeom prst="ellipse">
            <a:avLst/>
          </a:prstGeom>
          <a:solidFill>
            <a:schemeClr val="bg2"/>
          </a:solidFill>
          <a:ln w="9525">
            <a:solidFill>
              <a:schemeClr val="accent4"/>
            </a:solidFill>
            <a:prstDash val="solid"/>
          </a:ln>
        </p:spPr>
      </p:sp>
      <p:sp>
        <p:nvSpPr>
          <p:cNvPr id="122" name="Shape 120"/>
          <p:cNvSpPr/>
          <p:nvPr/>
        </p:nvSpPr>
        <p:spPr>
          <a:xfrm>
            <a:off x="5061204" y="5470398"/>
            <a:ext cx="182880" cy="182880"/>
          </a:xfrm>
          <a:prstGeom prst="ellipse">
            <a:avLst/>
          </a:prstGeom>
          <a:solidFill>
            <a:schemeClr val="accent3"/>
          </a:solidFill>
          <a:ln w="9525">
            <a:solidFill>
              <a:schemeClr val="accent3"/>
            </a:solidFill>
            <a:prstDash val="solid"/>
          </a:ln>
        </p:spPr>
      </p:sp>
      <p:sp>
        <p:nvSpPr>
          <p:cNvPr id="123" name="Shape 121"/>
          <p:cNvSpPr/>
          <p:nvPr/>
        </p:nvSpPr>
        <p:spPr>
          <a:xfrm>
            <a:off x="5436108" y="5506974"/>
            <a:ext cx="109728" cy="109728"/>
          </a:xfrm>
          <a:prstGeom prst="ellipse">
            <a:avLst/>
          </a:prstGeom>
          <a:solidFill>
            <a:schemeClr val="bg2"/>
          </a:solidFill>
          <a:ln w="9525">
            <a:solidFill>
              <a:schemeClr val="accent4"/>
            </a:solidFill>
            <a:prstDash val="solid"/>
          </a:ln>
        </p:spPr>
      </p:sp>
      <p:sp>
        <p:nvSpPr>
          <p:cNvPr id="124" name="Shape 122"/>
          <p:cNvSpPr/>
          <p:nvPr/>
        </p:nvSpPr>
        <p:spPr>
          <a:xfrm>
            <a:off x="5774436" y="5506974"/>
            <a:ext cx="109728" cy="109728"/>
          </a:xfrm>
          <a:prstGeom prst="ellipse">
            <a:avLst/>
          </a:prstGeom>
          <a:solidFill>
            <a:schemeClr val="bg2"/>
          </a:solidFill>
          <a:ln w="9525">
            <a:solidFill>
              <a:schemeClr val="accent4"/>
            </a:solidFill>
            <a:prstDash val="solid"/>
          </a:ln>
        </p:spPr>
      </p:sp>
      <p:sp>
        <p:nvSpPr>
          <p:cNvPr id="125" name="Shape 123"/>
          <p:cNvSpPr/>
          <p:nvPr/>
        </p:nvSpPr>
        <p:spPr>
          <a:xfrm>
            <a:off x="548640" y="5907024"/>
            <a:ext cx="155448" cy="155448"/>
          </a:xfrm>
          <a:prstGeom prst="ellipse">
            <a:avLst/>
          </a:prstGeom>
          <a:solidFill>
            <a:schemeClr val="accent2"/>
          </a:solidFill>
          <a:ln w="9525">
            <a:solidFill>
              <a:schemeClr val="accent2"/>
            </a:solidFill>
            <a:prstDash val="solid"/>
          </a:ln>
        </p:spPr>
      </p:sp>
      <p:sp>
        <p:nvSpPr>
          <p:cNvPr id="126" name="Text 124"/>
          <p:cNvSpPr txBox="1"/>
          <p:nvPr/>
        </p:nvSpPr>
        <p:spPr>
          <a:xfrm>
            <a:off x="786384" y="5870448"/>
            <a:ext cx="1737360" cy="228600"/>
          </a:xfrm>
          <a:prstGeom prst="rect">
            <a:avLst/>
          </a:prstGeom>
          <a:noFill/>
          <a:ln/>
        </p:spPr>
        <p:txBody>
          <a:bodyPr wrap="square" lIns="0" tIns="0" rIns="0" bIns="0" rtlCol="0" anchor="ctr"/>
          <a:lstStyle/>
          <a:p>
            <a:pPr indent="0" marL="0">
              <a:buNone/>
            </a:pPr>
            <a:r>
              <a:rPr lang="en-US" sz="1100" dirty="0">
                <a:solidFill>
                  <a:schemeClr val="accent5"/>
                </a:solidFill>
              </a:rPr>
              <a:t>Changes a client number</a:t>
            </a:r>
            <a:endParaRPr lang="en-US" sz="1100" dirty="0"/>
          </a:p>
        </p:txBody>
      </p:sp>
      <p:sp>
        <p:nvSpPr>
          <p:cNvPr id="127" name="Shape 125"/>
          <p:cNvSpPr/>
          <p:nvPr/>
        </p:nvSpPr>
        <p:spPr>
          <a:xfrm>
            <a:off x="2560320" y="5907024"/>
            <a:ext cx="155448" cy="155448"/>
          </a:xfrm>
          <a:prstGeom prst="ellipse">
            <a:avLst/>
          </a:prstGeom>
          <a:solidFill>
            <a:schemeClr val="accent3"/>
          </a:solidFill>
          <a:ln w="9525">
            <a:solidFill>
              <a:schemeClr val="accent3"/>
            </a:solidFill>
            <a:prstDash val="solid"/>
          </a:ln>
        </p:spPr>
      </p:sp>
      <p:sp>
        <p:nvSpPr>
          <p:cNvPr id="128" name="Text 126"/>
          <p:cNvSpPr txBox="1"/>
          <p:nvPr/>
        </p:nvSpPr>
        <p:spPr>
          <a:xfrm>
            <a:off x="2798064" y="5870448"/>
            <a:ext cx="1737360" cy="228600"/>
          </a:xfrm>
          <a:prstGeom prst="rect">
            <a:avLst/>
          </a:prstGeom>
          <a:noFill/>
          <a:ln/>
        </p:spPr>
        <p:txBody>
          <a:bodyPr wrap="square" lIns="0" tIns="0" rIns="0" bIns="0" rtlCol="0" anchor="ctr"/>
          <a:lstStyle/>
          <a:p>
            <a:pPr indent="0" marL="0">
              <a:buNone/>
            </a:pPr>
            <a:r>
              <a:rPr lang="en-US" sz="1100" dirty="0">
                <a:solidFill>
                  <a:schemeClr val="accent5"/>
                </a:solidFill>
              </a:rPr>
              <a:t>Document hygiene</a:t>
            </a:r>
            <a:endParaRPr lang="en-US" sz="1100" dirty="0"/>
          </a:p>
        </p:txBody>
      </p:sp>
      <p:sp>
        <p:nvSpPr>
          <p:cNvPr id="129" name="Shape 127"/>
          <p:cNvSpPr/>
          <p:nvPr/>
        </p:nvSpPr>
        <p:spPr>
          <a:xfrm>
            <a:off x="4572000" y="5907024"/>
            <a:ext cx="155448" cy="155448"/>
          </a:xfrm>
          <a:prstGeom prst="ellipse">
            <a:avLst/>
          </a:prstGeom>
          <a:solidFill>
            <a:schemeClr val="accent1"/>
          </a:solidFill>
          <a:ln w="9525">
            <a:solidFill>
              <a:schemeClr val="accent1"/>
            </a:solidFill>
            <a:prstDash val="solid"/>
          </a:ln>
        </p:spPr>
      </p:sp>
      <p:sp>
        <p:nvSpPr>
          <p:cNvPr id="130" name="Text 128"/>
          <p:cNvSpPr txBox="1"/>
          <p:nvPr/>
        </p:nvSpPr>
        <p:spPr>
          <a:xfrm>
            <a:off x="4809744" y="5870448"/>
            <a:ext cx="1737360" cy="228600"/>
          </a:xfrm>
          <a:prstGeom prst="rect">
            <a:avLst/>
          </a:prstGeom>
          <a:noFill/>
          <a:ln/>
        </p:spPr>
        <p:txBody>
          <a:bodyPr wrap="square" lIns="0" tIns="0" rIns="0" bIns="0" rtlCol="0" anchor="ctr"/>
          <a:lstStyle/>
          <a:p>
            <a:pPr indent="0" marL="0">
              <a:buNone/>
            </a:pPr>
            <a:r>
              <a:rPr lang="en-US" sz="1100" dirty="0">
                <a:solidFill>
                  <a:schemeClr val="accent5"/>
                </a:solidFill>
              </a:rPr>
              <a:t>Position ties</a:t>
            </a:r>
            <a:endParaRPr lang="en-US" sz="1100" dirty="0"/>
          </a:p>
        </p:txBody>
      </p:sp>
      <p:sp>
        <p:nvSpPr>
          <p:cNvPr id="131" name="check-1"/>
          <p:cNvSpPr/>
          <p:nvPr/>
        </p:nvSpPr>
        <p:spPr>
          <a:xfrm>
            <a:off x="6903720" y="1463040"/>
            <a:ext cx="2313432" cy="1097280"/>
          </a:xfrm>
          <a:prstGeom prst="roundRect">
            <a:avLst>
              <a:gd name="adj" fmla="val 6667"/>
            </a:avLst>
          </a:prstGeom>
          <a:solidFill>
            <a:schemeClr val="bg2"/>
          </a:solidFill>
          <a:ln w="6350">
            <a:solidFill>
              <a:schemeClr val="bg2"/>
            </a:solidFill>
            <a:prstDash val="solid"/>
          </a:ln>
        </p:spPr>
      </p:sp>
      <p:sp>
        <p:nvSpPr>
          <p:cNvPr id="132" name="Shape 130"/>
          <p:cNvSpPr/>
          <p:nvPr/>
        </p:nvSpPr>
        <p:spPr>
          <a:xfrm>
            <a:off x="7022592" y="1581912"/>
            <a:ext cx="274320" cy="274320"/>
          </a:xfrm>
          <a:prstGeom prst="ellipse">
            <a:avLst/>
          </a:prstGeom>
          <a:solidFill>
            <a:schemeClr val="accent2"/>
          </a:solidFill>
          <a:ln w="9525">
            <a:solidFill>
              <a:schemeClr val="accent2"/>
            </a:solidFill>
            <a:prstDash val="solid"/>
          </a:ln>
        </p:spPr>
      </p:sp>
      <p:sp>
        <p:nvSpPr>
          <p:cNvPr id="133" name="Text 131"/>
          <p:cNvSpPr txBox="1"/>
          <p:nvPr/>
        </p:nvSpPr>
        <p:spPr>
          <a:xfrm>
            <a:off x="7022592" y="1581912"/>
            <a:ext cx="274320" cy="274320"/>
          </a:xfrm>
          <a:prstGeom prst="rect">
            <a:avLst/>
          </a:prstGeom>
          <a:no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134" name="Text 132"/>
          <p:cNvSpPr txBox="1"/>
          <p:nvPr/>
        </p:nvSpPr>
        <p:spPr>
          <a:xfrm>
            <a:off x="7379208" y="1581912"/>
            <a:ext cx="1746504" cy="274320"/>
          </a:xfrm>
          <a:prstGeom prst="rect">
            <a:avLst/>
          </a:prstGeom>
          <a:noFill/>
          <a:ln/>
        </p:spPr>
        <p:txBody>
          <a:bodyPr wrap="square" lIns="0" tIns="0" rIns="0" bIns="0" rtlCol="0" anchor="ctr"/>
          <a:lstStyle/>
          <a:p>
            <a:pPr indent="0" marL="0">
              <a:buNone/>
            </a:pPr>
            <a:r>
              <a:rPr lang="en-US" sz="1300" b="1" dirty="0">
                <a:solidFill>
                  <a:schemeClr val="tx2"/>
                </a:solidFill>
              </a:rPr>
              <a:t>Money paid in</a:t>
            </a:r>
            <a:endParaRPr lang="en-US" sz="1300" dirty="0"/>
          </a:p>
        </p:txBody>
      </p:sp>
      <p:sp>
        <p:nvSpPr>
          <p:cNvPr id="135" name="Text 133"/>
          <p:cNvSpPr txBox="1"/>
          <p:nvPr/>
        </p:nvSpPr>
        <p:spPr>
          <a:xfrm>
            <a:off x="7040880" y="1920240"/>
            <a:ext cx="2066544" cy="384048"/>
          </a:xfrm>
          <a:prstGeom prst="rect">
            <a:avLst/>
          </a:prstGeom>
          <a:noFill/>
          <a:ln/>
        </p:spPr>
        <p:txBody>
          <a:bodyPr wrap="square" lIns="0" tIns="0" rIns="0" bIns="0" rtlCol="0" anchor="t"/>
          <a:lstStyle/>
          <a:p>
            <a:pPr indent="0" marL="0">
              <a:buNone/>
            </a:pPr>
            <a:r>
              <a:rPr lang="en-US" sz="1100" dirty="0">
                <a:solidFill>
                  <a:schemeClr val="tx1"/>
                </a:solidFill>
              </a:rPr>
              <a:t>Says the client paid in more, or less, than they really did</a:t>
            </a:r>
            <a:endParaRPr lang="en-US" sz="1100" dirty="0"/>
          </a:p>
        </p:txBody>
      </p:sp>
      <p:sp>
        <p:nvSpPr>
          <p:cNvPr id="136" name="Text 134"/>
          <p:cNvSpPr txBox="1"/>
          <p:nvPr/>
        </p:nvSpPr>
        <p:spPr>
          <a:xfrm>
            <a:off x="7040880" y="2286000"/>
            <a:ext cx="2066544" cy="182880"/>
          </a:xfrm>
          <a:prstGeom prst="rect">
            <a:avLst/>
          </a:prstGeom>
          <a:noFill/>
          <a:ln/>
        </p:spPr>
        <p:txBody>
          <a:bodyPr wrap="square" lIns="0" tIns="0" rIns="0" bIns="0" rtlCol="0" anchor="t"/>
          <a:lstStyle/>
          <a:p>
            <a:pPr indent="0" marL="0">
              <a:buNone/>
            </a:pPr>
            <a:r>
              <a:rPr lang="en-US" sz="1000" dirty="0">
                <a:solidFill>
                  <a:schemeClr val="accent5"/>
                </a:solidFill>
              </a:rPr>
              <a:t>Rows 3, 288, 237</a:t>
            </a:r>
            <a:endParaRPr lang="en-US" sz="1000" dirty="0"/>
          </a:p>
        </p:txBody>
      </p:sp>
      <p:sp>
        <p:nvSpPr>
          <p:cNvPr id="137" name="check-2"/>
          <p:cNvSpPr/>
          <p:nvPr/>
        </p:nvSpPr>
        <p:spPr>
          <a:xfrm>
            <a:off x="9326880" y="1463040"/>
            <a:ext cx="2313432" cy="1097280"/>
          </a:xfrm>
          <a:prstGeom prst="roundRect">
            <a:avLst>
              <a:gd name="adj" fmla="val 6667"/>
            </a:avLst>
          </a:prstGeom>
          <a:solidFill>
            <a:schemeClr val="bg2"/>
          </a:solidFill>
          <a:ln w="6350">
            <a:solidFill>
              <a:schemeClr val="bg2"/>
            </a:solidFill>
            <a:prstDash val="solid"/>
          </a:ln>
        </p:spPr>
      </p:sp>
      <p:sp>
        <p:nvSpPr>
          <p:cNvPr id="138" name="Shape 136"/>
          <p:cNvSpPr/>
          <p:nvPr/>
        </p:nvSpPr>
        <p:spPr>
          <a:xfrm>
            <a:off x="9445752" y="1581912"/>
            <a:ext cx="274320" cy="274320"/>
          </a:xfrm>
          <a:prstGeom prst="ellipse">
            <a:avLst/>
          </a:prstGeom>
          <a:solidFill>
            <a:schemeClr val="accent2"/>
          </a:solidFill>
          <a:ln w="9525">
            <a:solidFill>
              <a:schemeClr val="accent2"/>
            </a:solidFill>
            <a:prstDash val="solid"/>
          </a:ln>
        </p:spPr>
      </p:sp>
      <p:sp>
        <p:nvSpPr>
          <p:cNvPr id="139" name="Text 137"/>
          <p:cNvSpPr txBox="1"/>
          <p:nvPr/>
        </p:nvSpPr>
        <p:spPr>
          <a:xfrm>
            <a:off x="9445752" y="1581912"/>
            <a:ext cx="274320" cy="274320"/>
          </a:xfrm>
          <a:prstGeom prst="rect">
            <a:avLst/>
          </a:prstGeom>
          <a:no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140" name="Text 138"/>
          <p:cNvSpPr txBox="1"/>
          <p:nvPr/>
        </p:nvSpPr>
        <p:spPr>
          <a:xfrm>
            <a:off x="9802368" y="1581912"/>
            <a:ext cx="1746504" cy="274320"/>
          </a:xfrm>
          <a:prstGeom prst="rect">
            <a:avLst/>
          </a:prstGeom>
          <a:noFill/>
          <a:ln/>
        </p:spPr>
        <p:txBody>
          <a:bodyPr wrap="square" lIns="0" tIns="0" rIns="0" bIns="0" rtlCol="0" anchor="ctr"/>
          <a:lstStyle/>
          <a:p>
            <a:pPr indent="0" marL="0">
              <a:buNone/>
            </a:pPr>
            <a:r>
              <a:rPr lang="en-US" sz="1300" b="1" dirty="0">
                <a:solidFill>
                  <a:schemeClr val="tx2"/>
                </a:solidFill>
              </a:rPr>
              <a:t>Money paid back</a:t>
            </a:r>
            <a:endParaRPr lang="en-US" sz="1300" dirty="0"/>
          </a:p>
        </p:txBody>
      </p:sp>
      <p:sp>
        <p:nvSpPr>
          <p:cNvPr id="141" name="Text 139"/>
          <p:cNvSpPr txBox="1"/>
          <p:nvPr/>
        </p:nvSpPr>
        <p:spPr>
          <a:xfrm>
            <a:off x="9464040" y="1920240"/>
            <a:ext cx="2066544" cy="384048"/>
          </a:xfrm>
          <a:prstGeom prst="rect">
            <a:avLst/>
          </a:prstGeom>
          <a:noFill/>
          <a:ln/>
        </p:spPr>
        <p:txBody>
          <a:bodyPr wrap="square" lIns="0" tIns="0" rIns="0" bIns="0" rtlCol="0" anchor="t"/>
          <a:lstStyle/>
          <a:p>
            <a:pPr indent="0" marL="0">
              <a:buNone/>
            </a:pPr>
            <a:r>
              <a:rPr lang="en-US" sz="1100" dirty="0">
                <a:solidFill>
                  <a:schemeClr val="tx1"/>
                </a:solidFill>
              </a:rPr>
              <a:t>Counts money that hasn't arrived yet, or misses money that has</a:t>
            </a:r>
            <a:endParaRPr lang="en-US" sz="1100" dirty="0"/>
          </a:p>
        </p:txBody>
      </p:sp>
      <p:sp>
        <p:nvSpPr>
          <p:cNvPr id="142" name="Text 140"/>
          <p:cNvSpPr txBox="1"/>
          <p:nvPr/>
        </p:nvSpPr>
        <p:spPr>
          <a:xfrm>
            <a:off x="9464040" y="2286000"/>
            <a:ext cx="2066544" cy="182880"/>
          </a:xfrm>
          <a:prstGeom prst="rect">
            <a:avLst/>
          </a:prstGeom>
          <a:noFill/>
          <a:ln/>
        </p:spPr>
        <p:txBody>
          <a:bodyPr wrap="square" lIns="0" tIns="0" rIns="0" bIns="0" rtlCol="0" anchor="t"/>
          <a:lstStyle/>
          <a:p>
            <a:pPr indent="0" marL="0">
              <a:buNone/>
            </a:pPr>
            <a:r>
              <a:rPr lang="en-US" sz="1000" dirty="0">
                <a:solidFill>
                  <a:schemeClr val="accent5"/>
                </a:solidFill>
              </a:rPr>
              <a:t>Rows 3, 194, 309</a:t>
            </a:r>
            <a:endParaRPr lang="en-US" sz="1000" dirty="0"/>
          </a:p>
        </p:txBody>
      </p:sp>
      <p:sp>
        <p:nvSpPr>
          <p:cNvPr id="143" name="check-3"/>
          <p:cNvSpPr/>
          <p:nvPr/>
        </p:nvSpPr>
        <p:spPr>
          <a:xfrm>
            <a:off x="6903720" y="2670048"/>
            <a:ext cx="2313432" cy="1097280"/>
          </a:xfrm>
          <a:prstGeom prst="roundRect">
            <a:avLst>
              <a:gd name="adj" fmla="val 6667"/>
            </a:avLst>
          </a:prstGeom>
          <a:solidFill>
            <a:schemeClr val="bg2"/>
          </a:solidFill>
          <a:ln w="6350">
            <a:solidFill>
              <a:schemeClr val="bg2"/>
            </a:solidFill>
            <a:prstDash val="solid"/>
          </a:ln>
        </p:spPr>
      </p:sp>
      <p:sp>
        <p:nvSpPr>
          <p:cNvPr id="144" name="Shape 142"/>
          <p:cNvSpPr/>
          <p:nvPr/>
        </p:nvSpPr>
        <p:spPr>
          <a:xfrm>
            <a:off x="7022592" y="2788920"/>
            <a:ext cx="274320" cy="274320"/>
          </a:xfrm>
          <a:prstGeom prst="ellipse">
            <a:avLst/>
          </a:prstGeom>
          <a:solidFill>
            <a:schemeClr val="accent2"/>
          </a:solidFill>
          <a:ln w="9525">
            <a:solidFill>
              <a:schemeClr val="accent2"/>
            </a:solidFill>
            <a:prstDash val="solid"/>
          </a:ln>
        </p:spPr>
      </p:sp>
      <p:sp>
        <p:nvSpPr>
          <p:cNvPr id="145" name="Text 143"/>
          <p:cNvSpPr txBox="1"/>
          <p:nvPr/>
        </p:nvSpPr>
        <p:spPr>
          <a:xfrm>
            <a:off x="7022592" y="2788920"/>
            <a:ext cx="274320" cy="274320"/>
          </a:xfrm>
          <a:prstGeom prst="rect">
            <a:avLst/>
          </a:prstGeom>
          <a:noFill/>
          <a:ln/>
        </p:spPr>
        <p:txBody>
          <a:bodyPr wrap="square" lIns="0" tIns="0" rIns="0" bIns="0" rtlCol="0" anchor="ctr"/>
          <a:lstStyle/>
          <a:p>
            <a:pPr algn="ctr" indent="0" marL="0">
              <a:buNone/>
            </a:pPr>
            <a:r>
              <a:rPr lang="en-US" sz="1100" b="1" dirty="0">
                <a:solidFill>
                  <a:schemeClr val="bg1"/>
                </a:solidFill>
              </a:rPr>
              <a:t>3</a:t>
            </a:r>
            <a:endParaRPr lang="en-US" sz="1100" dirty="0"/>
          </a:p>
        </p:txBody>
      </p:sp>
      <p:sp>
        <p:nvSpPr>
          <p:cNvPr id="146" name="Text 144"/>
          <p:cNvSpPr txBox="1"/>
          <p:nvPr/>
        </p:nvSpPr>
        <p:spPr>
          <a:xfrm>
            <a:off x="7379208" y="2788920"/>
            <a:ext cx="1746504" cy="274320"/>
          </a:xfrm>
          <a:prstGeom prst="rect">
            <a:avLst/>
          </a:prstGeom>
          <a:noFill/>
          <a:ln/>
        </p:spPr>
        <p:txBody>
          <a:bodyPr wrap="square" lIns="0" tIns="0" rIns="0" bIns="0" rtlCol="0" anchor="ctr"/>
          <a:lstStyle/>
          <a:p>
            <a:pPr indent="0" marL="0">
              <a:buNone/>
            </a:pPr>
            <a:r>
              <a:rPr lang="en-US" sz="1300" b="1" dirty="0">
                <a:solidFill>
                  <a:schemeClr val="tx2"/>
                </a:solidFill>
              </a:rPr>
              <a:t>Sudden jumps</a:t>
            </a:r>
            <a:endParaRPr lang="en-US" sz="1300" dirty="0"/>
          </a:p>
        </p:txBody>
      </p:sp>
      <p:sp>
        <p:nvSpPr>
          <p:cNvPr id="147" name="Text 145"/>
          <p:cNvSpPr txBox="1"/>
          <p:nvPr/>
        </p:nvSpPr>
        <p:spPr>
          <a:xfrm>
            <a:off x="7040880" y="3127248"/>
            <a:ext cx="2066544" cy="384048"/>
          </a:xfrm>
          <a:prstGeom prst="rect">
            <a:avLst/>
          </a:prstGeom>
          <a:noFill/>
          <a:ln/>
        </p:spPr>
        <p:txBody>
          <a:bodyPr wrap="square" lIns="0" tIns="0" rIns="0" bIns="0" rtlCol="0" anchor="t"/>
          <a:lstStyle/>
          <a:p>
            <a:pPr indent="0" marL="0">
              <a:buNone/>
            </a:pPr>
            <a:r>
              <a:rPr lang="en-US" sz="1100" dirty="0">
                <a:solidFill>
                  <a:schemeClr val="tx1"/>
                </a:solidFill>
              </a:rPr>
              <a:t>Value jumps or crashes 10x in a quarter. A typo, not the market</a:t>
            </a:r>
            <a:endParaRPr lang="en-US" sz="1100" dirty="0"/>
          </a:p>
        </p:txBody>
      </p:sp>
      <p:sp>
        <p:nvSpPr>
          <p:cNvPr id="148" name="Text 146"/>
          <p:cNvSpPr txBox="1"/>
          <p:nvPr/>
        </p:nvSpPr>
        <p:spPr>
          <a:xfrm>
            <a:off x="7040880" y="3493008"/>
            <a:ext cx="2066544" cy="182880"/>
          </a:xfrm>
          <a:prstGeom prst="rect">
            <a:avLst/>
          </a:prstGeom>
          <a:noFill/>
          <a:ln/>
        </p:spPr>
        <p:txBody>
          <a:bodyPr wrap="square" lIns="0" tIns="0" rIns="0" bIns="0" rtlCol="0" anchor="t"/>
          <a:lstStyle/>
          <a:p>
            <a:pPr indent="0" marL="0">
              <a:buNone/>
            </a:pPr>
            <a:r>
              <a:rPr lang="en-US" sz="1000" dirty="0">
                <a:solidFill>
                  <a:schemeClr val="accent5"/>
                </a:solidFill>
              </a:rPr>
              <a:t>Rows 308, 313, 147</a:t>
            </a:r>
            <a:endParaRPr lang="en-US" sz="1000" dirty="0"/>
          </a:p>
        </p:txBody>
      </p:sp>
      <p:sp>
        <p:nvSpPr>
          <p:cNvPr id="149" name="check-4"/>
          <p:cNvSpPr/>
          <p:nvPr/>
        </p:nvSpPr>
        <p:spPr>
          <a:xfrm>
            <a:off x="9326880" y="2670048"/>
            <a:ext cx="2313432" cy="1097280"/>
          </a:xfrm>
          <a:prstGeom prst="roundRect">
            <a:avLst>
              <a:gd name="adj" fmla="val 6667"/>
            </a:avLst>
          </a:prstGeom>
          <a:solidFill>
            <a:schemeClr val="bg2"/>
          </a:solidFill>
          <a:ln w="6350">
            <a:solidFill>
              <a:schemeClr val="bg2"/>
            </a:solidFill>
            <a:prstDash val="solid"/>
          </a:ln>
        </p:spPr>
      </p:sp>
      <p:sp>
        <p:nvSpPr>
          <p:cNvPr id="150" name="Shape 148"/>
          <p:cNvSpPr/>
          <p:nvPr/>
        </p:nvSpPr>
        <p:spPr>
          <a:xfrm>
            <a:off x="9445752" y="2788920"/>
            <a:ext cx="274320" cy="274320"/>
          </a:xfrm>
          <a:prstGeom prst="ellipse">
            <a:avLst/>
          </a:prstGeom>
          <a:solidFill>
            <a:schemeClr val="accent2"/>
          </a:solidFill>
          <a:ln w="9525">
            <a:solidFill>
              <a:schemeClr val="accent2"/>
            </a:solidFill>
            <a:prstDash val="solid"/>
          </a:ln>
        </p:spPr>
      </p:sp>
      <p:sp>
        <p:nvSpPr>
          <p:cNvPr id="151" name="Text 149"/>
          <p:cNvSpPr txBox="1"/>
          <p:nvPr/>
        </p:nvSpPr>
        <p:spPr>
          <a:xfrm>
            <a:off x="9445752" y="2788920"/>
            <a:ext cx="274320" cy="274320"/>
          </a:xfrm>
          <a:prstGeom prst="rect">
            <a:avLst/>
          </a:prstGeom>
          <a:noFill/>
          <a:ln/>
        </p:spPr>
        <p:txBody>
          <a:bodyPr wrap="square" lIns="0" tIns="0" rIns="0" bIns="0" rtlCol="0" anchor="ctr"/>
          <a:lstStyle/>
          <a:p>
            <a:pPr algn="ctr" indent="0" marL="0">
              <a:buNone/>
            </a:pPr>
            <a:r>
              <a:rPr lang="en-US" sz="1100" b="1" dirty="0">
                <a:solidFill>
                  <a:schemeClr val="bg1"/>
                </a:solidFill>
              </a:rPr>
              <a:t>4</a:t>
            </a:r>
            <a:endParaRPr lang="en-US" sz="1100" dirty="0"/>
          </a:p>
        </p:txBody>
      </p:sp>
      <p:sp>
        <p:nvSpPr>
          <p:cNvPr id="152" name="Text 150"/>
          <p:cNvSpPr txBox="1"/>
          <p:nvPr/>
        </p:nvSpPr>
        <p:spPr>
          <a:xfrm>
            <a:off x="9802368" y="2788920"/>
            <a:ext cx="1746504" cy="274320"/>
          </a:xfrm>
          <a:prstGeom prst="rect">
            <a:avLst/>
          </a:prstGeom>
          <a:noFill/>
          <a:ln/>
        </p:spPr>
        <p:txBody>
          <a:bodyPr wrap="square" lIns="0" tIns="0" rIns="0" bIns="0" rtlCol="0" anchor="ctr"/>
          <a:lstStyle/>
          <a:p>
            <a:pPr indent="0" marL="0">
              <a:buNone/>
            </a:pPr>
            <a:r>
              <a:rPr lang="en-US" sz="1300" b="1" dirty="0">
                <a:solidFill>
                  <a:schemeClr val="tx2"/>
                </a:solidFill>
              </a:rPr>
              <a:t>Duplicates</a:t>
            </a:r>
            <a:endParaRPr lang="en-US" sz="1300" dirty="0"/>
          </a:p>
        </p:txBody>
      </p:sp>
      <p:sp>
        <p:nvSpPr>
          <p:cNvPr id="153" name="Text 151"/>
          <p:cNvSpPr txBox="1"/>
          <p:nvPr/>
        </p:nvSpPr>
        <p:spPr>
          <a:xfrm>
            <a:off x="9464040" y="3127248"/>
            <a:ext cx="2066544" cy="384048"/>
          </a:xfrm>
          <a:prstGeom prst="rect">
            <a:avLst/>
          </a:prstGeom>
          <a:noFill/>
          <a:ln/>
        </p:spPr>
        <p:txBody>
          <a:bodyPr wrap="square" lIns="0" tIns="0" rIns="0" bIns="0" rtlCol="0" anchor="t"/>
          <a:lstStyle/>
          <a:p>
            <a:pPr indent="0" marL="0">
              <a:buNone/>
            </a:pPr>
            <a:r>
              <a:rPr lang="en-US" sz="1100" dirty="0">
                <a:solidFill>
                  <a:schemeClr val="tx1"/>
                </a:solidFill>
              </a:rPr>
              <a:t>The same bill counted twice</a:t>
            </a:r>
            <a:endParaRPr lang="en-US" sz="1100" dirty="0"/>
          </a:p>
        </p:txBody>
      </p:sp>
      <p:sp>
        <p:nvSpPr>
          <p:cNvPr id="154" name="Text 152"/>
          <p:cNvSpPr txBox="1"/>
          <p:nvPr/>
        </p:nvSpPr>
        <p:spPr>
          <a:xfrm>
            <a:off x="9464040" y="3493008"/>
            <a:ext cx="2066544" cy="182880"/>
          </a:xfrm>
          <a:prstGeom prst="rect">
            <a:avLst/>
          </a:prstGeom>
          <a:noFill/>
          <a:ln/>
        </p:spPr>
        <p:txBody>
          <a:bodyPr wrap="square" lIns="0" tIns="0" rIns="0" bIns="0" rtlCol="0" anchor="t"/>
          <a:lstStyle/>
          <a:p>
            <a:pPr indent="0" marL="0">
              <a:buNone/>
            </a:pPr>
            <a:r>
              <a:rPr lang="en-US" sz="1000" dirty="0">
                <a:solidFill>
                  <a:schemeClr val="accent5"/>
                </a:solidFill>
              </a:rPr>
              <a:t>Rows 101 / 103</a:t>
            </a:r>
            <a:endParaRPr lang="en-US" sz="1000" dirty="0"/>
          </a:p>
        </p:txBody>
      </p:sp>
      <p:sp>
        <p:nvSpPr>
          <p:cNvPr id="155" name="check-5"/>
          <p:cNvSpPr/>
          <p:nvPr/>
        </p:nvSpPr>
        <p:spPr>
          <a:xfrm>
            <a:off x="6903720" y="3877056"/>
            <a:ext cx="2313432" cy="1097280"/>
          </a:xfrm>
          <a:prstGeom prst="roundRect">
            <a:avLst>
              <a:gd name="adj" fmla="val 6667"/>
            </a:avLst>
          </a:prstGeom>
          <a:solidFill>
            <a:schemeClr val="bg2"/>
          </a:solidFill>
          <a:ln w="6350">
            <a:solidFill>
              <a:schemeClr val="bg2"/>
            </a:solidFill>
            <a:prstDash val="solid"/>
          </a:ln>
        </p:spPr>
      </p:sp>
      <p:sp>
        <p:nvSpPr>
          <p:cNvPr id="156" name="Shape 154"/>
          <p:cNvSpPr/>
          <p:nvPr/>
        </p:nvSpPr>
        <p:spPr>
          <a:xfrm>
            <a:off x="7022592" y="3995928"/>
            <a:ext cx="274320" cy="274320"/>
          </a:xfrm>
          <a:prstGeom prst="ellipse">
            <a:avLst/>
          </a:prstGeom>
          <a:solidFill>
            <a:schemeClr val="accent3"/>
          </a:solidFill>
          <a:ln w="9525">
            <a:solidFill>
              <a:schemeClr val="accent3"/>
            </a:solidFill>
            <a:prstDash val="solid"/>
          </a:ln>
        </p:spPr>
      </p:sp>
      <p:sp>
        <p:nvSpPr>
          <p:cNvPr id="157" name="Text 155"/>
          <p:cNvSpPr txBox="1"/>
          <p:nvPr/>
        </p:nvSpPr>
        <p:spPr>
          <a:xfrm>
            <a:off x="7022592" y="3995928"/>
            <a:ext cx="274320" cy="274320"/>
          </a:xfrm>
          <a:prstGeom prst="rect">
            <a:avLst/>
          </a:prstGeom>
          <a:noFill/>
          <a:ln/>
        </p:spPr>
        <p:txBody>
          <a:bodyPr wrap="square" lIns="0" tIns="0" rIns="0" bIns="0" rtlCol="0" anchor="ctr"/>
          <a:lstStyle/>
          <a:p>
            <a:pPr algn="ctr" indent="0" marL="0">
              <a:buNone/>
            </a:pPr>
            <a:r>
              <a:rPr lang="en-US" sz="1100" b="1" dirty="0">
                <a:solidFill>
                  <a:schemeClr val="bg1"/>
                </a:solidFill>
              </a:rPr>
              <a:t>5</a:t>
            </a:r>
            <a:endParaRPr lang="en-US" sz="1100" dirty="0"/>
          </a:p>
        </p:txBody>
      </p:sp>
      <p:sp>
        <p:nvSpPr>
          <p:cNvPr id="158" name="Text 156"/>
          <p:cNvSpPr txBox="1"/>
          <p:nvPr/>
        </p:nvSpPr>
        <p:spPr>
          <a:xfrm>
            <a:off x="7379208" y="3995928"/>
            <a:ext cx="1746504" cy="274320"/>
          </a:xfrm>
          <a:prstGeom prst="rect">
            <a:avLst/>
          </a:prstGeom>
          <a:noFill/>
          <a:ln/>
        </p:spPr>
        <p:txBody>
          <a:bodyPr wrap="square" lIns="0" tIns="0" rIns="0" bIns="0" rtlCol="0" anchor="ctr"/>
          <a:lstStyle/>
          <a:p>
            <a:pPr indent="0" marL="0">
              <a:buNone/>
            </a:pPr>
            <a:r>
              <a:rPr lang="en-US" sz="1300" b="1" dirty="0">
                <a:solidFill>
                  <a:schemeClr val="tx2"/>
                </a:solidFill>
              </a:rPr>
              <a:t>Wrong label</a:t>
            </a:r>
            <a:endParaRPr lang="en-US" sz="1300" dirty="0"/>
          </a:p>
        </p:txBody>
      </p:sp>
      <p:sp>
        <p:nvSpPr>
          <p:cNvPr id="159" name="Text 157"/>
          <p:cNvSpPr txBox="1"/>
          <p:nvPr/>
        </p:nvSpPr>
        <p:spPr>
          <a:xfrm>
            <a:off x="7040880" y="4334256"/>
            <a:ext cx="2066544" cy="384048"/>
          </a:xfrm>
          <a:prstGeom prst="rect">
            <a:avLst/>
          </a:prstGeom>
          <a:noFill/>
          <a:ln/>
        </p:spPr>
        <p:txBody>
          <a:bodyPr wrap="square" lIns="0" tIns="0" rIns="0" bIns="0" rtlCol="0" anchor="t"/>
          <a:lstStyle/>
          <a:p>
            <a:pPr indent="0" marL="0">
              <a:buNone/>
            </a:pPr>
            <a:r>
              <a:rPr lang="en-US" sz="1100" dirty="0">
                <a:solidFill>
                  <a:schemeClr val="tx1"/>
                </a:solidFill>
              </a:rPr>
              <a:t>A document filed in the wrong drawer</a:t>
            </a:r>
            <a:endParaRPr lang="en-US" sz="1100" dirty="0"/>
          </a:p>
        </p:txBody>
      </p:sp>
      <p:sp>
        <p:nvSpPr>
          <p:cNvPr id="160" name="Text 158"/>
          <p:cNvSpPr txBox="1"/>
          <p:nvPr/>
        </p:nvSpPr>
        <p:spPr>
          <a:xfrm>
            <a:off x="7040880" y="4700016"/>
            <a:ext cx="2066544" cy="182880"/>
          </a:xfrm>
          <a:prstGeom prst="rect">
            <a:avLst/>
          </a:prstGeom>
          <a:noFill/>
          <a:ln/>
        </p:spPr>
        <p:txBody>
          <a:bodyPr wrap="square" lIns="0" tIns="0" rIns="0" bIns="0" rtlCol="0" anchor="t"/>
          <a:lstStyle/>
          <a:p>
            <a:pPr indent="0" marL="0">
              <a:buNone/>
            </a:pPr>
            <a:r>
              <a:rPr lang="en-US" sz="1000" dirty="0">
                <a:solidFill>
                  <a:schemeClr val="accent5"/>
                </a:solidFill>
              </a:rPr>
              <a:t>Rows 58</a:t>
            </a:r>
            <a:endParaRPr lang="en-US" sz="1000" dirty="0"/>
          </a:p>
        </p:txBody>
      </p:sp>
      <p:sp>
        <p:nvSpPr>
          <p:cNvPr id="161" name="check-6"/>
          <p:cNvSpPr/>
          <p:nvPr/>
        </p:nvSpPr>
        <p:spPr>
          <a:xfrm>
            <a:off x="9326880" y="3877056"/>
            <a:ext cx="2313432" cy="1097280"/>
          </a:xfrm>
          <a:prstGeom prst="roundRect">
            <a:avLst>
              <a:gd name="adj" fmla="val 6667"/>
            </a:avLst>
          </a:prstGeom>
          <a:solidFill>
            <a:schemeClr val="bg2"/>
          </a:solidFill>
          <a:ln w="6350">
            <a:solidFill>
              <a:schemeClr val="bg2"/>
            </a:solidFill>
            <a:prstDash val="solid"/>
          </a:ln>
        </p:spPr>
      </p:sp>
      <p:sp>
        <p:nvSpPr>
          <p:cNvPr id="162" name="Shape 160"/>
          <p:cNvSpPr/>
          <p:nvPr/>
        </p:nvSpPr>
        <p:spPr>
          <a:xfrm>
            <a:off x="9445752" y="3995928"/>
            <a:ext cx="274320" cy="274320"/>
          </a:xfrm>
          <a:prstGeom prst="ellipse">
            <a:avLst/>
          </a:prstGeom>
          <a:solidFill>
            <a:schemeClr val="accent3"/>
          </a:solidFill>
          <a:ln w="9525">
            <a:solidFill>
              <a:schemeClr val="accent3"/>
            </a:solidFill>
            <a:prstDash val="solid"/>
          </a:ln>
        </p:spPr>
      </p:sp>
      <p:sp>
        <p:nvSpPr>
          <p:cNvPr id="163" name="Text 161"/>
          <p:cNvSpPr txBox="1"/>
          <p:nvPr/>
        </p:nvSpPr>
        <p:spPr>
          <a:xfrm>
            <a:off x="9445752" y="3995928"/>
            <a:ext cx="274320" cy="274320"/>
          </a:xfrm>
          <a:prstGeom prst="rect">
            <a:avLst/>
          </a:prstGeom>
          <a:noFill/>
          <a:ln/>
        </p:spPr>
        <p:txBody>
          <a:bodyPr wrap="square" lIns="0" tIns="0" rIns="0" bIns="0" rtlCol="0" anchor="ctr"/>
          <a:lstStyle/>
          <a:p>
            <a:pPr algn="ctr" indent="0" marL="0">
              <a:buNone/>
            </a:pPr>
            <a:r>
              <a:rPr lang="en-US" sz="1100" b="1" dirty="0">
                <a:solidFill>
                  <a:schemeClr val="bg1"/>
                </a:solidFill>
              </a:rPr>
              <a:t>6</a:t>
            </a:r>
            <a:endParaRPr lang="en-US" sz="1100" dirty="0"/>
          </a:p>
        </p:txBody>
      </p:sp>
      <p:sp>
        <p:nvSpPr>
          <p:cNvPr id="164" name="Text 162"/>
          <p:cNvSpPr txBox="1"/>
          <p:nvPr/>
        </p:nvSpPr>
        <p:spPr>
          <a:xfrm>
            <a:off x="9802368" y="3995928"/>
            <a:ext cx="1746504" cy="274320"/>
          </a:xfrm>
          <a:prstGeom prst="rect">
            <a:avLst/>
          </a:prstGeom>
          <a:noFill/>
          <a:ln/>
        </p:spPr>
        <p:txBody>
          <a:bodyPr wrap="square" lIns="0" tIns="0" rIns="0" bIns="0" rtlCol="0" anchor="ctr"/>
          <a:lstStyle/>
          <a:p>
            <a:pPr indent="0" marL="0">
              <a:buNone/>
            </a:pPr>
            <a:r>
              <a:rPr lang="en-US" sz="1300" b="1" dirty="0">
                <a:solidFill>
                  <a:schemeClr val="tx2"/>
                </a:solidFill>
              </a:rPr>
              <a:t>Wrong date</a:t>
            </a:r>
            <a:endParaRPr lang="en-US" sz="1300" dirty="0"/>
          </a:p>
        </p:txBody>
      </p:sp>
      <p:sp>
        <p:nvSpPr>
          <p:cNvPr id="165" name="Text 163"/>
          <p:cNvSpPr txBox="1"/>
          <p:nvPr/>
        </p:nvSpPr>
        <p:spPr>
          <a:xfrm>
            <a:off x="9464040" y="4334256"/>
            <a:ext cx="2066544" cy="384048"/>
          </a:xfrm>
          <a:prstGeom prst="rect">
            <a:avLst/>
          </a:prstGeom>
          <a:noFill/>
          <a:ln/>
        </p:spPr>
        <p:txBody>
          <a:bodyPr wrap="square" lIns="0" tIns="0" rIns="0" bIns="0" rtlCol="0" anchor="t"/>
          <a:lstStyle/>
          <a:p>
            <a:pPr indent="0" marL="0">
              <a:buNone/>
            </a:pPr>
            <a:r>
              <a:rPr lang="en-US" sz="1100" dirty="0">
                <a:solidFill>
                  <a:schemeClr val="tx1"/>
                </a:solidFill>
              </a:rPr>
              <a:t>The right report with the wrong date on it</a:t>
            </a:r>
            <a:endParaRPr lang="en-US" sz="1100" dirty="0"/>
          </a:p>
        </p:txBody>
      </p:sp>
      <p:sp>
        <p:nvSpPr>
          <p:cNvPr id="166" name="Text 164"/>
          <p:cNvSpPr txBox="1"/>
          <p:nvPr/>
        </p:nvSpPr>
        <p:spPr>
          <a:xfrm>
            <a:off x="9464040" y="4700016"/>
            <a:ext cx="2066544" cy="182880"/>
          </a:xfrm>
          <a:prstGeom prst="rect">
            <a:avLst/>
          </a:prstGeom>
          <a:noFill/>
          <a:ln/>
        </p:spPr>
        <p:txBody>
          <a:bodyPr wrap="square" lIns="0" tIns="0" rIns="0" bIns="0" rtlCol="0" anchor="t"/>
          <a:lstStyle/>
          <a:p>
            <a:pPr indent="0" marL="0">
              <a:buNone/>
            </a:pPr>
            <a:r>
              <a:rPr lang="en-US" sz="1000" dirty="0">
                <a:solidFill>
                  <a:schemeClr val="accent5"/>
                </a:solidFill>
              </a:rPr>
              <a:t>Rows 16, 239</a:t>
            </a:r>
            <a:endParaRPr lang="en-US" sz="1000" dirty="0"/>
          </a:p>
        </p:txBody>
      </p:sp>
      <p:sp>
        <p:nvSpPr>
          <p:cNvPr id="167" name="check-7"/>
          <p:cNvSpPr/>
          <p:nvPr/>
        </p:nvSpPr>
        <p:spPr>
          <a:xfrm>
            <a:off x="6903720" y="5084064"/>
            <a:ext cx="2313432" cy="1097280"/>
          </a:xfrm>
          <a:prstGeom prst="roundRect">
            <a:avLst>
              <a:gd name="adj" fmla="val 6667"/>
            </a:avLst>
          </a:prstGeom>
          <a:solidFill>
            <a:schemeClr val="bg2"/>
          </a:solidFill>
          <a:ln w="6350">
            <a:solidFill>
              <a:schemeClr val="bg2"/>
            </a:solidFill>
            <a:prstDash val="solid"/>
          </a:ln>
        </p:spPr>
      </p:sp>
      <p:sp>
        <p:nvSpPr>
          <p:cNvPr id="168" name="Shape 166"/>
          <p:cNvSpPr/>
          <p:nvPr/>
        </p:nvSpPr>
        <p:spPr>
          <a:xfrm>
            <a:off x="7022592" y="5202936"/>
            <a:ext cx="274320" cy="274320"/>
          </a:xfrm>
          <a:prstGeom prst="ellipse">
            <a:avLst/>
          </a:prstGeom>
          <a:solidFill>
            <a:schemeClr val="accent3"/>
          </a:solidFill>
          <a:ln w="9525">
            <a:solidFill>
              <a:schemeClr val="accent3"/>
            </a:solidFill>
            <a:prstDash val="solid"/>
          </a:ln>
        </p:spPr>
      </p:sp>
      <p:sp>
        <p:nvSpPr>
          <p:cNvPr id="169" name="Text 167"/>
          <p:cNvSpPr txBox="1"/>
          <p:nvPr/>
        </p:nvSpPr>
        <p:spPr>
          <a:xfrm>
            <a:off x="7022592" y="5202936"/>
            <a:ext cx="274320" cy="274320"/>
          </a:xfrm>
          <a:prstGeom prst="rect">
            <a:avLst/>
          </a:prstGeom>
          <a:noFill/>
          <a:ln/>
        </p:spPr>
        <p:txBody>
          <a:bodyPr wrap="square" lIns="0" tIns="0" rIns="0" bIns="0" rtlCol="0" anchor="ctr"/>
          <a:lstStyle/>
          <a:p>
            <a:pPr algn="ctr" indent="0" marL="0">
              <a:buNone/>
            </a:pPr>
            <a:r>
              <a:rPr lang="en-US" sz="1100" b="1" dirty="0">
                <a:solidFill>
                  <a:schemeClr val="bg1"/>
                </a:solidFill>
              </a:rPr>
              <a:t>7</a:t>
            </a:r>
            <a:endParaRPr lang="en-US" sz="1100" dirty="0"/>
          </a:p>
        </p:txBody>
      </p:sp>
      <p:sp>
        <p:nvSpPr>
          <p:cNvPr id="170" name="Text 168"/>
          <p:cNvSpPr txBox="1"/>
          <p:nvPr/>
        </p:nvSpPr>
        <p:spPr>
          <a:xfrm>
            <a:off x="7379208" y="5202936"/>
            <a:ext cx="1746504" cy="274320"/>
          </a:xfrm>
          <a:prstGeom prst="rect">
            <a:avLst/>
          </a:prstGeom>
          <a:noFill/>
          <a:ln/>
        </p:spPr>
        <p:txBody>
          <a:bodyPr wrap="square" lIns="0" tIns="0" rIns="0" bIns="0" rtlCol="0" anchor="ctr"/>
          <a:lstStyle/>
          <a:p>
            <a:pPr indent="0" marL="0">
              <a:buNone/>
            </a:pPr>
            <a:r>
              <a:rPr lang="en-US" sz="1300" b="1" dirty="0">
                <a:solidFill>
                  <a:schemeClr val="tx2"/>
                </a:solidFill>
              </a:rPr>
              <a:t>Missing pieces</a:t>
            </a:r>
            <a:endParaRPr lang="en-US" sz="1300" dirty="0"/>
          </a:p>
        </p:txBody>
      </p:sp>
      <p:sp>
        <p:nvSpPr>
          <p:cNvPr id="171" name="Text 169"/>
          <p:cNvSpPr txBox="1"/>
          <p:nvPr/>
        </p:nvSpPr>
        <p:spPr>
          <a:xfrm>
            <a:off x="7040880" y="5541264"/>
            <a:ext cx="2066544" cy="384048"/>
          </a:xfrm>
          <a:prstGeom prst="rect">
            <a:avLst/>
          </a:prstGeom>
          <a:noFill/>
          <a:ln/>
        </p:spPr>
        <p:txBody>
          <a:bodyPr wrap="square" lIns="0" tIns="0" rIns="0" bIns="0" rtlCol="0" anchor="t"/>
          <a:lstStyle/>
          <a:p>
            <a:pPr indent="0" marL="0">
              <a:buNone/>
            </a:pPr>
            <a:r>
              <a:rPr lang="en-US" sz="1100" dirty="0">
                <a:solidFill>
                  <a:schemeClr val="tx1"/>
                </a:solidFill>
              </a:rPr>
              <a:t>Gaps in history; files with no known source</a:t>
            </a:r>
            <a:endParaRPr lang="en-US" sz="1100" dirty="0"/>
          </a:p>
        </p:txBody>
      </p:sp>
      <p:sp>
        <p:nvSpPr>
          <p:cNvPr id="172" name="Text 170"/>
          <p:cNvSpPr txBox="1"/>
          <p:nvPr/>
        </p:nvSpPr>
        <p:spPr>
          <a:xfrm>
            <a:off x="7040880" y="5907024"/>
            <a:ext cx="2066544" cy="182880"/>
          </a:xfrm>
          <a:prstGeom prst="rect">
            <a:avLst/>
          </a:prstGeom>
          <a:noFill/>
          <a:ln/>
        </p:spPr>
        <p:txBody>
          <a:bodyPr wrap="square" lIns="0" tIns="0" rIns="0" bIns="0" rtlCol="0" anchor="t"/>
          <a:lstStyle/>
          <a:p>
            <a:pPr indent="0" marL="0">
              <a:buNone/>
            </a:pPr>
            <a:r>
              <a:rPr lang="en-US" sz="1000" dirty="0">
                <a:solidFill>
                  <a:schemeClr val="accent5"/>
                </a:solidFill>
              </a:rPr>
              <a:t>Rows 146, 337</a:t>
            </a:r>
            <a:endParaRPr lang="en-US" sz="1000" dirty="0"/>
          </a:p>
        </p:txBody>
      </p:sp>
      <p:sp>
        <p:nvSpPr>
          <p:cNvPr id="173" name="check-8"/>
          <p:cNvSpPr/>
          <p:nvPr/>
        </p:nvSpPr>
        <p:spPr>
          <a:xfrm>
            <a:off x="9326880" y="5084064"/>
            <a:ext cx="2313432" cy="1097280"/>
          </a:xfrm>
          <a:prstGeom prst="roundRect">
            <a:avLst>
              <a:gd name="adj" fmla="val 6667"/>
            </a:avLst>
          </a:prstGeom>
          <a:solidFill>
            <a:schemeClr val="bg2"/>
          </a:solidFill>
          <a:ln w="6350">
            <a:solidFill>
              <a:schemeClr val="bg2"/>
            </a:solidFill>
            <a:prstDash val="solid"/>
          </a:ln>
        </p:spPr>
      </p:sp>
      <p:sp>
        <p:nvSpPr>
          <p:cNvPr id="174" name="Shape 172"/>
          <p:cNvSpPr/>
          <p:nvPr/>
        </p:nvSpPr>
        <p:spPr>
          <a:xfrm>
            <a:off x="9445752" y="5202936"/>
            <a:ext cx="274320" cy="274320"/>
          </a:xfrm>
          <a:prstGeom prst="ellipse">
            <a:avLst/>
          </a:prstGeom>
          <a:solidFill>
            <a:schemeClr val="accent2"/>
          </a:solidFill>
          <a:ln w="9525">
            <a:solidFill>
              <a:schemeClr val="accent2"/>
            </a:solidFill>
            <a:prstDash val="solid"/>
          </a:ln>
        </p:spPr>
      </p:sp>
      <p:sp>
        <p:nvSpPr>
          <p:cNvPr id="175" name="Text 173"/>
          <p:cNvSpPr txBox="1"/>
          <p:nvPr/>
        </p:nvSpPr>
        <p:spPr>
          <a:xfrm>
            <a:off x="9445752" y="5202936"/>
            <a:ext cx="274320" cy="274320"/>
          </a:xfrm>
          <a:prstGeom prst="rect">
            <a:avLst/>
          </a:prstGeom>
          <a:noFill/>
          <a:ln/>
        </p:spPr>
        <p:txBody>
          <a:bodyPr wrap="square" lIns="0" tIns="0" rIns="0" bIns="0" rtlCol="0" anchor="ctr"/>
          <a:lstStyle/>
          <a:p>
            <a:pPr algn="ctr" indent="0" marL="0">
              <a:buNone/>
            </a:pPr>
            <a:r>
              <a:rPr lang="en-US" sz="1100" b="1" dirty="0">
                <a:solidFill>
                  <a:schemeClr val="bg1"/>
                </a:solidFill>
              </a:rPr>
              <a:t>8</a:t>
            </a:r>
            <a:endParaRPr lang="en-US" sz="1100" dirty="0"/>
          </a:p>
        </p:txBody>
      </p:sp>
      <p:sp>
        <p:nvSpPr>
          <p:cNvPr id="176" name="Text 174"/>
          <p:cNvSpPr txBox="1"/>
          <p:nvPr/>
        </p:nvSpPr>
        <p:spPr>
          <a:xfrm>
            <a:off x="9802368" y="5202936"/>
            <a:ext cx="1746504" cy="274320"/>
          </a:xfrm>
          <a:prstGeom prst="rect">
            <a:avLst/>
          </a:prstGeom>
          <a:noFill/>
          <a:ln/>
        </p:spPr>
        <p:txBody>
          <a:bodyPr wrap="square" lIns="0" tIns="0" rIns="0" bIns="0" rtlCol="0" anchor="ctr"/>
          <a:lstStyle/>
          <a:p>
            <a:pPr indent="0" marL="0">
              <a:buNone/>
            </a:pPr>
            <a:r>
              <a:rPr lang="en-US" sz="1300" b="1" dirty="0">
                <a:solidFill>
                  <a:schemeClr val="tx2"/>
                </a:solidFill>
              </a:rPr>
              <a:t>Same fund, same share</a:t>
            </a:r>
            <a:endParaRPr lang="en-US" sz="1300" dirty="0"/>
          </a:p>
        </p:txBody>
      </p:sp>
      <p:sp>
        <p:nvSpPr>
          <p:cNvPr id="177" name="Text 175"/>
          <p:cNvSpPr txBox="1"/>
          <p:nvPr/>
        </p:nvSpPr>
        <p:spPr>
          <a:xfrm>
            <a:off x="9464040" y="5541264"/>
            <a:ext cx="2066544" cy="384048"/>
          </a:xfrm>
          <a:prstGeom prst="rect">
            <a:avLst/>
          </a:prstGeom>
          <a:noFill/>
          <a:ln/>
        </p:spPr>
        <p:txBody>
          <a:bodyPr wrap="square" lIns="0" tIns="0" rIns="0" bIns="0" rtlCol="0" anchor="t"/>
          <a:lstStyle/>
          <a:p>
            <a:pPr indent="0" marL="0">
              <a:buNone/>
            </a:pPr>
            <a:r>
              <a:rPr lang="en-US" sz="1100" dirty="0">
                <a:solidFill>
                  <a:schemeClr val="tx1"/>
                </a:solidFill>
              </a:rPr>
              <a:t>Co-investors billed different shares on the same day</a:t>
            </a:r>
            <a:endParaRPr lang="en-US" sz="1100" dirty="0"/>
          </a:p>
        </p:txBody>
      </p:sp>
      <p:sp>
        <p:nvSpPr>
          <p:cNvPr id="178" name="Text 176"/>
          <p:cNvSpPr txBox="1"/>
          <p:nvPr/>
        </p:nvSpPr>
        <p:spPr>
          <a:xfrm>
            <a:off x="9464040" y="5907024"/>
            <a:ext cx="2066544" cy="182880"/>
          </a:xfrm>
          <a:prstGeom prst="rect">
            <a:avLst/>
          </a:prstGeom>
          <a:noFill/>
          <a:ln/>
        </p:spPr>
        <p:txBody>
          <a:bodyPr wrap="square" lIns="0" tIns="0" rIns="0" bIns="0" rtlCol="0" anchor="t"/>
          <a:lstStyle/>
          <a:p>
            <a:pPr indent="0" marL="0">
              <a:buNone/>
            </a:pPr>
            <a:r>
              <a:rPr lang="en-US" sz="1000" dirty="0">
                <a:solidFill>
                  <a:schemeClr val="accent5"/>
                </a:solidFill>
              </a:rPr>
              <a:t>Rows 314 vs 197</a:t>
            </a:r>
            <a:endParaRPr lang="en-US" sz="1000" dirty="0"/>
          </a:p>
        </p:txBody>
      </p:sp>
      <p:sp>
        <p:nvSpPr>
          <p:cNvPr id="179" name="Text 177"/>
          <p:cNvSpPr txBox="1"/>
          <p:nvPr/>
        </p:nvSpPr>
        <p:spPr>
          <a:xfrm>
            <a:off x="548640" y="6217920"/>
            <a:ext cx="6126480" cy="228600"/>
          </a:xfrm>
          <a:prstGeom prst="rect">
            <a:avLst/>
          </a:prstGeom>
          <a:noFill/>
          <a:ln/>
        </p:spPr>
        <p:txBody>
          <a:bodyPr wrap="square" lIns="0" tIns="0" rIns="0" bIns="0" rtlCol="0" anchor="t"/>
          <a:lstStyle/>
          <a:p>
            <a:pPr indent="0" marL="0">
              <a:buNone/>
            </a:pPr>
            <a:r>
              <a:rPr lang="en-US" sz="1000" i="1" dirty="0">
                <a:solidFill>
                  <a:schemeClr val="accent5"/>
                </a:solidFill>
              </a:rPr>
              <a:t>Assumes calls count by due date and paid-in excludes distributions. Every failing row is in the appendix.</a:t>
            </a:r>
            <a:endParaRPr lang="en-US" sz="1000" dirty="0"/>
          </a:p>
        </p:txBody>
      </p:sp>
      <p:sp>
        <p:nvSpPr>
          <p:cNvPr id="25" name="Slide Number Placeholder 0"/>
          <p:cNvSpPr>
            <a:spLocks noGrp="1"/>
          </p:cNvSpPr>
          <p:nvPr>
            <p:ph type="sldNum" sz="quarter" idx="4294967295"/>
          </p:nvPr>
        </p:nvSpPr>
        <p:spPr>
          <a:xfrm>
            <a:off x="11274552" y="6473952"/>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0972800" cy="274320"/>
          </a:xfrm>
          <a:prstGeom prst="rect">
            <a:avLst/>
          </a:prstGeom>
          <a:noFill/>
          <a:ln/>
        </p:spPr>
        <p:txBody>
          <a:bodyPr wrap="square" lIns="0" tIns="0" rIns="0" bIns="0" rtlCol="0"/>
          <a:lstStyle/>
          <a:p>
            <a:pPr indent="0" marL="0">
              <a:buNone/>
            </a:pPr>
            <a:r>
              <a:rPr lang="en-US" sz="1100" b="1" spc="200" kern="0" dirty="0">
                <a:solidFill>
                  <a:schemeClr val="accent1"/>
                </a:solidFill>
              </a:rPr>
              <a:t>PART 1 · FINDING THE GAPS</a:t>
            </a:r>
            <a:endParaRPr lang="en-US" sz="1100" dirty="0"/>
          </a:p>
        </p:txBody>
      </p:sp>
      <p:sp>
        <p:nvSpPr>
          <p:cNvPr id="3" name="Text 0"/>
          <p:cNvSpPr/>
          <p:nvPr>
            <p:ph idx="101" type="title" hasCustomPrompt="1"/>
          </p:nvPr>
        </p:nvSpPr>
        <p:spPr>
          <a:xfrm>
            <a:off x="548640" y="621792"/>
            <a:ext cx="11064240" cy="640080"/>
          </a:xfrm>
          <a:prstGeom prst="rect">
            <a:avLst/>
          </a:prstGeom>
          <a:noFill/>
          <a:ln/>
        </p:spPr>
        <p:txBody>
          <a:bodyPr wrap="square" lIns="0" tIns="0" rIns="0" bIns="0" rtlCol="0" anchor="t"/>
          <a:lstStyle/>
          <a:p>
            <a:pPr algn="l" indent="0" marL="0">
              <a:buNone/>
            </a:pPr>
            <a:r>
              <a:rPr lang="en-US" sz="3200" b="1" dirty="0">
                <a:solidFill>
                  <a:schemeClr val="tx2"/>
                </a:solidFill>
                <a:latin typeface="Cambria" pitchFamily="34" charset="0"/>
                <a:ea typeface="Cambria" pitchFamily="34" charset="-122"/>
                <a:cs typeface="Cambria" pitchFamily="34" charset="-120"/>
              </a:rPr>
              <a:t>A break seen across every investor is a GP convention</a:t>
            </a:r>
            <a:endParaRPr lang="en-US" sz="3200" dirty="0"/>
          </a:p>
        </p:txBody>
      </p:sp>
      <p:graphicFrame>
        <p:nvGraphicFramePr>
          <p:cNvPr id="4" name="Chart 0" descr=""/>
          <p:cNvGraphicFramePr/>
          <p:nvPr/>
        </p:nvGraphicFramePr>
        <p:xfrm>
          <a:off x="548640" y="1417320"/>
          <a:ext cx="5394960" cy="260604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Chart 1" descr=""/>
          <p:cNvGraphicFramePr/>
          <p:nvPr/>
        </p:nvGraphicFramePr>
        <p:xfrm>
          <a:off x="6245352" y="1417320"/>
          <a:ext cx="5394960" cy="2606040"/>
        </p:xfrm>
        <a:graphic xmlns:a="http://schemas.openxmlformats.org/drawingml/2006/main">
          <a:graphicData uri="http://schemas.openxmlformats.org/drawingml/2006/chart">
            <c:chart xmlns:c="http://schemas.openxmlformats.org/drawingml/2006/chart" r:id="rId2"/>
          </a:graphicData>
        </a:graphic>
      </p:graphicFrame>
      <p:sp>
        <p:nvSpPr>
          <p:cNvPr id="6" name="Shape 2"/>
          <p:cNvSpPr/>
          <p:nvPr/>
        </p:nvSpPr>
        <p:spPr>
          <a:xfrm>
            <a:off x="548640" y="4114800"/>
            <a:ext cx="5394960" cy="384048"/>
          </a:xfrm>
          <a:prstGeom prst="roundRect">
            <a:avLst>
              <a:gd name="adj" fmla="val 19048"/>
            </a:avLst>
          </a:prstGeom>
          <a:solidFill>
            <a:schemeClr val="accent1"/>
          </a:solidFill>
          <a:ln w="6350">
            <a:solidFill>
              <a:schemeClr val="accent1"/>
            </a:solidFill>
            <a:prstDash val="solid"/>
          </a:ln>
        </p:spPr>
      </p:sp>
      <p:sp>
        <p:nvSpPr>
          <p:cNvPr id="7" name="Text 3"/>
          <p:cNvSpPr txBox="1"/>
          <p:nvPr/>
        </p:nvSpPr>
        <p:spPr>
          <a:xfrm>
            <a:off x="731520" y="4114800"/>
            <a:ext cx="5029200" cy="384048"/>
          </a:xfrm>
          <a:prstGeom prst="rect">
            <a:avLst/>
          </a:prstGeom>
          <a:noFill/>
          <a:ln/>
        </p:spPr>
        <p:txBody>
          <a:bodyPr wrap="square" lIns="0" tIns="0" rIns="0" bIns="0" rtlCol="0" anchor="ctr"/>
          <a:lstStyle/>
          <a:p>
            <a:pPr indent="0" marL="0">
              <a:buNone/>
            </a:pPr>
            <a:r>
              <a:rPr lang="en-US" sz="1400" b="1" dirty="0">
                <a:solidFill>
                  <a:schemeClr val="bg1"/>
                </a:solidFill>
              </a:rPr>
              <a:t>Same share, same break in all 3 → GP convention, fix once</a:t>
            </a:r>
            <a:endParaRPr lang="en-US" sz="1400" dirty="0"/>
          </a:p>
        </p:txBody>
      </p:sp>
      <p:sp>
        <p:nvSpPr>
          <p:cNvPr id="8" name="Shape 4"/>
          <p:cNvSpPr/>
          <p:nvPr/>
        </p:nvSpPr>
        <p:spPr>
          <a:xfrm>
            <a:off x="6245352" y="4114800"/>
            <a:ext cx="5394960" cy="384048"/>
          </a:xfrm>
          <a:prstGeom prst="roundRect">
            <a:avLst>
              <a:gd name="adj" fmla="val 19048"/>
            </a:avLst>
          </a:prstGeom>
          <a:solidFill>
            <a:schemeClr val="accent2"/>
          </a:solidFill>
          <a:ln w="6350">
            <a:solidFill>
              <a:schemeClr val="accent2"/>
            </a:solidFill>
            <a:prstDash val="solid"/>
          </a:ln>
        </p:spPr>
      </p:sp>
      <p:sp>
        <p:nvSpPr>
          <p:cNvPr id="9" name="Text 5"/>
          <p:cNvSpPr txBox="1"/>
          <p:nvPr/>
        </p:nvSpPr>
        <p:spPr>
          <a:xfrm>
            <a:off x="6428232" y="4114800"/>
            <a:ext cx="5029200" cy="384048"/>
          </a:xfrm>
          <a:prstGeom prst="rect">
            <a:avLst/>
          </a:prstGeom>
          <a:noFill/>
          <a:ln/>
        </p:spPr>
        <p:txBody>
          <a:bodyPr wrap="square" lIns="0" tIns="0" rIns="0" bIns="0" rtlCol="0" anchor="ctr"/>
          <a:lstStyle/>
          <a:p>
            <a:pPr indent="0" marL="0">
              <a:buNone/>
            </a:pPr>
            <a:r>
              <a:rPr lang="en-US" sz="1400" b="1" dirty="0">
                <a:solidFill>
                  <a:schemeClr val="bg1"/>
                </a:solidFill>
              </a:rPr>
              <a:t>One investor's bills are wrong → advisor confirms</a:t>
            </a:r>
            <a:endParaRPr lang="en-US" sz="1400" dirty="0"/>
          </a:p>
        </p:txBody>
      </p:sp>
      <p:sp>
        <p:nvSpPr>
          <p:cNvPr id="10" name="Text 6"/>
          <p:cNvSpPr txBox="1"/>
          <p:nvPr/>
        </p:nvSpPr>
        <p:spPr>
          <a:xfrm>
            <a:off x="548640" y="4608576"/>
            <a:ext cx="11064240" cy="274320"/>
          </a:xfrm>
          <a:prstGeom prst="rect">
            <a:avLst/>
          </a:prstGeom>
          <a:noFill/>
          <a:ln/>
        </p:spPr>
        <p:txBody>
          <a:bodyPr wrap="square" lIns="0" tIns="0" rIns="0" bIns="0" rtlCol="0" anchor="t"/>
          <a:lstStyle/>
          <a:p>
            <a:pPr indent="0" marL="0">
              <a:buNone/>
            </a:pPr>
            <a:r>
              <a:rPr lang="en-US" sz="1300" b="1" dirty="0">
                <a:solidFill>
                  <a:schemeClr val="tx2"/>
                </a:solidFill>
              </a:rPr>
              <a:t>Only Bridge can run this: it sees one fund across many investors. </a:t>
            </a:r>
            <a:pPr indent="0" marL="0">
              <a:buNone/>
            </a:pPr>
            <a:r>
              <a:rPr lang="en-US" sz="1300" dirty="0">
                <a:solidFill>
                  <a:schemeClr val="accent5"/>
                </a:solidFill>
              </a:rPr>
              <a:t>Northwell also fails the distribution check, so the checks reinforce each other.</a:t>
            </a:r>
            <a:endParaRPr lang="en-US" sz="1300" dirty="0"/>
          </a:p>
        </p:txBody>
      </p:sp>
      <p:sp>
        <p:nvSpPr>
          <p:cNvPr id="11" name="framing-0"/>
          <p:cNvSpPr/>
          <p:nvPr/>
        </p:nvSpPr>
        <p:spPr>
          <a:xfrm>
            <a:off x="548640" y="5029200"/>
            <a:ext cx="3584448" cy="1298448"/>
          </a:xfrm>
          <a:prstGeom prst="roundRect">
            <a:avLst>
              <a:gd name="adj" fmla="val 5634"/>
            </a:avLst>
          </a:prstGeom>
          <a:solidFill>
            <a:schemeClr val="bg2"/>
          </a:solidFill>
          <a:ln w="6350">
            <a:solidFill>
              <a:schemeClr val="bg2"/>
            </a:solidFill>
            <a:prstDash val="solid"/>
          </a:ln>
        </p:spPr>
      </p:sp>
      <p:sp>
        <p:nvSpPr>
          <p:cNvPr id="12" name="Text 8"/>
          <p:cNvSpPr txBox="1"/>
          <p:nvPr/>
        </p:nvSpPr>
        <p:spPr>
          <a:xfrm>
            <a:off x="713232" y="5148072"/>
            <a:ext cx="3255264" cy="228600"/>
          </a:xfrm>
          <a:prstGeom prst="rect">
            <a:avLst/>
          </a:prstGeom>
          <a:noFill/>
          <a:ln/>
        </p:spPr>
        <p:txBody>
          <a:bodyPr wrap="square" lIns="0" tIns="0" rIns="0" bIns="0" rtlCol="0" anchor="t"/>
          <a:lstStyle/>
          <a:p>
            <a:pPr indent="0" marL="0">
              <a:buNone/>
            </a:pPr>
            <a:r>
              <a:rPr lang="en-US" sz="1050" b="1" spc="150" kern="0" dirty="0">
                <a:solidFill>
                  <a:schemeClr val="accent1"/>
                </a:solidFill>
              </a:rPr>
              <a:t>BUILD FIRST</a:t>
            </a:r>
            <a:endParaRPr lang="en-US" sz="1050" dirty="0"/>
          </a:p>
        </p:txBody>
      </p:sp>
      <p:sp>
        <p:nvSpPr>
          <p:cNvPr id="13" name="Text 9"/>
          <p:cNvSpPr txBox="1"/>
          <p:nvPr/>
        </p:nvSpPr>
        <p:spPr>
          <a:xfrm>
            <a:off x="713232" y="5413248"/>
            <a:ext cx="3255264" cy="841248"/>
          </a:xfrm>
          <a:prstGeom prst="rect">
            <a:avLst/>
          </a:prstGeom>
          <a:noFill/>
          <a:ln/>
        </p:spPr>
        <p:txBody>
          <a:bodyPr wrap="square" lIns="0" tIns="0" rIns="0" bIns="0" rtlCol="0" anchor="t"/>
          <a:lstStyle/>
          <a:p>
            <a:pPr indent="0" marL="0">
              <a:spcAft>
                <a:spcPts val="300"/>
              </a:spcAft>
              <a:buNone/>
            </a:pPr>
            <a:r>
              <a:rPr lang="en-US" sz="1250" dirty="0">
                <a:solidFill>
                  <a:schemeClr val="tx1"/>
                </a:solidFill>
              </a:rPr>
              <a:t>Checks 1–4 and 8 on statements, calls and distributions</a:t>
            </a:r>
            <a:endParaRPr lang="en-US" sz="1250" dirty="0"/>
          </a:p>
          <a:p>
            <a:pPr indent="0" marL="0">
              <a:spcAft>
                <a:spcPts val="300"/>
              </a:spcAft>
              <a:buNone/>
            </a:pPr>
            <a:r>
              <a:rPr lang="en-US" sz="1250" dirty="0">
                <a:solidFill>
                  <a:schemeClr val="tx1"/>
                </a:solidFill>
              </a:rPr>
              <a:t>An explanation attached to every failure</a:t>
            </a:r>
            <a:endParaRPr lang="en-US" sz="1250" dirty="0"/>
          </a:p>
        </p:txBody>
      </p:sp>
      <p:sp>
        <p:nvSpPr>
          <p:cNvPr id="14" name="framing-1"/>
          <p:cNvSpPr/>
          <p:nvPr/>
        </p:nvSpPr>
        <p:spPr>
          <a:xfrm>
            <a:off x="4288536" y="5029200"/>
            <a:ext cx="3584448" cy="1298448"/>
          </a:xfrm>
          <a:prstGeom prst="roundRect">
            <a:avLst>
              <a:gd name="adj" fmla="val 5634"/>
            </a:avLst>
          </a:prstGeom>
          <a:solidFill>
            <a:schemeClr val="bg2"/>
          </a:solidFill>
          <a:ln w="6350">
            <a:solidFill>
              <a:schemeClr val="bg2"/>
            </a:solidFill>
            <a:prstDash val="solid"/>
          </a:ln>
        </p:spPr>
      </p:sp>
      <p:sp>
        <p:nvSpPr>
          <p:cNvPr id="15" name="Text 11"/>
          <p:cNvSpPr txBox="1"/>
          <p:nvPr/>
        </p:nvSpPr>
        <p:spPr>
          <a:xfrm>
            <a:off x="4453128" y="5148072"/>
            <a:ext cx="3255264" cy="228600"/>
          </a:xfrm>
          <a:prstGeom prst="rect">
            <a:avLst/>
          </a:prstGeom>
          <a:noFill/>
          <a:ln/>
        </p:spPr>
        <p:txBody>
          <a:bodyPr wrap="square" lIns="0" tIns="0" rIns="0" bIns="0" rtlCol="0" anchor="t"/>
          <a:lstStyle/>
          <a:p>
            <a:pPr indent="0" marL="0">
              <a:buNone/>
            </a:pPr>
            <a:r>
              <a:rPr lang="en-US" sz="1050" b="1" spc="150" kern="0" dirty="0">
                <a:solidFill>
                  <a:schemeClr val="accent1"/>
                </a:solidFill>
              </a:rPr>
              <a:t>LEAVE FOR LATER</a:t>
            </a:r>
            <a:endParaRPr lang="en-US" sz="1050" dirty="0"/>
          </a:p>
        </p:txBody>
      </p:sp>
      <p:sp>
        <p:nvSpPr>
          <p:cNvPr id="16" name="Text 12"/>
          <p:cNvSpPr txBox="1"/>
          <p:nvPr/>
        </p:nvSpPr>
        <p:spPr>
          <a:xfrm>
            <a:off x="4453128" y="5413248"/>
            <a:ext cx="3255264" cy="841248"/>
          </a:xfrm>
          <a:prstGeom prst="rect">
            <a:avLst/>
          </a:prstGeom>
          <a:noFill/>
          <a:ln/>
        </p:spPr>
        <p:txBody>
          <a:bodyPr wrap="square" lIns="0" tIns="0" rIns="0" bIns="0" rtlCol="0" anchor="t"/>
          <a:lstStyle/>
          <a:p>
            <a:pPr indent="0" marL="0">
              <a:spcAft>
                <a:spcPts val="300"/>
              </a:spcAft>
              <a:buNone/>
            </a:pPr>
            <a:r>
              <a:rPr lang="en-US" sz="1250" dirty="0">
                <a:solidFill>
                  <a:schemeClr val="tx1"/>
                </a:solidFill>
              </a:rPr>
              <a:t>Remembering each GP's conventions</a:t>
            </a:r>
            <a:endParaRPr lang="en-US" sz="1250" dirty="0"/>
          </a:p>
          <a:p>
            <a:pPr indent="0" marL="0">
              <a:spcAft>
                <a:spcPts val="300"/>
              </a:spcAft>
              <a:buNone/>
            </a:pPr>
            <a:r>
              <a:rPr lang="en-US" sz="1250" dirty="0">
                <a:solidFill>
                  <a:schemeClr val="tx1"/>
                </a:solidFill>
              </a:rPr>
              <a:t>Tolerances tuned per fund</a:t>
            </a:r>
            <a:endParaRPr lang="en-US" sz="1250" dirty="0"/>
          </a:p>
          <a:p>
            <a:pPr indent="0" marL="0">
              <a:spcAft>
                <a:spcPts val="300"/>
              </a:spcAft>
              <a:buNone/>
            </a:pPr>
            <a:r>
              <a:rPr lang="en-US" sz="1250" dirty="0">
                <a:solidFill>
                  <a:schemeClr val="tx1"/>
                </a:solidFill>
              </a:rPr>
              <a:t>Evergreen, hedge fund and direct structures</a:t>
            </a:r>
            <a:endParaRPr lang="en-US" sz="1250" dirty="0"/>
          </a:p>
        </p:txBody>
      </p:sp>
      <p:sp>
        <p:nvSpPr>
          <p:cNvPr id="17" name="framing-2"/>
          <p:cNvSpPr/>
          <p:nvPr/>
        </p:nvSpPr>
        <p:spPr>
          <a:xfrm>
            <a:off x="8028432" y="5029200"/>
            <a:ext cx="3584448" cy="1298448"/>
          </a:xfrm>
          <a:prstGeom prst="roundRect">
            <a:avLst>
              <a:gd name="adj" fmla="val 5634"/>
            </a:avLst>
          </a:prstGeom>
          <a:solidFill>
            <a:schemeClr val="bg2"/>
          </a:solidFill>
          <a:ln w="6350">
            <a:solidFill>
              <a:schemeClr val="bg2"/>
            </a:solidFill>
            <a:prstDash val="solid"/>
          </a:ln>
        </p:spPr>
      </p:sp>
      <p:sp>
        <p:nvSpPr>
          <p:cNvPr id="18" name="Text 14"/>
          <p:cNvSpPr txBox="1"/>
          <p:nvPr/>
        </p:nvSpPr>
        <p:spPr>
          <a:xfrm>
            <a:off x="8193024" y="5148072"/>
            <a:ext cx="3255264" cy="228600"/>
          </a:xfrm>
          <a:prstGeom prst="rect">
            <a:avLst/>
          </a:prstGeom>
          <a:noFill/>
          <a:ln/>
        </p:spPr>
        <p:txBody>
          <a:bodyPr wrap="square" lIns="0" tIns="0" rIns="0" bIns="0" rtlCol="0" anchor="t"/>
          <a:lstStyle/>
          <a:p>
            <a:pPr indent="0" marL="0">
              <a:buNone/>
            </a:pPr>
            <a:r>
              <a:rPr lang="en-US" sz="1050" b="1" spc="150" kern="0" dirty="0">
                <a:solidFill>
                  <a:schemeClr val="accent1"/>
                </a:solidFill>
              </a:rPr>
              <a:t>ENGINEERING BRIEF</a:t>
            </a:r>
            <a:endParaRPr lang="en-US" sz="1050" dirty="0"/>
          </a:p>
        </p:txBody>
      </p:sp>
      <p:sp>
        <p:nvSpPr>
          <p:cNvPr id="19" name="Text 15"/>
          <p:cNvSpPr txBox="1"/>
          <p:nvPr/>
        </p:nvSpPr>
        <p:spPr>
          <a:xfrm>
            <a:off x="8193024" y="5413248"/>
            <a:ext cx="3255264" cy="841248"/>
          </a:xfrm>
          <a:prstGeom prst="rect">
            <a:avLst/>
          </a:prstGeom>
          <a:noFill/>
          <a:ln/>
        </p:spPr>
        <p:txBody>
          <a:bodyPr wrap="square" lIns="0" tIns="0" rIns="0" bIns="0" rtlCol="0" anchor="t"/>
          <a:lstStyle/>
          <a:p>
            <a:pPr indent="0" marL="0">
              <a:spcAft>
                <a:spcPts val="300"/>
              </a:spcAft>
              <a:buNone/>
            </a:pPr>
            <a:r>
              <a:rPr lang="en-US" sz="1250" b="1" dirty="0">
                <a:solidFill>
                  <a:schemeClr val="tx1"/>
                </a:solidFill>
              </a:rPr>
              <a:t>Build: </a:t>
            </a:r>
            <a:pPr indent="0" marL="0">
              <a:spcAft>
                <a:spcPts val="300"/>
              </a:spcAft>
              <a:buNone/>
            </a:pPr>
            <a:r>
              <a:rPr lang="en-US" sz="1250" dirty="0">
                <a:solidFill>
                  <a:schemeClr val="tx1"/>
                </a:solidFill>
              </a:rPr>
              <a:t>a rules engine on a stable position key</a:t>
            </a:r>
            <a:endParaRPr lang="en-US" sz="1250" dirty="0"/>
          </a:p>
          <a:p>
            <a:pPr indent="0" marL="0">
              <a:spcAft>
                <a:spcPts val="300"/>
              </a:spcAft>
              <a:buNone/>
            </a:pPr>
            <a:r>
              <a:rPr lang="en-US" sz="1250" b="1" dirty="0">
                <a:solidFill>
                  <a:schemeClr val="tx1"/>
                </a:solidFill>
              </a:rPr>
              <a:t>Get right: </a:t>
            </a:r>
            <a:pPr indent="0" marL="0">
              <a:spcAft>
                <a:spcPts val="300"/>
              </a:spcAft>
              <a:buNone/>
            </a:pPr>
            <a:r>
              <a:rPr lang="en-US" sz="1250" dirty="0">
                <a:solidFill>
                  <a:schemeClr val="tx1"/>
                </a:solidFill>
              </a:rPr>
              <a:t>due-date timing; de-dupe before roll-forwards</a:t>
            </a:r>
            <a:endParaRPr lang="en-US" sz="1250" dirty="0"/>
          </a:p>
          <a:p>
            <a:pPr indent="0" marL="0">
              <a:spcAft>
                <a:spcPts val="300"/>
              </a:spcAft>
              <a:buNone/>
            </a:pPr>
            <a:r>
              <a:rPr lang="en-US" sz="1250" b="1" dirty="0">
                <a:solidFill>
                  <a:schemeClr val="tx1"/>
                </a:solidFill>
              </a:rPr>
              <a:t>Skip: </a:t>
            </a:r>
            <a:pPr indent="0" marL="0">
              <a:spcAft>
                <a:spcPts val="300"/>
              </a:spcAft>
              <a:buNone/>
            </a:pPr>
            <a:r>
              <a:rPr lang="en-US" sz="1250" dirty="0">
                <a:solidFill>
                  <a:schemeClr val="tx1"/>
                </a:solidFill>
              </a:rPr>
              <a:t>ML classification, every edge case</a:t>
            </a:r>
            <a:endParaRPr lang="en-US" sz="1250" dirty="0"/>
          </a:p>
        </p:txBody>
      </p:sp>
      <p:sp>
        <p:nvSpPr>
          <p:cNvPr id="25" name="Slide Number Placeholder 0"/>
          <p:cNvSpPr>
            <a:spLocks noGrp="1"/>
          </p:cNvSpPr>
          <p:nvPr>
            <p:ph type="sldNum" sz="quarter" idx="4294967295"/>
          </p:nvPr>
        </p:nvSpPr>
        <p:spPr>
          <a:xfrm>
            <a:off x="11274552" y="6473952"/>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0972800" cy="274320"/>
          </a:xfrm>
          <a:prstGeom prst="rect">
            <a:avLst/>
          </a:prstGeom>
          <a:noFill/>
          <a:ln/>
        </p:spPr>
        <p:txBody>
          <a:bodyPr wrap="square" lIns="0" tIns="0" rIns="0" bIns="0" rtlCol="0"/>
          <a:lstStyle/>
          <a:p>
            <a:pPr indent="0" marL="0">
              <a:buNone/>
            </a:pPr>
            <a:r>
              <a:rPr lang="en-US" sz="1100" b="1" spc="200" kern="0" dirty="0">
                <a:solidFill>
                  <a:schemeClr val="accent1"/>
                </a:solidFill>
              </a:rPr>
              <a:t>PART 2 · THE ADVISOR'S REVIEW</a:t>
            </a:r>
            <a:endParaRPr lang="en-US" sz="1100" dirty="0"/>
          </a:p>
        </p:txBody>
      </p:sp>
      <p:sp>
        <p:nvSpPr>
          <p:cNvPr id="3" name="Text 0"/>
          <p:cNvSpPr/>
          <p:nvPr>
            <p:ph idx="101" type="title" hasCustomPrompt="1"/>
          </p:nvPr>
        </p:nvSpPr>
        <p:spPr>
          <a:xfrm>
            <a:off x="548640" y="621792"/>
            <a:ext cx="11064240" cy="640080"/>
          </a:xfrm>
          <a:prstGeom prst="rect">
            <a:avLst/>
          </a:prstGeom>
          <a:noFill/>
          <a:ln/>
        </p:spPr>
        <p:txBody>
          <a:bodyPr wrap="square" lIns="0" tIns="0" rIns="0" bIns="0" rtlCol="0" anchor="t"/>
          <a:lstStyle/>
          <a:p>
            <a:pPr algn="l" indent="0" marL="0">
              <a:buNone/>
            </a:pPr>
            <a:r>
              <a:rPr lang="en-US" sz="3200" b="1" dirty="0">
                <a:solidFill>
                  <a:schemeClr val="tx2"/>
                </a:solidFill>
                <a:latin typeface="Cambria" pitchFamily="34" charset="0"/>
                <a:ea typeface="Cambria" pitchFamily="34" charset="-122"/>
                <a:cs typeface="Cambria" pitchFamily="34" charset="-120"/>
              </a:rPr>
              <a:t>Bridge sorts every issue by how certain it is</a:t>
            </a:r>
            <a:endParaRPr lang="en-US" sz="3200" dirty="0"/>
          </a:p>
        </p:txBody>
      </p:sp>
      <p:sp>
        <p:nvSpPr>
          <p:cNvPr id="4" name="tier-1"/>
          <p:cNvSpPr/>
          <p:nvPr/>
        </p:nvSpPr>
        <p:spPr>
          <a:xfrm>
            <a:off x="548640" y="1463040"/>
            <a:ext cx="2587752" cy="3063240"/>
          </a:xfrm>
          <a:prstGeom prst="roundRect">
            <a:avLst>
              <a:gd name="adj" fmla="val 2827"/>
            </a:avLst>
          </a:prstGeom>
          <a:solidFill>
            <a:schemeClr val="bg2"/>
          </a:solidFill>
          <a:ln w="6350">
            <a:solidFill>
              <a:schemeClr val="bg2"/>
            </a:solidFill>
            <a:prstDash val="solid"/>
          </a:ln>
        </p:spPr>
      </p:sp>
      <p:sp>
        <p:nvSpPr>
          <p:cNvPr id="5" name="Shape 3"/>
          <p:cNvSpPr/>
          <p:nvPr/>
        </p:nvSpPr>
        <p:spPr>
          <a:xfrm>
            <a:off x="731520" y="1664208"/>
            <a:ext cx="384048" cy="384048"/>
          </a:xfrm>
          <a:prstGeom prst="ellipse">
            <a:avLst/>
          </a:prstGeom>
          <a:solidFill>
            <a:schemeClr val="accent1"/>
          </a:solidFill>
          <a:ln w="9525">
            <a:solidFill>
              <a:schemeClr val="accent1"/>
            </a:solidFill>
            <a:prstDash val="solid"/>
          </a:ln>
        </p:spPr>
      </p:sp>
      <p:sp>
        <p:nvSpPr>
          <p:cNvPr id="6" name="Text 4"/>
          <p:cNvSpPr txBox="1"/>
          <p:nvPr/>
        </p:nvSpPr>
        <p:spPr>
          <a:xfrm>
            <a:off x="731520" y="1664208"/>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7" name="Text 5"/>
          <p:cNvSpPr txBox="1"/>
          <p:nvPr/>
        </p:nvSpPr>
        <p:spPr>
          <a:xfrm>
            <a:off x="731520" y="2176272"/>
            <a:ext cx="2221992" cy="566928"/>
          </a:xfrm>
          <a:prstGeom prst="rect">
            <a:avLst/>
          </a:prstGeom>
          <a:noFill/>
          <a:ln/>
        </p:spPr>
        <p:txBody>
          <a:bodyPr wrap="square" lIns="0" tIns="0" rIns="0" bIns="0" rtlCol="0" anchor="t"/>
          <a:lstStyle/>
          <a:p>
            <a:pPr indent="0" marL="0">
              <a:buNone/>
            </a:pPr>
            <a:r>
              <a:rPr lang="en-US" sz="1600" b="1" dirty="0">
                <a:solidFill>
                  <a:schemeClr val="tx2"/>
                </a:solidFill>
              </a:rPr>
              <a:t>Bridge resolves</a:t>
            </a:r>
            <a:endParaRPr lang="en-US" sz="1600" dirty="0"/>
          </a:p>
        </p:txBody>
      </p:sp>
      <p:sp>
        <p:nvSpPr>
          <p:cNvPr id="8" name="Text 6"/>
          <p:cNvSpPr txBox="1"/>
          <p:nvPr/>
        </p:nvSpPr>
        <p:spPr>
          <a:xfrm>
            <a:off x="731520" y="2761488"/>
            <a:ext cx="2221992" cy="274320"/>
          </a:xfrm>
          <a:prstGeom prst="rect">
            <a:avLst/>
          </a:prstGeom>
          <a:noFill/>
          <a:ln/>
        </p:spPr>
        <p:txBody>
          <a:bodyPr wrap="square" lIns="0" tIns="0" rIns="0" bIns="0" rtlCol="0" anchor="t"/>
          <a:lstStyle/>
          <a:p>
            <a:pPr indent="0" marL="0">
              <a:buNone/>
            </a:pPr>
            <a:r>
              <a:rPr lang="en-US" sz="1300" i="1" dirty="0">
                <a:solidFill>
                  <a:schemeClr val="accent5"/>
                </a:solidFill>
              </a:rPr>
              <a:t>Certain, lossless, reversible</a:t>
            </a:r>
            <a:endParaRPr lang="en-US" sz="1300" dirty="0"/>
          </a:p>
        </p:txBody>
      </p:sp>
      <p:sp>
        <p:nvSpPr>
          <p:cNvPr id="9" name="Text 7"/>
          <p:cNvSpPr txBox="1"/>
          <p:nvPr/>
        </p:nvSpPr>
        <p:spPr>
          <a:xfrm>
            <a:off x="731520" y="3154680"/>
            <a:ext cx="2267712" cy="128016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chemeClr val="tx1"/>
                </a:solidFill>
              </a:rPr>
              <a:t>Merge stored copies (166, 167, 170)</a:t>
            </a:r>
            <a:endParaRPr lang="en-US" sz="1300" dirty="0"/>
          </a:p>
          <a:p>
            <a:pPr marL="342900" indent="-342900">
              <a:spcAft>
                <a:spcPts val="500"/>
              </a:spcAft>
              <a:buSzPct val="100000"/>
              <a:buChar char="•"/>
            </a:pPr>
            <a:r>
              <a:rPr lang="en-US" sz="1300" dirty="0">
                <a:solidFill>
                  <a:schemeClr val="tx1"/>
                </a:solidFill>
              </a:rPr>
              <a:t>Relabel audited financials (58)</a:t>
            </a:r>
            <a:endParaRPr lang="en-US" sz="1300" dirty="0"/>
          </a:p>
          <a:p>
            <a:pPr marL="342900" indent="-342900">
              <a:spcAft>
                <a:spcPts val="500"/>
              </a:spcAft>
              <a:buSzPct val="100000"/>
              <a:buChar char="•"/>
            </a:pPr>
            <a:r>
              <a:rPr lang="en-US" sz="1300" dirty="0">
                <a:solidFill>
                  <a:schemeClr val="tx1"/>
                </a:solidFill>
              </a:rPr>
              <a:t>Re-fetch and re-read value jumps (308, 313)</a:t>
            </a:r>
            <a:endParaRPr lang="en-US" sz="1300" dirty="0"/>
          </a:p>
        </p:txBody>
      </p:sp>
      <p:sp>
        <p:nvSpPr>
          <p:cNvPr id="10" name="Shape 8"/>
          <p:cNvSpPr/>
          <p:nvPr/>
        </p:nvSpPr>
        <p:spPr>
          <a:xfrm>
            <a:off x="3191256" y="2866644"/>
            <a:ext cx="128016" cy="256032"/>
          </a:xfrm>
          <a:prstGeom prst="chevron">
            <a:avLst/>
          </a:prstGeom>
          <a:solidFill>
            <a:schemeClr val="accent4"/>
          </a:solidFill>
          <a:ln w="12700">
            <a:solidFill>
              <a:schemeClr val="accent4"/>
            </a:solidFill>
            <a:prstDash val="solid"/>
          </a:ln>
        </p:spPr>
      </p:sp>
      <p:sp>
        <p:nvSpPr>
          <p:cNvPr id="11" name="tier-2"/>
          <p:cNvSpPr/>
          <p:nvPr/>
        </p:nvSpPr>
        <p:spPr>
          <a:xfrm>
            <a:off x="3374136" y="1463040"/>
            <a:ext cx="2587752" cy="3063240"/>
          </a:xfrm>
          <a:prstGeom prst="roundRect">
            <a:avLst>
              <a:gd name="adj" fmla="val 2827"/>
            </a:avLst>
          </a:prstGeom>
          <a:solidFill>
            <a:schemeClr val="bg2"/>
          </a:solidFill>
          <a:ln w="6350">
            <a:solidFill>
              <a:schemeClr val="bg2"/>
            </a:solidFill>
            <a:prstDash val="solid"/>
          </a:ln>
        </p:spPr>
      </p:sp>
      <p:sp>
        <p:nvSpPr>
          <p:cNvPr id="12" name="Shape 10"/>
          <p:cNvSpPr/>
          <p:nvPr/>
        </p:nvSpPr>
        <p:spPr>
          <a:xfrm>
            <a:off x="3557016" y="1664208"/>
            <a:ext cx="384048" cy="384048"/>
          </a:xfrm>
          <a:prstGeom prst="ellipse">
            <a:avLst/>
          </a:prstGeom>
          <a:solidFill>
            <a:schemeClr val="tx2"/>
          </a:solidFill>
          <a:ln w="9525">
            <a:solidFill>
              <a:schemeClr val="tx2"/>
            </a:solidFill>
            <a:prstDash val="solid"/>
          </a:ln>
        </p:spPr>
      </p:sp>
      <p:sp>
        <p:nvSpPr>
          <p:cNvPr id="13" name="Text 11"/>
          <p:cNvSpPr txBox="1"/>
          <p:nvPr/>
        </p:nvSpPr>
        <p:spPr>
          <a:xfrm>
            <a:off x="3557016" y="1664208"/>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4" name="Text 12"/>
          <p:cNvSpPr txBox="1"/>
          <p:nvPr/>
        </p:nvSpPr>
        <p:spPr>
          <a:xfrm>
            <a:off x="3557016" y="2176272"/>
            <a:ext cx="2221992" cy="566928"/>
          </a:xfrm>
          <a:prstGeom prst="rect">
            <a:avLst/>
          </a:prstGeom>
          <a:noFill/>
          <a:ln/>
        </p:spPr>
        <p:txBody>
          <a:bodyPr wrap="square" lIns="0" tIns="0" rIns="0" bIns="0" rtlCol="0" anchor="t"/>
          <a:lstStyle/>
          <a:p>
            <a:pPr indent="0" marL="0">
              <a:buNone/>
            </a:pPr>
            <a:r>
              <a:rPr lang="en-US" sz="1600" b="1" dirty="0">
                <a:solidFill>
                  <a:schemeClr val="tx2"/>
                </a:solidFill>
              </a:rPr>
              <a:t>Bridge proposes, advisor confirms</a:t>
            </a:r>
            <a:endParaRPr lang="en-US" sz="1600" dirty="0"/>
          </a:p>
        </p:txBody>
      </p:sp>
      <p:sp>
        <p:nvSpPr>
          <p:cNvPr id="15" name="Text 13"/>
          <p:cNvSpPr txBox="1"/>
          <p:nvPr/>
        </p:nvSpPr>
        <p:spPr>
          <a:xfrm>
            <a:off x="3557016" y="2761488"/>
            <a:ext cx="2221992" cy="274320"/>
          </a:xfrm>
          <a:prstGeom prst="rect">
            <a:avLst/>
          </a:prstGeom>
          <a:noFill/>
          <a:ln/>
        </p:spPr>
        <p:txBody>
          <a:bodyPr wrap="square" lIns="0" tIns="0" rIns="0" bIns="0" rtlCol="0" anchor="t"/>
          <a:lstStyle/>
          <a:p>
            <a:pPr indent="0" marL="0">
              <a:buNone/>
            </a:pPr>
            <a:r>
              <a:rPr lang="en-US" sz="1300" i="1" dirty="0">
                <a:solidFill>
                  <a:schemeClr val="accent5"/>
                </a:solidFill>
              </a:rPr>
              <a:t>Cause known, one fix</a:t>
            </a:r>
            <a:endParaRPr lang="en-US" sz="1300" dirty="0"/>
          </a:p>
        </p:txBody>
      </p:sp>
      <p:sp>
        <p:nvSpPr>
          <p:cNvPr id="16" name="Text 14"/>
          <p:cNvSpPr txBox="1"/>
          <p:nvPr/>
        </p:nvSpPr>
        <p:spPr>
          <a:xfrm>
            <a:off x="3557016" y="3154680"/>
            <a:ext cx="2267712" cy="128016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chemeClr val="tx1"/>
                </a:solidFill>
              </a:rPr>
              <a:t>Stonebridge timing (3, 27, 51)</a:t>
            </a:r>
            <a:endParaRPr lang="en-US" sz="1300" dirty="0"/>
          </a:p>
          <a:p>
            <a:pPr marL="342900" indent="-342900">
              <a:spcAft>
                <a:spcPts val="500"/>
              </a:spcAft>
              <a:buSzPct val="100000"/>
              <a:buChar char="•"/>
            </a:pPr>
            <a:r>
              <a:rPr lang="en-US" sz="1300" dirty="0">
                <a:solidFill>
                  <a:schemeClr val="tx1"/>
                </a:solidFill>
              </a:rPr>
              <a:t>Duplicate call (101 / 103)</a:t>
            </a:r>
            <a:endParaRPr lang="en-US" sz="1300" dirty="0"/>
          </a:p>
          <a:p>
            <a:pPr marL="342900" indent="-342900">
              <a:spcAft>
                <a:spcPts val="500"/>
              </a:spcAft>
              <a:buSzPct val="100000"/>
              <a:buChar char="•"/>
            </a:pPr>
            <a:r>
              <a:rPr lang="en-US" sz="1300" dirty="0">
                <a:solidFill>
                  <a:schemeClr val="tx1"/>
                </a:solidFill>
              </a:rPr>
              <a:t>Quarter labels (16, 40, 64)</a:t>
            </a:r>
            <a:endParaRPr lang="en-US" sz="1300" dirty="0"/>
          </a:p>
        </p:txBody>
      </p:sp>
      <p:sp>
        <p:nvSpPr>
          <p:cNvPr id="17" name="Shape 15"/>
          <p:cNvSpPr/>
          <p:nvPr/>
        </p:nvSpPr>
        <p:spPr>
          <a:xfrm>
            <a:off x="6016752" y="2866644"/>
            <a:ext cx="128016" cy="256032"/>
          </a:xfrm>
          <a:prstGeom prst="chevron">
            <a:avLst/>
          </a:prstGeom>
          <a:solidFill>
            <a:schemeClr val="accent4"/>
          </a:solidFill>
          <a:ln w="12700">
            <a:solidFill>
              <a:schemeClr val="accent4"/>
            </a:solidFill>
            <a:prstDash val="solid"/>
          </a:ln>
        </p:spPr>
      </p:sp>
      <p:sp>
        <p:nvSpPr>
          <p:cNvPr id="18" name="tier-3"/>
          <p:cNvSpPr/>
          <p:nvPr/>
        </p:nvSpPr>
        <p:spPr>
          <a:xfrm>
            <a:off x="6199632" y="1463040"/>
            <a:ext cx="2587752" cy="3063240"/>
          </a:xfrm>
          <a:prstGeom prst="roundRect">
            <a:avLst>
              <a:gd name="adj" fmla="val 2827"/>
            </a:avLst>
          </a:prstGeom>
          <a:solidFill>
            <a:schemeClr val="bg2"/>
          </a:solidFill>
          <a:ln w="6350">
            <a:solidFill>
              <a:schemeClr val="bg2"/>
            </a:solidFill>
            <a:prstDash val="solid"/>
          </a:ln>
        </p:spPr>
      </p:sp>
      <p:sp>
        <p:nvSpPr>
          <p:cNvPr id="19" name="Shape 17"/>
          <p:cNvSpPr/>
          <p:nvPr/>
        </p:nvSpPr>
        <p:spPr>
          <a:xfrm>
            <a:off x="6382512" y="1664208"/>
            <a:ext cx="384048" cy="384048"/>
          </a:xfrm>
          <a:prstGeom prst="ellipse">
            <a:avLst/>
          </a:prstGeom>
          <a:solidFill>
            <a:schemeClr val="accent3"/>
          </a:solidFill>
          <a:ln w="9525">
            <a:solidFill>
              <a:schemeClr val="accent3"/>
            </a:solidFill>
            <a:prstDash val="solid"/>
          </a:ln>
        </p:spPr>
      </p:sp>
      <p:sp>
        <p:nvSpPr>
          <p:cNvPr id="20" name="Text 18"/>
          <p:cNvSpPr txBox="1"/>
          <p:nvPr/>
        </p:nvSpPr>
        <p:spPr>
          <a:xfrm>
            <a:off x="6382512" y="1664208"/>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21" name="Text 19"/>
          <p:cNvSpPr txBox="1"/>
          <p:nvPr/>
        </p:nvSpPr>
        <p:spPr>
          <a:xfrm>
            <a:off x="6382512" y="2176272"/>
            <a:ext cx="2221992" cy="566928"/>
          </a:xfrm>
          <a:prstGeom prst="rect">
            <a:avLst/>
          </a:prstGeom>
          <a:noFill/>
          <a:ln/>
        </p:spPr>
        <p:txBody>
          <a:bodyPr wrap="square" lIns="0" tIns="0" rIns="0" bIns="0" rtlCol="0" anchor="t"/>
          <a:lstStyle/>
          <a:p>
            <a:pPr indent="0" marL="0">
              <a:buNone/>
            </a:pPr>
            <a:r>
              <a:rPr lang="en-US" sz="1600" b="1" dirty="0">
                <a:solidFill>
                  <a:schemeClr val="tx2"/>
                </a:solidFill>
              </a:rPr>
              <a:t>Advisor decides</a:t>
            </a:r>
            <a:endParaRPr lang="en-US" sz="1600" dirty="0"/>
          </a:p>
        </p:txBody>
      </p:sp>
      <p:sp>
        <p:nvSpPr>
          <p:cNvPr id="22" name="Text 20"/>
          <p:cNvSpPr txBox="1"/>
          <p:nvPr/>
        </p:nvSpPr>
        <p:spPr>
          <a:xfrm>
            <a:off x="6382512" y="2761488"/>
            <a:ext cx="2221992" cy="274320"/>
          </a:xfrm>
          <a:prstGeom prst="rect">
            <a:avLst/>
          </a:prstGeom>
          <a:noFill/>
          <a:ln/>
        </p:spPr>
        <p:txBody>
          <a:bodyPr wrap="square" lIns="0" tIns="0" rIns="0" bIns="0" rtlCol="0" anchor="t"/>
          <a:lstStyle/>
          <a:p>
            <a:pPr indent="0" marL="0">
              <a:buNone/>
            </a:pPr>
            <a:r>
              <a:rPr lang="en-US" sz="1300" i="1" dirty="0">
                <a:solidFill>
                  <a:schemeClr val="accent5"/>
                </a:solidFill>
              </a:rPr>
              <a:t>Several explanations</a:t>
            </a:r>
            <a:endParaRPr lang="en-US" sz="1300" dirty="0"/>
          </a:p>
        </p:txBody>
      </p:sp>
      <p:sp>
        <p:nvSpPr>
          <p:cNvPr id="23" name="Text 21"/>
          <p:cNvSpPr txBox="1"/>
          <p:nvPr/>
        </p:nvSpPr>
        <p:spPr>
          <a:xfrm>
            <a:off x="6382512" y="3154680"/>
            <a:ext cx="2267712" cy="128016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chemeClr val="tx1"/>
                </a:solidFill>
              </a:rPr>
              <a:t>Timberline $200k gap (288)</a:t>
            </a:r>
            <a:endParaRPr lang="en-US" sz="1300" dirty="0"/>
          </a:p>
          <a:p>
            <a:pPr marL="342900" indent="-342900">
              <a:spcAft>
                <a:spcPts val="500"/>
              </a:spcAft>
              <a:buSzPct val="100000"/>
              <a:buChar char="•"/>
            </a:pPr>
            <a:r>
              <a:rPr lang="en-US" sz="1300" dirty="0">
                <a:solidFill>
                  <a:schemeClr val="tx1"/>
                </a:solidFill>
              </a:rPr>
              <a:t>Northwell $0 distribution (194)</a:t>
            </a:r>
            <a:endParaRPr lang="en-US" sz="1300" dirty="0"/>
          </a:p>
          <a:p>
            <a:pPr marL="342900" indent="-342900">
              <a:spcAft>
                <a:spcPts val="500"/>
              </a:spcAft>
              <a:buSzPct val="100000"/>
              <a:buChar char="•"/>
            </a:pPr>
            <a:r>
              <a:rPr lang="en-US" sz="1300" dirty="0">
                <a:solidFill>
                  <a:schemeClr val="tx1"/>
                </a:solidFill>
              </a:rPr>
              <a:t>Northwell call shares (314–317)</a:t>
            </a:r>
            <a:endParaRPr lang="en-US" sz="1300" dirty="0"/>
          </a:p>
        </p:txBody>
      </p:sp>
      <p:sp>
        <p:nvSpPr>
          <p:cNvPr id="24" name="Shape 22"/>
          <p:cNvSpPr/>
          <p:nvPr/>
        </p:nvSpPr>
        <p:spPr>
          <a:xfrm>
            <a:off x="8842248" y="2866644"/>
            <a:ext cx="128016" cy="256032"/>
          </a:xfrm>
          <a:prstGeom prst="chevron">
            <a:avLst/>
          </a:prstGeom>
          <a:solidFill>
            <a:schemeClr val="accent4"/>
          </a:solidFill>
          <a:ln w="12700">
            <a:solidFill>
              <a:schemeClr val="accent4"/>
            </a:solidFill>
            <a:prstDash val="solid"/>
          </a:ln>
        </p:spPr>
      </p:sp>
      <p:sp>
        <p:nvSpPr>
          <p:cNvPr id="25" name="tier-4"/>
          <p:cNvSpPr/>
          <p:nvPr/>
        </p:nvSpPr>
        <p:spPr>
          <a:xfrm>
            <a:off x="9025128" y="1463040"/>
            <a:ext cx="2587752" cy="3063240"/>
          </a:xfrm>
          <a:prstGeom prst="roundRect">
            <a:avLst>
              <a:gd name="adj" fmla="val 2827"/>
            </a:avLst>
          </a:prstGeom>
          <a:solidFill>
            <a:schemeClr val="bg2"/>
          </a:solidFill>
          <a:ln w="6350">
            <a:solidFill>
              <a:schemeClr val="bg2"/>
            </a:solidFill>
            <a:prstDash val="solid"/>
          </a:ln>
        </p:spPr>
      </p:sp>
      <p:sp>
        <p:nvSpPr>
          <p:cNvPr id="26" name="Shape 24"/>
          <p:cNvSpPr/>
          <p:nvPr/>
        </p:nvSpPr>
        <p:spPr>
          <a:xfrm>
            <a:off x="9208008" y="1664208"/>
            <a:ext cx="384048" cy="384048"/>
          </a:xfrm>
          <a:prstGeom prst="ellipse">
            <a:avLst/>
          </a:prstGeom>
          <a:solidFill>
            <a:schemeClr val="accent5"/>
          </a:solidFill>
          <a:ln w="9525">
            <a:solidFill>
              <a:schemeClr val="accent5"/>
            </a:solidFill>
            <a:prstDash val="solid"/>
          </a:ln>
        </p:spPr>
      </p:sp>
      <p:sp>
        <p:nvSpPr>
          <p:cNvPr id="27" name="Text 25"/>
          <p:cNvSpPr txBox="1"/>
          <p:nvPr/>
        </p:nvSpPr>
        <p:spPr>
          <a:xfrm>
            <a:off x="9208008" y="1664208"/>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8" name="Text 26"/>
          <p:cNvSpPr txBox="1"/>
          <p:nvPr/>
        </p:nvSpPr>
        <p:spPr>
          <a:xfrm>
            <a:off x="9208008" y="2176272"/>
            <a:ext cx="2221992" cy="566928"/>
          </a:xfrm>
          <a:prstGeom prst="rect">
            <a:avLst/>
          </a:prstGeom>
          <a:noFill/>
          <a:ln/>
        </p:spPr>
        <p:txBody>
          <a:bodyPr wrap="square" lIns="0" tIns="0" rIns="0" bIns="0" rtlCol="0" anchor="t"/>
          <a:lstStyle/>
          <a:p>
            <a:pPr indent="0" marL="0">
              <a:buNone/>
            </a:pPr>
            <a:r>
              <a:rPr lang="en-US" sz="1600" b="1" dirty="0">
                <a:solidFill>
                  <a:schemeClr val="tx2"/>
                </a:solidFill>
              </a:rPr>
              <a:t>Waiting on the GP</a:t>
            </a:r>
            <a:endParaRPr lang="en-US" sz="1600" dirty="0"/>
          </a:p>
        </p:txBody>
      </p:sp>
      <p:sp>
        <p:nvSpPr>
          <p:cNvPr id="29" name="Text 27"/>
          <p:cNvSpPr txBox="1"/>
          <p:nvPr/>
        </p:nvSpPr>
        <p:spPr>
          <a:xfrm>
            <a:off x="9208008" y="2761488"/>
            <a:ext cx="2221992" cy="274320"/>
          </a:xfrm>
          <a:prstGeom prst="rect">
            <a:avLst/>
          </a:prstGeom>
          <a:noFill/>
          <a:ln/>
        </p:spPr>
        <p:txBody>
          <a:bodyPr wrap="square" lIns="0" tIns="0" rIns="0" bIns="0" rtlCol="0" anchor="t"/>
          <a:lstStyle/>
          <a:p>
            <a:pPr indent="0" marL="0">
              <a:buNone/>
            </a:pPr>
            <a:r>
              <a:rPr lang="en-US" sz="1300" i="1" dirty="0">
                <a:solidFill>
                  <a:schemeClr val="accent5"/>
                </a:solidFill>
              </a:rPr>
              <a:t>Only the GP can answer</a:t>
            </a:r>
            <a:endParaRPr lang="en-US" sz="1300" dirty="0"/>
          </a:p>
        </p:txBody>
      </p:sp>
      <p:sp>
        <p:nvSpPr>
          <p:cNvPr id="30" name="Text 28"/>
          <p:cNvSpPr txBox="1"/>
          <p:nvPr/>
        </p:nvSpPr>
        <p:spPr>
          <a:xfrm>
            <a:off x="9208008" y="3154680"/>
            <a:ext cx="2267712" cy="128016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chemeClr val="tx1"/>
                </a:solidFill>
              </a:rPr>
              <a:t>Apax history (146)</a:t>
            </a:r>
            <a:endParaRPr lang="en-US" sz="1300" dirty="0"/>
          </a:p>
          <a:p>
            <a:pPr marL="342900" indent="-342900">
              <a:spcAft>
                <a:spcPts val="500"/>
              </a:spcAft>
              <a:buSzPct val="100000"/>
              <a:buChar char="•"/>
            </a:pPr>
            <a:r>
              <a:rPr lang="en-US" sz="1300" dirty="0">
                <a:solidFill>
                  <a:schemeClr val="tx1"/>
                </a:solidFill>
              </a:rPr>
              <a:t>Silverstone missing call (237)</a:t>
            </a:r>
            <a:endParaRPr lang="en-US" sz="1300" dirty="0"/>
          </a:p>
          <a:p>
            <a:pPr marL="342900" indent="-342900">
              <a:spcAft>
                <a:spcPts val="500"/>
              </a:spcAft>
              <a:buSzPct val="100000"/>
              <a:buChar char="•"/>
            </a:pPr>
            <a:r>
              <a:rPr lang="en-US" sz="1300" dirty="0">
                <a:solidFill>
                  <a:schemeClr val="tx1"/>
                </a:solidFill>
              </a:rPr>
              <a:t>No Q4'24 statements (11 of 12)</a:t>
            </a:r>
            <a:endParaRPr lang="en-US" sz="1300" dirty="0"/>
          </a:p>
        </p:txBody>
      </p:sp>
      <p:sp>
        <p:nvSpPr>
          <p:cNvPr id="31" name="Shape 29"/>
          <p:cNvSpPr/>
          <p:nvPr/>
        </p:nvSpPr>
        <p:spPr>
          <a:xfrm>
            <a:off x="548640" y="4910328"/>
            <a:ext cx="201168" cy="201168"/>
          </a:xfrm>
          <a:prstGeom prst="ellipse">
            <a:avLst/>
          </a:prstGeom>
          <a:solidFill>
            <a:schemeClr val="accent2"/>
          </a:solidFill>
          <a:ln w="9525">
            <a:solidFill>
              <a:schemeClr val="accent2"/>
            </a:solidFill>
            <a:prstDash val="solid"/>
          </a:ln>
        </p:spPr>
      </p:sp>
      <p:sp>
        <p:nvSpPr>
          <p:cNvPr id="32" name="Text 30"/>
          <p:cNvSpPr txBox="1"/>
          <p:nvPr/>
        </p:nvSpPr>
        <p:spPr>
          <a:xfrm>
            <a:off x="896112" y="4846320"/>
            <a:ext cx="10515600" cy="329184"/>
          </a:xfrm>
          <a:prstGeom prst="rect">
            <a:avLst/>
          </a:prstGeom>
          <a:noFill/>
          <a:ln/>
        </p:spPr>
        <p:txBody>
          <a:bodyPr wrap="square" lIns="0" tIns="0" rIns="0" bIns="0" rtlCol="0" anchor="ctr"/>
          <a:lstStyle/>
          <a:p>
            <a:pPr indent="0" marL="0">
              <a:buNone/>
            </a:pPr>
            <a:r>
              <a:rPr lang="en-US" sz="1500" b="1" dirty="0">
                <a:solidFill>
                  <a:schemeClr val="tx1"/>
                </a:solidFill>
              </a:rPr>
              <a:t>Blocks the report: </a:t>
            </a:r>
            <a:pPr indent="0" marL="0">
              <a:buNone/>
            </a:pPr>
            <a:r>
              <a:rPr lang="en-US" sz="1500" dirty="0">
                <a:solidFill>
                  <a:schemeClr val="tx1"/>
                </a:solidFill>
              </a:rPr>
              <a:t>anything that changes a number the client sees</a:t>
            </a:r>
            <a:endParaRPr lang="en-US" sz="1500" dirty="0"/>
          </a:p>
        </p:txBody>
      </p:sp>
      <p:sp>
        <p:nvSpPr>
          <p:cNvPr id="33" name="Shape 31"/>
          <p:cNvSpPr/>
          <p:nvPr/>
        </p:nvSpPr>
        <p:spPr>
          <a:xfrm>
            <a:off x="548640" y="5367528"/>
            <a:ext cx="201168" cy="201168"/>
          </a:xfrm>
          <a:prstGeom prst="ellipse">
            <a:avLst/>
          </a:prstGeom>
          <a:solidFill>
            <a:schemeClr val="accent3"/>
          </a:solidFill>
          <a:ln w="9525">
            <a:solidFill>
              <a:schemeClr val="accent3"/>
            </a:solidFill>
            <a:prstDash val="solid"/>
          </a:ln>
        </p:spPr>
      </p:sp>
      <p:sp>
        <p:nvSpPr>
          <p:cNvPr id="34" name="Text 32"/>
          <p:cNvSpPr txBox="1"/>
          <p:nvPr/>
        </p:nvSpPr>
        <p:spPr>
          <a:xfrm>
            <a:off x="896112" y="5303520"/>
            <a:ext cx="10515600" cy="329184"/>
          </a:xfrm>
          <a:prstGeom prst="rect">
            <a:avLst/>
          </a:prstGeom>
          <a:noFill/>
          <a:ln/>
        </p:spPr>
        <p:txBody>
          <a:bodyPr wrap="square" lIns="0" tIns="0" rIns="0" bIns="0" rtlCol="0" anchor="ctr"/>
          <a:lstStyle/>
          <a:p>
            <a:pPr indent="0" marL="0">
              <a:buNone/>
            </a:pPr>
            <a:r>
              <a:rPr lang="en-US" sz="1500" b="1" dirty="0">
                <a:solidFill>
                  <a:schemeClr val="tx1"/>
                </a:solidFill>
              </a:rPr>
              <a:t>Doesn't block: </a:t>
            </a:r>
            <a:pPr indent="0" marL="0">
              <a:buNone/>
            </a:pPr>
            <a:r>
              <a:rPr lang="en-US" sz="1500" dirty="0">
                <a:solidFill>
                  <a:schemeClr val="tx1"/>
                </a:solidFill>
              </a:rPr>
              <a:t>document hygiene; old breaks (Audax 2021) can be acknowledged</a:t>
            </a:r>
            <a:endParaRPr lang="en-US" sz="1500" dirty="0"/>
          </a:p>
        </p:txBody>
      </p:sp>
      <p:sp>
        <p:nvSpPr>
          <p:cNvPr id="35" name="Shape 33"/>
          <p:cNvSpPr/>
          <p:nvPr/>
        </p:nvSpPr>
        <p:spPr>
          <a:xfrm>
            <a:off x="548640" y="5824728"/>
            <a:ext cx="201168" cy="201168"/>
          </a:xfrm>
          <a:prstGeom prst="ellipse">
            <a:avLst/>
          </a:prstGeom>
          <a:solidFill>
            <a:schemeClr val="accent1"/>
          </a:solidFill>
          <a:ln w="9525">
            <a:solidFill>
              <a:schemeClr val="accent1"/>
            </a:solidFill>
            <a:prstDash val="solid"/>
          </a:ln>
        </p:spPr>
      </p:sp>
      <p:sp>
        <p:nvSpPr>
          <p:cNvPr id="36" name="Text 34"/>
          <p:cNvSpPr txBox="1"/>
          <p:nvPr/>
        </p:nvSpPr>
        <p:spPr>
          <a:xfrm>
            <a:off x="896112" y="5760720"/>
            <a:ext cx="10515600" cy="329184"/>
          </a:xfrm>
          <a:prstGeom prst="rect">
            <a:avLst/>
          </a:prstGeom>
          <a:noFill/>
          <a:ln/>
        </p:spPr>
        <p:txBody>
          <a:bodyPr wrap="square" lIns="0" tIns="0" rIns="0" bIns="0" rtlCol="0" anchor="ctr"/>
          <a:lstStyle/>
          <a:p>
            <a:pPr indent="0" marL="0">
              <a:buNone/>
            </a:pPr>
            <a:r>
              <a:rPr lang="en-US" sz="1500" b="1" dirty="0">
                <a:solidFill>
                  <a:schemeClr val="tx1"/>
                </a:solidFill>
              </a:rPr>
              <a:t>Money always needs one confirm click: </a:t>
            </a:r>
            <a:pPr indent="0" marL="0">
              <a:buNone/>
            </a:pPr>
            <a:r>
              <a:rPr lang="en-US" sz="1500" dirty="0">
                <a:solidFill>
                  <a:schemeClr val="tx1"/>
                </a:solidFill>
              </a:rPr>
              <a:t>and the GP's own figure is the default</a:t>
            </a:r>
            <a:endParaRPr lang="en-US" sz="1500" dirty="0"/>
          </a:p>
        </p:txBody>
      </p:sp>
      <p:sp>
        <p:nvSpPr>
          <p:cNvPr id="25" name="Slide Number Placeholder 0"/>
          <p:cNvSpPr>
            <a:spLocks noGrp="1"/>
          </p:cNvSpPr>
          <p:nvPr>
            <p:ph type="sldNum" sz="quarter" idx="4294967295"/>
          </p:nvPr>
        </p:nvSpPr>
        <p:spPr>
          <a:xfrm>
            <a:off x="11274552" y="6473952"/>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0972800" cy="274320"/>
          </a:xfrm>
          <a:prstGeom prst="rect">
            <a:avLst/>
          </a:prstGeom>
          <a:noFill/>
          <a:ln/>
        </p:spPr>
        <p:txBody>
          <a:bodyPr wrap="square" lIns="0" tIns="0" rIns="0" bIns="0" rtlCol="0"/>
          <a:lstStyle/>
          <a:p>
            <a:pPr indent="0" marL="0">
              <a:buNone/>
            </a:pPr>
            <a:r>
              <a:rPr lang="en-US" sz="1100" b="1" spc="200" kern="0" dirty="0">
                <a:solidFill>
                  <a:schemeClr val="accent1"/>
                </a:solidFill>
              </a:rPr>
              <a:t>PART 2 · THE ADVISOR'S REVIEW</a:t>
            </a:r>
            <a:endParaRPr lang="en-US" sz="1100" dirty="0"/>
          </a:p>
        </p:txBody>
      </p:sp>
      <p:sp>
        <p:nvSpPr>
          <p:cNvPr id="3" name="Text 0"/>
          <p:cNvSpPr/>
          <p:nvPr>
            <p:ph idx="101" type="title" hasCustomPrompt="1"/>
          </p:nvPr>
        </p:nvSpPr>
        <p:spPr>
          <a:xfrm>
            <a:off x="548640" y="621792"/>
            <a:ext cx="11064240" cy="640080"/>
          </a:xfrm>
          <a:prstGeom prst="rect">
            <a:avLst/>
          </a:prstGeom>
          <a:noFill/>
          <a:ln/>
        </p:spPr>
        <p:txBody>
          <a:bodyPr wrap="square" lIns="0" tIns="0" rIns="0" bIns="0" rtlCol="0" anchor="t"/>
          <a:lstStyle/>
          <a:p>
            <a:pPr algn="l" indent="0" marL="0">
              <a:buNone/>
            </a:pPr>
            <a:r>
              <a:rPr lang="en-US" sz="3200" b="1" dirty="0">
                <a:solidFill>
                  <a:schemeClr val="tx2"/>
                </a:solidFill>
                <a:latin typeface="Cambria" pitchFamily="34" charset="0"/>
                <a:ea typeface="Cambria" pitchFamily="34" charset="-122"/>
                <a:cs typeface="Cambria" pitchFamily="34" charset="-120"/>
              </a:rPr>
              <a:t>The review screen is how Bridge scales</a:t>
            </a:r>
            <a:endParaRPr lang="en-US" sz="3200" dirty="0"/>
          </a:p>
        </p:txBody>
      </p:sp>
      <p:sp>
        <p:nvSpPr>
          <p:cNvPr id="4" name="screen"/>
          <p:cNvSpPr/>
          <p:nvPr/>
        </p:nvSpPr>
        <p:spPr>
          <a:xfrm>
            <a:off x="548640" y="1417320"/>
            <a:ext cx="6858000" cy="3474720"/>
          </a:xfrm>
          <a:prstGeom prst="roundRect">
            <a:avLst>
              <a:gd name="adj" fmla="val 1579"/>
            </a:avLst>
          </a:prstGeom>
          <a:solidFill>
            <a:schemeClr val="bg1"/>
          </a:solidFill>
          <a:ln w="12700">
            <a:solidFill>
              <a:schemeClr val="accent4"/>
            </a:solidFill>
            <a:prstDash val="solid"/>
          </a:ln>
          <a:effectLst>
            <a:outerShdw sx="100000" sy="100000" kx="0" ky="0" algn="bl" rotWithShape="0" blurRad="76200" dist="25400" dir="5400000">
              <a:srgbClr val="000000">
                <a:alpha val="12000"/>
              </a:srgbClr>
            </a:outerShdw>
          </a:effectLst>
        </p:spPr>
      </p:sp>
      <p:sp>
        <p:nvSpPr>
          <p:cNvPr id="5" name="Shape 3"/>
          <p:cNvSpPr/>
          <p:nvPr/>
        </p:nvSpPr>
        <p:spPr>
          <a:xfrm>
            <a:off x="566928" y="1435608"/>
            <a:ext cx="6821424" cy="292608"/>
          </a:xfrm>
          <a:prstGeom prst="rect">
            <a:avLst/>
          </a:prstGeom>
          <a:solidFill>
            <a:schemeClr val="bg2"/>
          </a:solidFill>
          <a:ln w="12700">
            <a:solidFill>
              <a:schemeClr val="bg2"/>
            </a:solidFill>
            <a:prstDash val="solid"/>
          </a:ln>
        </p:spPr>
      </p:sp>
      <p:sp>
        <p:nvSpPr>
          <p:cNvPr id="6" name="Text 4"/>
          <p:cNvSpPr txBox="1"/>
          <p:nvPr/>
        </p:nvSpPr>
        <p:spPr>
          <a:xfrm>
            <a:off x="731520" y="1435608"/>
            <a:ext cx="4572000" cy="292608"/>
          </a:xfrm>
          <a:prstGeom prst="rect">
            <a:avLst/>
          </a:prstGeom>
          <a:noFill/>
          <a:ln/>
        </p:spPr>
        <p:txBody>
          <a:bodyPr wrap="square" lIns="0" tIns="0" rIns="0" bIns="0" rtlCol="0" anchor="ctr"/>
          <a:lstStyle/>
          <a:p>
            <a:pPr indent="0" marL="0">
              <a:buNone/>
            </a:pPr>
            <a:r>
              <a:rPr lang="en-US" sz="1000" b="1" dirty="0">
                <a:solidFill>
                  <a:schemeClr val="accent5"/>
                </a:solidFill>
              </a:rPr>
              <a:t>Harbor Ridge · Shah household · Review</a:t>
            </a:r>
            <a:endParaRPr lang="en-US" sz="1000" dirty="0"/>
          </a:p>
        </p:txBody>
      </p:sp>
      <p:sp>
        <p:nvSpPr>
          <p:cNvPr id="7" name="Text 5"/>
          <p:cNvSpPr txBox="1"/>
          <p:nvPr/>
        </p:nvSpPr>
        <p:spPr>
          <a:xfrm>
            <a:off x="685800" y="1874520"/>
            <a:ext cx="1737360" cy="182880"/>
          </a:xfrm>
          <a:prstGeom prst="rect">
            <a:avLst/>
          </a:prstGeom>
          <a:noFill/>
          <a:ln/>
        </p:spPr>
        <p:txBody>
          <a:bodyPr wrap="square" lIns="0" tIns="0" rIns="0" bIns="0" rtlCol="0" anchor="t"/>
          <a:lstStyle/>
          <a:p>
            <a:pPr indent="0" marL="0">
              <a:buNone/>
            </a:pPr>
            <a:r>
              <a:rPr lang="en-US" sz="900" b="1" spc="100" kern="0" dirty="0">
                <a:solidFill>
                  <a:schemeClr val="accent5"/>
                </a:solidFill>
              </a:rPr>
              <a:t>POSITIONS</a:t>
            </a:r>
            <a:endParaRPr lang="en-US" sz="900" dirty="0"/>
          </a:p>
        </p:txBody>
      </p:sp>
      <p:sp>
        <p:nvSpPr>
          <p:cNvPr id="8" name="Shape 6"/>
          <p:cNvSpPr/>
          <p:nvPr/>
        </p:nvSpPr>
        <p:spPr>
          <a:xfrm>
            <a:off x="630936" y="2103120"/>
            <a:ext cx="1828800" cy="329184"/>
          </a:xfrm>
          <a:prstGeom prst="roundRect">
            <a:avLst>
              <a:gd name="adj" fmla="val 22222"/>
            </a:avLst>
          </a:prstGeom>
          <a:solidFill>
            <a:schemeClr val="bg2"/>
          </a:solidFill>
          <a:ln w="6350">
            <a:solidFill>
              <a:schemeClr val="bg2"/>
            </a:solidFill>
            <a:prstDash val="solid"/>
          </a:ln>
        </p:spPr>
      </p:sp>
      <p:sp>
        <p:nvSpPr>
          <p:cNvPr id="9" name="Shape 7"/>
          <p:cNvSpPr/>
          <p:nvPr/>
        </p:nvSpPr>
        <p:spPr>
          <a:xfrm>
            <a:off x="685800" y="2212848"/>
            <a:ext cx="128016" cy="128016"/>
          </a:xfrm>
          <a:prstGeom prst="ellipse">
            <a:avLst/>
          </a:prstGeom>
          <a:solidFill>
            <a:schemeClr val="accent2"/>
          </a:solidFill>
          <a:ln w="9525">
            <a:solidFill>
              <a:schemeClr val="accent2"/>
            </a:solidFill>
            <a:prstDash val="solid"/>
          </a:ln>
        </p:spPr>
      </p:sp>
      <p:sp>
        <p:nvSpPr>
          <p:cNvPr id="10" name="Text 8"/>
          <p:cNvSpPr txBox="1"/>
          <p:nvPr/>
        </p:nvSpPr>
        <p:spPr>
          <a:xfrm>
            <a:off x="886968" y="2148840"/>
            <a:ext cx="1600200" cy="237744"/>
          </a:xfrm>
          <a:prstGeom prst="rect">
            <a:avLst/>
          </a:prstGeom>
          <a:noFill/>
          <a:ln/>
        </p:spPr>
        <p:txBody>
          <a:bodyPr wrap="square" lIns="0" tIns="0" rIns="0" bIns="0" rtlCol="0" anchor="ctr"/>
          <a:lstStyle/>
          <a:p>
            <a:pPr indent="0" marL="0">
              <a:buNone/>
            </a:pPr>
            <a:r>
              <a:rPr lang="en-US" sz="1000" b="1" dirty="0">
                <a:solidFill>
                  <a:schemeClr val="tx1"/>
                </a:solidFill>
              </a:rPr>
              <a:t>Stonebridge · PS Hold.</a:t>
            </a:r>
            <a:endParaRPr lang="en-US" sz="1000" dirty="0"/>
          </a:p>
        </p:txBody>
      </p:sp>
      <p:sp>
        <p:nvSpPr>
          <p:cNvPr id="11" name="Shape 9"/>
          <p:cNvSpPr/>
          <p:nvPr/>
        </p:nvSpPr>
        <p:spPr>
          <a:xfrm>
            <a:off x="685800" y="2596896"/>
            <a:ext cx="128016" cy="128016"/>
          </a:xfrm>
          <a:prstGeom prst="ellipse">
            <a:avLst/>
          </a:prstGeom>
          <a:solidFill>
            <a:schemeClr val="accent2"/>
          </a:solidFill>
          <a:ln w="9525">
            <a:solidFill>
              <a:schemeClr val="accent2"/>
            </a:solidFill>
            <a:prstDash val="solid"/>
          </a:ln>
        </p:spPr>
      </p:sp>
      <p:sp>
        <p:nvSpPr>
          <p:cNvPr id="12" name="Text 10"/>
          <p:cNvSpPr txBox="1"/>
          <p:nvPr/>
        </p:nvSpPr>
        <p:spPr>
          <a:xfrm>
            <a:off x="886968" y="2532888"/>
            <a:ext cx="1600200" cy="237744"/>
          </a:xfrm>
          <a:prstGeom prst="rect">
            <a:avLst/>
          </a:prstGeom>
          <a:noFill/>
          <a:ln/>
        </p:spPr>
        <p:txBody>
          <a:bodyPr wrap="square" lIns="0" tIns="0" rIns="0" bIns="0" rtlCol="0" anchor="ctr"/>
          <a:lstStyle/>
          <a:p>
            <a:pPr indent="0" marL="0">
              <a:buNone/>
            </a:pPr>
            <a:r>
              <a:rPr lang="en-US" sz="1000" dirty="0">
                <a:solidFill>
                  <a:schemeClr val="tx1"/>
                </a:solidFill>
              </a:rPr>
              <a:t>Stonebridge · PS Trust</a:t>
            </a:r>
            <a:endParaRPr lang="en-US" sz="1000" dirty="0"/>
          </a:p>
        </p:txBody>
      </p:sp>
      <p:sp>
        <p:nvSpPr>
          <p:cNvPr id="13" name="Shape 11"/>
          <p:cNvSpPr/>
          <p:nvPr/>
        </p:nvSpPr>
        <p:spPr>
          <a:xfrm>
            <a:off x="685800" y="2980944"/>
            <a:ext cx="128016" cy="128016"/>
          </a:xfrm>
          <a:prstGeom prst="ellipse">
            <a:avLst/>
          </a:prstGeom>
          <a:solidFill>
            <a:schemeClr val="accent2"/>
          </a:solidFill>
          <a:ln w="9525">
            <a:solidFill>
              <a:schemeClr val="accent2"/>
            </a:solidFill>
            <a:prstDash val="solid"/>
          </a:ln>
        </p:spPr>
      </p:sp>
      <p:sp>
        <p:nvSpPr>
          <p:cNvPr id="14" name="Text 12"/>
          <p:cNvSpPr txBox="1"/>
          <p:nvPr/>
        </p:nvSpPr>
        <p:spPr>
          <a:xfrm>
            <a:off x="886968" y="2916936"/>
            <a:ext cx="1600200" cy="237744"/>
          </a:xfrm>
          <a:prstGeom prst="rect">
            <a:avLst/>
          </a:prstGeom>
          <a:noFill/>
          <a:ln/>
        </p:spPr>
        <p:txBody>
          <a:bodyPr wrap="square" lIns="0" tIns="0" rIns="0" bIns="0" rtlCol="0" anchor="ctr"/>
          <a:lstStyle/>
          <a:p>
            <a:pPr indent="0" marL="0">
              <a:buNone/>
            </a:pPr>
            <a:r>
              <a:rPr lang="en-US" sz="1000" dirty="0">
                <a:solidFill>
                  <a:schemeClr val="tx1"/>
                </a:solidFill>
              </a:rPr>
              <a:t>Northwell · Priyanka</a:t>
            </a:r>
            <a:endParaRPr lang="en-US" sz="1000" dirty="0"/>
          </a:p>
        </p:txBody>
      </p:sp>
      <p:sp>
        <p:nvSpPr>
          <p:cNvPr id="15" name="Shape 13"/>
          <p:cNvSpPr/>
          <p:nvPr/>
        </p:nvSpPr>
        <p:spPr>
          <a:xfrm>
            <a:off x="685800" y="3364992"/>
            <a:ext cx="128016" cy="128016"/>
          </a:xfrm>
          <a:prstGeom prst="ellipse">
            <a:avLst/>
          </a:prstGeom>
          <a:solidFill>
            <a:schemeClr val="accent4"/>
          </a:solidFill>
          <a:ln w="9525">
            <a:solidFill>
              <a:schemeClr val="accent4"/>
            </a:solidFill>
            <a:prstDash val="solid"/>
          </a:ln>
        </p:spPr>
      </p:sp>
      <p:sp>
        <p:nvSpPr>
          <p:cNvPr id="16" name="Text 14"/>
          <p:cNvSpPr txBox="1"/>
          <p:nvPr/>
        </p:nvSpPr>
        <p:spPr>
          <a:xfrm>
            <a:off x="886968" y="3300984"/>
            <a:ext cx="1600200" cy="237744"/>
          </a:xfrm>
          <a:prstGeom prst="rect">
            <a:avLst/>
          </a:prstGeom>
          <a:noFill/>
          <a:ln/>
        </p:spPr>
        <p:txBody>
          <a:bodyPr wrap="square" lIns="0" tIns="0" rIns="0" bIns="0" rtlCol="0" anchor="ctr"/>
          <a:lstStyle/>
          <a:p>
            <a:pPr indent="0" marL="0">
              <a:buNone/>
            </a:pPr>
            <a:r>
              <a:rPr lang="en-US" sz="1000" dirty="0">
                <a:solidFill>
                  <a:schemeClr val="tx1"/>
                </a:solidFill>
              </a:rPr>
              <a:t>Apax XI · waiting on GP</a:t>
            </a:r>
            <a:endParaRPr lang="en-US" sz="1000" dirty="0"/>
          </a:p>
        </p:txBody>
      </p:sp>
      <p:sp>
        <p:nvSpPr>
          <p:cNvPr id="17" name="Shape 15"/>
          <p:cNvSpPr/>
          <p:nvPr/>
        </p:nvSpPr>
        <p:spPr>
          <a:xfrm>
            <a:off x="685800" y="3749040"/>
            <a:ext cx="128016" cy="128016"/>
          </a:xfrm>
          <a:prstGeom prst="ellipse">
            <a:avLst/>
          </a:prstGeom>
          <a:solidFill>
            <a:schemeClr val="accent1"/>
          </a:solidFill>
          <a:ln w="9525">
            <a:solidFill>
              <a:schemeClr val="accent1"/>
            </a:solidFill>
            <a:prstDash val="solid"/>
          </a:ln>
        </p:spPr>
      </p:sp>
      <p:sp>
        <p:nvSpPr>
          <p:cNvPr id="18" name="Text 16"/>
          <p:cNvSpPr txBox="1"/>
          <p:nvPr/>
        </p:nvSpPr>
        <p:spPr>
          <a:xfrm>
            <a:off x="886968" y="3685032"/>
            <a:ext cx="1600200" cy="237744"/>
          </a:xfrm>
          <a:prstGeom prst="rect">
            <a:avLst/>
          </a:prstGeom>
          <a:noFill/>
          <a:ln/>
        </p:spPr>
        <p:txBody>
          <a:bodyPr wrap="square" lIns="0" tIns="0" rIns="0" bIns="0" rtlCol="0" anchor="ctr"/>
          <a:lstStyle/>
          <a:p>
            <a:pPr indent="0" marL="0">
              <a:buNone/>
            </a:pPr>
            <a:r>
              <a:rPr lang="en-US" sz="1000" dirty="0">
                <a:solidFill>
                  <a:schemeClr val="tx1"/>
                </a:solidFill>
              </a:rPr>
              <a:t>Ashbourne</a:t>
            </a:r>
            <a:endParaRPr lang="en-US" sz="1000" dirty="0"/>
          </a:p>
        </p:txBody>
      </p:sp>
      <p:sp>
        <p:nvSpPr>
          <p:cNvPr id="19" name="Shape 17"/>
          <p:cNvSpPr/>
          <p:nvPr/>
        </p:nvSpPr>
        <p:spPr>
          <a:xfrm>
            <a:off x="685800" y="4133088"/>
            <a:ext cx="128016" cy="128016"/>
          </a:xfrm>
          <a:prstGeom prst="ellipse">
            <a:avLst/>
          </a:prstGeom>
          <a:solidFill>
            <a:schemeClr val="accent1"/>
          </a:solidFill>
          <a:ln w="9525">
            <a:solidFill>
              <a:schemeClr val="accent1"/>
            </a:solidFill>
            <a:prstDash val="solid"/>
          </a:ln>
        </p:spPr>
      </p:sp>
      <p:sp>
        <p:nvSpPr>
          <p:cNvPr id="20" name="Text 18"/>
          <p:cNvSpPr txBox="1"/>
          <p:nvPr/>
        </p:nvSpPr>
        <p:spPr>
          <a:xfrm>
            <a:off x="886968" y="4069080"/>
            <a:ext cx="1600200" cy="237744"/>
          </a:xfrm>
          <a:prstGeom prst="rect">
            <a:avLst/>
          </a:prstGeom>
          <a:noFill/>
          <a:ln/>
        </p:spPr>
        <p:txBody>
          <a:bodyPr wrap="square" lIns="0" tIns="0" rIns="0" bIns="0" rtlCol="0" anchor="ctr"/>
          <a:lstStyle/>
          <a:p>
            <a:pPr indent="0" marL="0">
              <a:buNone/>
            </a:pPr>
            <a:r>
              <a:rPr lang="en-US" sz="1000" dirty="0">
                <a:solidFill>
                  <a:schemeClr val="tx1"/>
                </a:solidFill>
              </a:rPr>
              <a:t>Falcon Ridge</a:t>
            </a:r>
            <a:endParaRPr lang="en-US" sz="1000" dirty="0"/>
          </a:p>
        </p:txBody>
      </p:sp>
      <p:sp>
        <p:nvSpPr>
          <p:cNvPr id="21" name="Shape 19"/>
          <p:cNvSpPr/>
          <p:nvPr/>
        </p:nvSpPr>
        <p:spPr>
          <a:xfrm>
            <a:off x="2560320" y="1828800"/>
            <a:ext cx="0" cy="2926080"/>
          </a:xfrm>
          <a:prstGeom prst="line">
            <a:avLst/>
          </a:prstGeom>
          <a:noFill/>
          <a:ln w="12700">
            <a:solidFill>
              <a:schemeClr val="bg2"/>
            </a:solidFill>
            <a:prstDash val="solid"/>
          </a:ln>
        </p:spPr>
      </p:sp>
      <p:sp>
        <p:nvSpPr>
          <p:cNvPr id="22" name="Text 20"/>
          <p:cNvSpPr txBox="1"/>
          <p:nvPr/>
        </p:nvSpPr>
        <p:spPr>
          <a:xfrm>
            <a:off x="2697480" y="1874520"/>
            <a:ext cx="2560320" cy="228600"/>
          </a:xfrm>
          <a:prstGeom prst="rect">
            <a:avLst/>
          </a:prstGeom>
          <a:noFill/>
          <a:ln/>
        </p:spPr>
        <p:txBody>
          <a:bodyPr wrap="square" lIns="0" tIns="0" rIns="0" bIns="0" rtlCol="0" anchor="t"/>
          <a:lstStyle/>
          <a:p>
            <a:pPr indent="0" marL="0">
              <a:buNone/>
            </a:pPr>
            <a:r>
              <a:rPr lang="en-US" sz="1100" b="1" dirty="0">
                <a:solidFill>
                  <a:schemeClr val="tx2"/>
                </a:solidFill>
              </a:rPr>
              <a:t>Stonebridge · PS Holdings LLC</a:t>
            </a:r>
            <a:endParaRPr lang="en-US" sz="11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2697480" y="2194560"/>
          <a:ext cx="2606040" cy="914400"/>
        </p:xfrm>
        <a:graphic>
          <a:graphicData uri="http://schemas.openxmlformats.org/drawingml/2006/table">
            <a:tbl>
              <a:tblPr/>
              <a:tblGrid>
                <a:gridCol w="685800"/>
                <a:gridCol w="777240"/>
                <a:gridCol w="777240"/>
                <a:gridCol w="365760"/>
              </a:tblGrid>
              <a:tr h="274320">
                <a:tc>
                  <a:txBody>
                    <a:bodyPr/>
                    <a:lstStyle/>
                    <a:p>
                      <a:pPr indent="0" marL="0">
                        <a:buNone/>
                      </a:pPr>
                      <a:r>
                        <a:rPr lang="en-US" sz="900" b="1" dirty="0">
                          <a:solidFill>
                            <a:srgbClr val="5B6B64"/>
                          </a:solidFill>
                          <a:latin typeface="Calibri" pitchFamily="34" charset="0"/>
                          <a:ea typeface="Calibri" pitchFamily="34" charset="-122"/>
                          <a:cs typeface="Calibri" pitchFamily="34" charset="-120"/>
                        </a:rPr>
                        <a:t>As of</a:t>
                      </a:r>
                      <a:endParaRPr lang="en-US" sz="900" dirty="0">
                        <a:latin typeface="Calibri" charset="0"/>
                        <a:ea typeface="Calibri" charset="0"/>
                        <a:cs typeface="Calibri" charset="0"/>
                      </a:endParaRPr>
                    </a:p>
                  </a:txBody>
                  <a:tcPr marL="45720" marR="45720" marT="0" marB="0">
                    <a:lnL w="6350" cap="flat" cmpd="sng" algn="ctr">
                      <a:solidFill>
                        <a:srgbClr val="EEF2EF"/>
                      </a:solidFill>
                      <a:prstDash val="solid"/>
                      <a:round/>
                      <a:headEnd type="none" w="med" len="med"/>
                      <a:tailEnd type="none" w="med" len="med"/>
                    </a:lnL>
                    <a:lnR w="6350" cap="flat" cmpd="sng" algn="ctr">
                      <a:solidFill>
                        <a:srgbClr val="EEF2EF"/>
                      </a:solidFill>
                      <a:prstDash val="solid"/>
                      <a:round/>
                      <a:headEnd type="none" w="med" len="med"/>
                      <a:tailEnd type="none" w="med" len="med"/>
                    </a:lnR>
                    <a:lnT w="6350" cap="flat" cmpd="sng" algn="ctr">
                      <a:solidFill>
                        <a:srgbClr val="EEF2EF"/>
                      </a:solidFill>
                      <a:prstDash val="solid"/>
                      <a:round/>
                      <a:headEnd type="none" w="med" len="med"/>
                      <a:tailEnd type="none" w="med" len="med"/>
                    </a:lnT>
                    <a:lnB w="6350" cap="flat" cmpd="sng" algn="ctr">
                      <a:solidFill>
                        <a:srgbClr val="EEF2EF"/>
                      </a:solidFill>
                      <a:prstDash val="solid"/>
                      <a:round/>
                      <a:headEnd type="none" w="med" len="med"/>
                      <a:tailEnd type="none" w="med" len="med"/>
                    </a:lnB>
                  </a:tcPr>
                </a:tc>
                <a:tc>
                  <a:txBody>
                    <a:bodyPr/>
                    <a:lstStyle/>
                    <a:p>
                      <a:pPr algn="r" indent="0" marL="0">
                        <a:buNone/>
                      </a:pPr>
                      <a:r>
                        <a:rPr lang="en-US" sz="900" b="1" dirty="0">
                          <a:solidFill>
                            <a:srgbClr val="5B6B64"/>
                          </a:solidFill>
                          <a:latin typeface="Calibri" pitchFamily="34" charset="0"/>
                          <a:ea typeface="Calibri" pitchFamily="34" charset="-122"/>
                          <a:cs typeface="Calibri" pitchFamily="34" charset="-120"/>
                        </a:rPr>
                        <a:t>Statement</a:t>
                      </a:r>
                      <a:endParaRPr lang="en-US" sz="900" dirty="0">
                        <a:latin typeface="Calibri" charset="0"/>
                        <a:ea typeface="Calibri" charset="0"/>
                        <a:cs typeface="Calibri" charset="0"/>
                      </a:endParaRPr>
                    </a:p>
                  </a:txBody>
                  <a:tcPr marL="45720" marR="45720" marT="0" marB="0">
                    <a:lnL w="6350" cap="flat" cmpd="sng" algn="ctr">
                      <a:solidFill>
                        <a:srgbClr val="EEF2EF"/>
                      </a:solidFill>
                      <a:prstDash val="solid"/>
                      <a:round/>
                      <a:headEnd type="none" w="med" len="med"/>
                      <a:tailEnd type="none" w="med" len="med"/>
                    </a:lnL>
                    <a:lnR w="6350" cap="flat" cmpd="sng" algn="ctr">
                      <a:solidFill>
                        <a:srgbClr val="EEF2EF"/>
                      </a:solidFill>
                      <a:prstDash val="solid"/>
                      <a:round/>
                      <a:headEnd type="none" w="med" len="med"/>
                      <a:tailEnd type="none" w="med" len="med"/>
                    </a:lnR>
                    <a:lnT w="6350" cap="flat" cmpd="sng" algn="ctr">
                      <a:solidFill>
                        <a:srgbClr val="EEF2EF"/>
                      </a:solidFill>
                      <a:prstDash val="solid"/>
                      <a:round/>
                      <a:headEnd type="none" w="med" len="med"/>
                      <a:tailEnd type="none" w="med" len="med"/>
                    </a:lnT>
                    <a:lnB w="6350" cap="flat" cmpd="sng" algn="ctr">
                      <a:solidFill>
                        <a:srgbClr val="EEF2EF"/>
                      </a:solidFill>
                      <a:prstDash val="solid"/>
                      <a:round/>
                      <a:headEnd type="none" w="med" len="med"/>
                      <a:tailEnd type="none" w="med" len="med"/>
                    </a:lnB>
                  </a:tcPr>
                </a:tc>
                <a:tc>
                  <a:txBody>
                    <a:bodyPr/>
                    <a:lstStyle/>
                    <a:p>
                      <a:pPr algn="r" indent="0" marL="0">
                        <a:buNone/>
                      </a:pPr>
                      <a:r>
                        <a:rPr lang="en-US" sz="900" b="1" dirty="0">
                          <a:solidFill>
                            <a:srgbClr val="5B6B64"/>
                          </a:solidFill>
                          <a:latin typeface="Calibri" pitchFamily="34" charset="0"/>
                          <a:ea typeface="Calibri" pitchFamily="34" charset="-122"/>
                          <a:cs typeface="Calibri" pitchFamily="34" charset="-120"/>
                        </a:rPr>
                        <a:t>Notices</a:t>
                      </a:r>
                      <a:endParaRPr lang="en-US" sz="900" dirty="0">
                        <a:latin typeface="Calibri" charset="0"/>
                        <a:ea typeface="Calibri" charset="0"/>
                        <a:cs typeface="Calibri" charset="0"/>
                      </a:endParaRPr>
                    </a:p>
                  </a:txBody>
                  <a:tcPr marL="45720" marR="45720" marT="0" marB="0">
                    <a:lnL w="6350" cap="flat" cmpd="sng" algn="ctr">
                      <a:solidFill>
                        <a:srgbClr val="EEF2EF"/>
                      </a:solidFill>
                      <a:prstDash val="solid"/>
                      <a:round/>
                      <a:headEnd type="none" w="med" len="med"/>
                      <a:tailEnd type="none" w="med" len="med"/>
                    </a:lnL>
                    <a:lnR w="6350" cap="flat" cmpd="sng" algn="ctr">
                      <a:solidFill>
                        <a:srgbClr val="EEF2EF"/>
                      </a:solidFill>
                      <a:prstDash val="solid"/>
                      <a:round/>
                      <a:headEnd type="none" w="med" len="med"/>
                      <a:tailEnd type="none" w="med" len="med"/>
                    </a:lnR>
                    <a:lnT w="6350" cap="flat" cmpd="sng" algn="ctr">
                      <a:solidFill>
                        <a:srgbClr val="EEF2EF"/>
                      </a:solidFill>
                      <a:prstDash val="solid"/>
                      <a:round/>
                      <a:headEnd type="none" w="med" len="med"/>
                      <a:tailEnd type="none" w="med" len="med"/>
                    </a:lnT>
                    <a:lnB w="6350" cap="flat" cmpd="sng" algn="ctr">
                      <a:solidFill>
                        <a:srgbClr val="EEF2EF"/>
                      </a:solidFill>
                      <a:prstDash val="solid"/>
                      <a:round/>
                      <a:headEnd type="none" w="med" len="med"/>
                      <a:tailEnd type="none" w="med" len="med"/>
                    </a:lnB>
                  </a:tcPr>
                </a:tc>
                <a:tc>
                  <a:txBody>
                    <a:bodyPr/>
                    <a:lstStyle/>
                    <a:p>
                      <a:pPr indent="0" marL="0">
                        <a:buNone/>
                      </a:pPr>
                      <a:endParaRPr lang="en-US" sz="900" dirty="0">
                        <a:latin typeface="Calibri" charset="0"/>
                        <a:ea typeface="Calibri" charset="0"/>
                        <a:cs typeface="Calibri" charset="0"/>
                      </a:endParaRPr>
                    </a:p>
                  </a:txBody>
                  <a:tcPr marL="45720" marR="45720" marT="0" marB="0">
                    <a:lnL w="6350" cap="flat" cmpd="sng" algn="ctr">
                      <a:solidFill>
                        <a:srgbClr val="EEF2EF"/>
                      </a:solidFill>
                      <a:prstDash val="solid"/>
                      <a:round/>
                      <a:headEnd type="none" w="med" len="med"/>
                      <a:tailEnd type="none" w="med" len="med"/>
                    </a:lnL>
                    <a:lnR w="6350" cap="flat" cmpd="sng" algn="ctr">
                      <a:solidFill>
                        <a:srgbClr val="EEF2EF"/>
                      </a:solidFill>
                      <a:prstDash val="solid"/>
                      <a:round/>
                      <a:headEnd type="none" w="med" len="med"/>
                      <a:tailEnd type="none" w="med" len="med"/>
                    </a:lnR>
                    <a:lnT w="6350" cap="flat" cmpd="sng" algn="ctr">
                      <a:solidFill>
                        <a:srgbClr val="EEF2EF"/>
                      </a:solidFill>
                      <a:prstDash val="solid"/>
                      <a:round/>
                      <a:headEnd type="none" w="med" len="med"/>
                      <a:tailEnd type="none" w="med" len="med"/>
                    </a:lnT>
                    <a:lnB w="6350" cap="flat" cmpd="sng" algn="ctr">
                      <a:solidFill>
                        <a:srgbClr val="EEF2EF"/>
                      </a:solidFill>
                      <a:prstDash val="solid"/>
                      <a:round/>
                      <a:headEnd type="none" w="med" len="med"/>
                      <a:tailEnd type="none" w="med" len="med"/>
                    </a:lnB>
                  </a:tcPr>
                </a:tc>
              </a:tr>
              <a:tr h="27432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12/31/23</a:t>
                      </a:r>
                      <a:endParaRPr lang="en-US" sz="1000" dirty="0">
                        <a:latin typeface="Calibri" charset="0"/>
                        <a:ea typeface="Calibri" charset="0"/>
                        <a:cs typeface="Calibri" charset="0"/>
                      </a:endParaRPr>
                    </a:p>
                  </a:txBody>
                  <a:tcPr marL="45720" marR="45720" marT="0" marB="0">
                    <a:lnL w="6350" cap="flat" cmpd="sng" algn="ctr">
                      <a:solidFill>
                        <a:srgbClr val="EEF2EF"/>
                      </a:solidFill>
                      <a:prstDash val="solid"/>
                      <a:round/>
                      <a:headEnd type="none" w="med" len="med"/>
                      <a:tailEnd type="none" w="med" len="med"/>
                    </a:lnL>
                    <a:lnR w="6350" cap="flat" cmpd="sng" algn="ctr">
                      <a:solidFill>
                        <a:srgbClr val="EEF2EF"/>
                      </a:solidFill>
                      <a:prstDash val="solid"/>
                      <a:round/>
                      <a:headEnd type="none" w="med" len="med"/>
                      <a:tailEnd type="none" w="med" len="med"/>
                    </a:lnR>
                    <a:lnT w="6350" cap="flat" cmpd="sng" algn="ctr">
                      <a:solidFill>
                        <a:srgbClr val="EEF2EF"/>
                      </a:solidFill>
                      <a:prstDash val="solid"/>
                      <a:round/>
                      <a:headEnd type="none" w="med" len="med"/>
                      <a:tailEnd type="none" w="med" len="med"/>
                    </a:lnT>
                    <a:lnB w="6350" cap="flat" cmpd="sng" algn="ctr">
                      <a:solidFill>
                        <a:srgbClr val="EEF2EF"/>
                      </a:solidFill>
                      <a:prstDash val="solid"/>
                      <a:round/>
                      <a:headEnd type="none" w="med" len="med"/>
                      <a:tailEnd type="none" w="med" len="med"/>
                    </a:lnB>
                  </a:tcPr>
                </a:tc>
                <a:tc>
                  <a:txBody>
                    <a:bodyPr/>
                    <a:lstStyle/>
                    <a:p>
                      <a:pPr algn="r" indent="0" marL="0">
                        <a:buNone/>
                      </a:pPr>
                      <a:r>
                        <a:rPr lang="en-US" sz="1000" dirty="0">
                          <a:solidFill>
                            <a:srgbClr val="1B2420"/>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45720" marR="45720" marT="0" marB="0">
                    <a:lnL w="6350" cap="flat" cmpd="sng" algn="ctr">
                      <a:solidFill>
                        <a:srgbClr val="EEF2EF"/>
                      </a:solidFill>
                      <a:prstDash val="solid"/>
                      <a:round/>
                      <a:headEnd type="none" w="med" len="med"/>
                      <a:tailEnd type="none" w="med" len="med"/>
                    </a:lnL>
                    <a:lnR w="6350" cap="flat" cmpd="sng" algn="ctr">
                      <a:solidFill>
                        <a:srgbClr val="EEF2EF"/>
                      </a:solidFill>
                      <a:prstDash val="solid"/>
                      <a:round/>
                      <a:headEnd type="none" w="med" len="med"/>
                      <a:tailEnd type="none" w="med" len="med"/>
                    </a:lnR>
                    <a:lnT w="6350" cap="flat" cmpd="sng" algn="ctr">
                      <a:solidFill>
                        <a:srgbClr val="EEF2EF"/>
                      </a:solidFill>
                      <a:prstDash val="solid"/>
                      <a:round/>
                      <a:headEnd type="none" w="med" len="med"/>
                      <a:tailEnd type="none" w="med" len="med"/>
                    </a:lnT>
                    <a:lnB w="6350" cap="flat" cmpd="sng" algn="ctr">
                      <a:solidFill>
                        <a:srgbClr val="EEF2EF"/>
                      </a:solidFill>
                      <a:prstDash val="solid"/>
                      <a:round/>
                      <a:headEnd type="none" w="med" len="med"/>
                      <a:tailEnd type="none" w="med" len="med"/>
                    </a:lnB>
                  </a:tcPr>
                </a:tc>
                <a:tc>
                  <a:txBody>
                    <a:bodyPr/>
                    <a:lstStyle/>
                    <a:p>
                      <a:pPr algn="r" indent="0" marL="0">
                        <a:buNone/>
                      </a:pPr>
                      <a:r>
                        <a:rPr lang="en-US" sz="1000" dirty="0">
                          <a:solidFill>
                            <a:srgbClr val="000000"/>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45720" marR="45720" marT="0" marB="0">
                    <a:lnL w="6350" cap="flat" cmpd="sng" algn="ctr">
                      <a:solidFill>
                        <a:srgbClr val="EEF2EF"/>
                      </a:solidFill>
                      <a:prstDash val="solid"/>
                      <a:round/>
                      <a:headEnd type="none" w="med" len="med"/>
                      <a:tailEnd type="none" w="med" len="med"/>
                    </a:lnL>
                    <a:lnR w="6350" cap="flat" cmpd="sng" algn="ctr">
                      <a:solidFill>
                        <a:srgbClr val="EEF2EF"/>
                      </a:solidFill>
                      <a:prstDash val="solid"/>
                      <a:round/>
                      <a:headEnd type="none" w="med" len="med"/>
                      <a:tailEnd type="none" w="med" len="med"/>
                    </a:lnR>
                    <a:lnT w="6350" cap="flat" cmpd="sng" algn="ctr">
                      <a:solidFill>
                        <a:srgbClr val="EEF2EF"/>
                      </a:solidFill>
                      <a:prstDash val="solid"/>
                      <a:round/>
                      <a:headEnd type="none" w="med" len="med"/>
                      <a:tailEnd type="none" w="med" len="med"/>
                    </a:lnT>
                    <a:lnB w="6350" cap="flat" cmpd="sng" algn="ctr">
                      <a:solidFill>
                        <a:srgbClr val="EEF2EF"/>
                      </a:solidFill>
                      <a:prstDash val="solid"/>
                      <a:round/>
                      <a:headEnd type="none" w="med" len="med"/>
                      <a:tailEnd type="none" w="med" len="med"/>
                    </a:lnB>
                  </a:tcPr>
                </a:tc>
                <a:tc>
                  <a:txBody>
                    <a:bodyPr/>
                    <a:lstStyle/>
                    <a:p>
                      <a:pPr algn="ctr" indent="0" marL="0">
                        <a:buNone/>
                      </a:pPr>
                      <a:r>
                        <a:rPr lang="en-US" sz="1000" b="1" dirty="0">
                          <a:solidFill>
                            <a:srgbClr val="1F7A5C"/>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45720" marR="45720" marT="0" marB="0">
                    <a:lnL w="6350" cap="flat" cmpd="sng" algn="ctr">
                      <a:solidFill>
                        <a:srgbClr val="EEF2EF"/>
                      </a:solidFill>
                      <a:prstDash val="solid"/>
                      <a:round/>
                      <a:headEnd type="none" w="med" len="med"/>
                      <a:tailEnd type="none" w="med" len="med"/>
                    </a:lnL>
                    <a:lnR w="6350" cap="flat" cmpd="sng" algn="ctr">
                      <a:solidFill>
                        <a:srgbClr val="EEF2EF"/>
                      </a:solidFill>
                      <a:prstDash val="solid"/>
                      <a:round/>
                      <a:headEnd type="none" w="med" len="med"/>
                      <a:tailEnd type="none" w="med" len="med"/>
                    </a:lnR>
                    <a:lnT w="6350" cap="flat" cmpd="sng" algn="ctr">
                      <a:solidFill>
                        <a:srgbClr val="EEF2EF"/>
                      </a:solidFill>
                      <a:prstDash val="solid"/>
                      <a:round/>
                      <a:headEnd type="none" w="med" len="med"/>
                      <a:tailEnd type="none" w="med" len="med"/>
                    </a:lnT>
                    <a:lnB w="6350" cap="flat" cmpd="sng" algn="ctr">
                      <a:solidFill>
                        <a:srgbClr val="EEF2EF"/>
                      </a:solidFill>
                      <a:prstDash val="solid"/>
                      <a:round/>
                      <a:headEnd type="none" w="med" len="med"/>
                      <a:tailEnd type="none" w="med" len="med"/>
                    </a:lnB>
                  </a:tcPr>
                </a:tc>
              </a:tr>
              <a:tr h="27432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3/31/24</a:t>
                      </a:r>
                      <a:endParaRPr lang="en-US" sz="1000" dirty="0">
                        <a:latin typeface="Calibri" charset="0"/>
                        <a:ea typeface="Calibri" charset="0"/>
                        <a:cs typeface="Calibri" charset="0"/>
                      </a:endParaRPr>
                    </a:p>
                  </a:txBody>
                  <a:tcPr marL="45720" marR="45720" marT="0" marB="0">
                    <a:lnL w="6350" cap="flat" cmpd="sng" algn="ctr">
                      <a:solidFill>
                        <a:srgbClr val="EEF2EF"/>
                      </a:solidFill>
                      <a:prstDash val="solid"/>
                      <a:round/>
                      <a:headEnd type="none" w="med" len="med"/>
                      <a:tailEnd type="none" w="med" len="med"/>
                    </a:lnL>
                    <a:lnR w="6350" cap="flat" cmpd="sng" algn="ctr">
                      <a:solidFill>
                        <a:srgbClr val="EEF2EF"/>
                      </a:solidFill>
                      <a:prstDash val="solid"/>
                      <a:round/>
                      <a:headEnd type="none" w="med" len="med"/>
                      <a:tailEnd type="none" w="med" len="med"/>
                    </a:lnR>
                    <a:lnT w="6350" cap="flat" cmpd="sng" algn="ctr">
                      <a:solidFill>
                        <a:srgbClr val="EEF2EF"/>
                      </a:solidFill>
                      <a:prstDash val="solid"/>
                      <a:round/>
                      <a:headEnd type="none" w="med" len="med"/>
                      <a:tailEnd type="none" w="med" len="med"/>
                    </a:lnT>
                    <a:lnB w="6350" cap="flat" cmpd="sng" algn="ctr">
                      <a:solidFill>
                        <a:srgbClr val="EEF2EF"/>
                      </a:solidFill>
                      <a:prstDash val="solid"/>
                      <a:round/>
                      <a:headEnd type="none" w="med" len="med"/>
                      <a:tailEnd type="none" w="med" len="med"/>
                    </a:lnB>
                  </a:tcPr>
                </a:tc>
                <a:tc>
                  <a:txBody>
                    <a:bodyPr/>
                    <a:lstStyle/>
                    <a:p>
                      <a:pPr algn="r" indent="0" marL="0">
                        <a:buNone/>
                      </a:pPr>
                      <a:r>
                        <a:rPr lang="en-US" sz="1000" dirty="0">
                          <a:solidFill>
                            <a:srgbClr val="1B2420"/>
                          </a:solidFill>
                          <a:latin typeface="Calibri" pitchFamily="34" charset="0"/>
                          <a:ea typeface="Calibri" pitchFamily="34" charset="-122"/>
                          <a:cs typeface="Calibri" pitchFamily="34" charset="-120"/>
                        </a:rPr>
                        <a:t>$56,250</a:t>
                      </a:r>
                      <a:endParaRPr lang="en-US" sz="1000" dirty="0">
                        <a:latin typeface="Calibri" charset="0"/>
                        <a:ea typeface="Calibri" charset="0"/>
                        <a:cs typeface="Calibri" charset="0"/>
                      </a:endParaRPr>
                    </a:p>
                  </a:txBody>
                  <a:tcPr marL="45720" marR="45720" marT="0" marB="0">
                    <a:lnL w="6350" cap="flat" cmpd="sng" algn="ctr">
                      <a:solidFill>
                        <a:srgbClr val="EEF2EF"/>
                      </a:solidFill>
                      <a:prstDash val="solid"/>
                      <a:round/>
                      <a:headEnd type="none" w="med" len="med"/>
                      <a:tailEnd type="none" w="med" len="med"/>
                    </a:lnL>
                    <a:lnR w="6350" cap="flat" cmpd="sng" algn="ctr">
                      <a:solidFill>
                        <a:srgbClr val="EEF2EF"/>
                      </a:solidFill>
                      <a:prstDash val="solid"/>
                      <a:round/>
                      <a:headEnd type="none" w="med" len="med"/>
                      <a:tailEnd type="none" w="med" len="med"/>
                    </a:lnR>
                    <a:lnT w="6350" cap="flat" cmpd="sng" algn="ctr">
                      <a:solidFill>
                        <a:srgbClr val="EEF2EF"/>
                      </a:solidFill>
                      <a:prstDash val="solid"/>
                      <a:round/>
                      <a:headEnd type="none" w="med" len="med"/>
                      <a:tailEnd type="none" w="med" len="med"/>
                    </a:lnT>
                    <a:lnB w="6350" cap="flat" cmpd="sng" algn="ctr">
                      <a:solidFill>
                        <a:srgbClr val="EEF2EF"/>
                      </a:solidFill>
                      <a:prstDash val="solid"/>
                      <a:round/>
                      <a:headEnd type="none" w="med" len="med"/>
                      <a:tailEnd type="none" w="med" len="med"/>
                    </a:lnB>
                  </a:tcPr>
                </a:tc>
                <a:tc>
                  <a:txBody>
                    <a:bodyPr/>
                    <a:lstStyle/>
                    <a:p>
                      <a:pPr algn="r" indent="0" marL="0">
                        <a:buNone/>
                      </a:pPr>
                      <a:r>
                        <a:rPr lang="en-US" sz="1000" dirty="0">
                          <a:solidFill>
                            <a:srgbClr val="000000"/>
                          </a:solidFill>
                          <a:latin typeface="Calibri" pitchFamily="34" charset="0"/>
                          <a:ea typeface="Calibri" pitchFamily="34" charset="-122"/>
                          <a:cs typeface="Calibri" pitchFamily="34" charset="-120"/>
                        </a:rPr>
                        <a:t>$56,250</a:t>
                      </a:r>
                      <a:endParaRPr lang="en-US" sz="1000" dirty="0">
                        <a:latin typeface="Calibri" charset="0"/>
                        <a:ea typeface="Calibri" charset="0"/>
                        <a:cs typeface="Calibri" charset="0"/>
                      </a:endParaRPr>
                    </a:p>
                  </a:txBody>
                  <a:tcPr marL="45720" marR="45720" marT="0" marB="0">
                    <a:lnL w="6350" cap="flat" cmpd="sng" algn="ctr">
                      <a:solidFill>
                        <a:srgbClr val="EEF2EF"/>
                      </a:solidFill>
                      <a:prstDash val="solid"/>
                      <a:round/>
                      <a:headEnd type="none" w="med" len="med"/>
                      <a:tailEnd type="none" w="med" len="med"/>
                    </a:lnL>
                    <a:lnR w="6350" cap="flat" cmpd="sng" algn="ctr">
                      <a:solidFill>
                        <a:srgbClr val="EEF2EF"/>
                      </a:solidFill>
                      <a:prstDash val="solid"/>
                      <a:round/>
                      <a:headEnd type="none" w="med" len="med"/>
                      <a:tailEnd type="none" w="med" len="med"/>
                    </a:lnR>
                    <a:lnT w="6350" cap="flat" cmpd="sng" algn="ctr">
                      <a:solidFill>
                        <a:srgbClr val="EEF2EF"/>
                      </a:solidFill>
                      <a:prstDash val="solid"/>
                      <a:round/>
                      <a:headEnd type="none" w="med" len="med"/>
                      <a:tailEnd type="none" w="med" len="med"/>
                    </a:lnT>
                    <a:lnB w="6350" cap="flat" cmpd="sng" algn="ctr">
                      <a:solidFill>
                        <a:srgbClr val="EEF2EF"/>
                      </a:solidFill>
                      <a:prstDash val="solid"/>
                      <a:round/>
                      <a:headEnd type="none" w="med" len="med"/>
                      <a:tailEnd type="none" w="med" len="med"/>
                    </a:lnB>
                  </a:tcPr>
                </a:tc>
                <a:tc>
                  <a:txBody>
                    <a:bodyPr/>
                    <a:lstStyle/>
                    <a:p>
                      <a:pPr algn="ctr" indent="0" marL="0">
                        <a:buNone/>
                      </a:pPr>
                      <a:r>
                        <a:rPr lang="en-US" sz="1000" b="1" dirty="0">
                          <a:solidFill>
                            <a:srgbClr val="1F7A5C"/>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45720" marR="45720" marT="0" marB="0">
                    <a:lnL w="6350" cap="flat" cmpd="sng" algn="ctr">
                      <a:solidFill>
                        <a:srgbClr val="EEF2EF"/>
                      </a:solidFill>
                      <a:prstDash val="solid"/>
                      <a:round/>
                      <a:headEnd type="none" w="med" len="med"/>
                      <a:tailEnd type="none" w="med" len="med"/>
                    </a:lnL>
                    <a:lnR w="6350" cap="flat" cmpd="sng" algn="ctr">
                      <a:solidFill>
                        <a:srgbClr val="EEF2EF"/>
                      </a:solidFill>
                      <a:prstDash val="solid"/>
                      <a:round/>
                      <a:headEnd type="none" w="med" len="med"/>
                      <a:tailEnd type="none" w="med" len="med"/>
                    </a:lnR>
                    <a:lnT w="6350" cap="flat" cmpd="sng" algn="ctr">
                      <a:solidFill>
                        <a:srgbClr val="EEF2EF"/>
                      </a:solidFill>
                      <a:prstDash val="solid"/>
                      <a:round/>
                      <a:headEnd type="none" w="med" len="med"/>
                      <a:tailEnd type="none" w="med" len="med"/>
                    </a:lnT>
                    <a:lnB w="6350" cap="flat" cmpd="sng" algn="ctr">
                      <a:solidFill>
                        <a:srgbClr val="EEF2EF"/>
                      </a:solidFill>
                      <a:prstDash val="solid"/>
                      <a:round/>
                      <a:headEnd type="none" w="med" len="med"/>
                      <a:tailEnd type="none" w="med" len="med"/>
                    </a:lnB>
                  </a:tcPr>
                </a:tc>
              </a:tr>
              <a:tr h="27432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6/30/24</a:t>
                      </a:r>
                      <a:endParaRPr lang="en-US" sz="1000" dirty="0">
                        <a:latin typeface="Calibri" charset="0"/>
                        <a:ea typeface="Calibri" charset="0"/>
                        <a:cs typeface="Calibri" charset="0"/>
                      </a:endParaRPr>
                    </a:p>
                  </a:txBody>
                  <a:tcPr marL="45720" marR="45720" marT="0" marB="0">
                    <a:lnL w="6350" cap="flat" cmpd="sng" algn="ctr">
                      <a:solidFill>
                        <a:srgbClr val="EEF2EF"/>
                      </a:solidFill>
                      <a:prstDash val="solid"/>
                      <a:round/>
                      <a:headEnd type="none" w="med" len="med"/>
                      <a:tailEnd type="none" w="med" len="med"/>
                    </a:lnL>
                    <a:lnR w="6350" cap="flat" cmpd="sng" algn="ctr">
                      <a:solidFill>
                        <a:srgbClr val="EEF2EF"/>
                      </a:solidFill>
                      <a:prstDash val="solid"/>
                      <a:round/>
                      <a:headEnd type="none" w="med" len="med"/>
                      <a:tailEnd type="none" w="med" len="med"/>
                    </a:lnR>
                    <a:lnT w="6350" cap="flat" cmpd="sng" algn="ctr">
                      <a:solidFill>
                        <a:srgbClr val="EEF2EF"/>
                      </a:solidFill>
                      <a:prstDash val="solid"/>
                      <a:round/>
                      <a:headEnd type="none" w="med" len="med"/>
                      <a:tailEnd type="none" w="med" len="med"/>
                    </a:lnT>
                    <a:lnB w="6350" cap="flat" cmpd="sng" algn="ctr">
                      <a:solidFill>
                        <a:srgbClr val="EEF2EF"/>
                      </a:solidFill>
                      <a:prstDash val="solid"/>
                      <a:round/>
                      <a:headEnd type="none" w="med" len="med"/>
                      <a:tailEnd type="none" w="med" len="med"/>
                    </a:lnB>
                  </a:tcPr>
                </a:tc>
                <a:tc>
                  <a:txBody>
                    <a:bodyPr/>
                    <a:lstStyle/>
                    <a:p>
                      <a:pPr algn="r" indent="0" marL="0">
                        <a:buNone/>
                      </a:pPr>
                      <a:r>
                        <a:rPr lang="en-US" sz="1000" dirty="0">
                          <a:solidFill>
                            <a:srgbClr val="1B2420"/>
                          </a:solidFill>
                          <a:latin typeface="Calibri" pitchFamily="34" charset="0"/>
                          <a:ea typeface="Calibri" pitchFamily="34" charset="-122"/>
                          <a:cs typeface="Calibri" pitchFamily="34" charset="-120"/>
                        </a:rPr>
                        <a:t>$112,500</a:t>
                      </a:r>
                      <a:endParaRPr lang="en-US" sz="1000" dirty="0">
                        <a:latin typeface="Calibri" charset="0"/>
                        <a:ea typeface="Calibri" charset="0"/>
                        <a:cs typeface="Calibri" charset="0"/>
                      </a:endParaRPr>
                    </a:p>
                  </a:txBody>
                  <a:tcPr marL="45720" marR="45720" marT="0" marB="0">
                    <a:lnL w="6350" cap="flat" cmpd="sng" algn="ctr">
                      <a:solidFill>
                        <a:srgbClr val="EEF2EF"/>
                      </a:solidFill>
                      <a:prstDash val="solid"/>
                      <a:round/>
                      <a:headEnd type="none" w="med" len="med"/>
                      <a:tailEnd type="none" w="med" len="med"/>
                    </a:lnL>
                    <a:lnR w="6350" cap="flat" cmpd="sng" algn="ctr">
                      <a:solidFill>
                        <a:srgbClr val="EEF2EF"/>
                      </a:solidFill>
                      <a:prstDash val="solid"/>
                      <a:round/>
                      <a:headEnd type="none" w="med" len="med"/>
                      <a:tailEnd type="none" w="med" len="med"/>
                    </a:lnR>
                    <a:lnT w="6350" cap="flat" cmpd="sng" algn="ctr">
                      <a:solidFill>
                        <a:srgbClr val="EEF2EF"/>
                      </a:solidFill>
                      <a:prstDash val="solid"/>
                      <a:round/>
                      <a:headEnd type="none" w="med" len="med"/>
                      <a:tailEnd type="none" w="med" len="med"/>
                    </a:lnT>
                    <a:lnB w="6350" cap="flat" cmpd="sng" algn="ctr">
                      <a:solidFill>
                        <a:srgbClr val="EEF2EF"/>
                      </a:solidFill>
                      <a:prstDash val="solid"/>
                      <a:round/>
                      <a:headEnd type="none" w="med" len="med"/>
                      <a:tailEnd type="none" w="med" len="med"/>
                    </a:lnB>
                  </a:tcPr>
                </a:tc>
                <a:tc>
                  <a:txBody>
                    <a:bodyPr/>
                    <a:lstStyle/>
                    <a:p>
                      <a:pPr algn="r" indent="0" marL="0">
                        <a:buNone/>
                      </a:pPr>
                      <a:r>
                        <a:rPr lang="en-US" sz="1000" dirty="0">
                          <a:solidFill>
                            <a:srgbClr val="000000"/>
                          </a:solidFill>
                          <a:latin typeface="Calibri" pitchFamily="34" charset="0"/>
                          <a:ea typeface="Calibri" pitchFamily="34" charset="-122"/>
                          <a:cs typeface="Calibri" pitchFamily="34" charset="-120"/>
                        </a:rPr>
                        <a:t>$112,500</a:t>
                      </a:r>
                      <a:endParaRPr lang="en-US" sz="1000" dirty="0">
                        <a:latin typeface="Calibri" charset="0"/>
                        <a:ea typeface="Calibri" charset="0"/>
                        <a:cs typeface="Calibri" charset="0"/>
                      </a:endParaRPr>
                    </a:p>
                  </a:txBody>
                  <a:tcPr marL="45720" marR="45720" marT="0" marB="0">
                    <a:lnL w="6350" cap="flat" cmpd="sng" algn="ctr">
                      <a:solidFill>
                        <a:srgbClr val="EEF2EF"/>
                      </a:solidFill>
                      <a:prstDash val="solid"/>
                      <a:round/>
                      <a:headEnd type="none" w="med" len="med"/>
                      <a:tailEnd type="none" w="med" len="med"/>
                    </a:lnL>
                    <a:lnR w="6350" cap="flat" cmpd="sng" algn="ctr">
                      <a:solidFill>
                        <a:srgbClr val="EEF2EF"/>
                      </a:solidFill>
                      <a:prstDash val="solid"/>
                      <a:round/>
                      <a:headEnd type="none" w="med" len="med"/>
                      <a:tailEnd type="none" w="med" len="med"/>
                    </a:lnR>
                    <a:lnT w="6350" cap="flat" cmpd="sng" algn="ctr">
                      <a:solidFill>
                        <a:srgbClr val="EEF2EF"/>
                      </a:solidFill>
                      <a:prstDash val="solid"/>
                      <a:round/>
                      <a:headEnd type="none" w="med" len="med"/>
                      <a:tailEnd type="none" w="med" len="med"/>
                    </a:lnT>
                    <a:lnB w="6350" cap="flat" cmpd="sng" algn="ctr">
                      <a:solidFill>
                        <a:srgbClr val="EEF2EF"/>
                      </a:solidFill>
                      <a:prstDash val="solid"/>
                      <a:round/>
                      <a:headEnd type="none" w="med" len="med"/>
                      <a:tailEnd type="none" w="med" len="med"/>
                    </a:lnB>
                  </a:tcPr>
                </a:tc>
                <a:tc>
                  <a:txBody>
                    <a:bodyPr/>
                    <a:lstStyle/>
                    <a:p>
                      <a:pPr algn="ctr" indent="0" marL="0">
                        <a:buNone/>
                      </a:pPr>
                      <a:r>
                        <a:rPr lang="en-US" sz="1000" b="1" dirty="0">
                          <a:solidFill>
                            <a:srgbClr val="1F7A5C"/>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45720" marR="45720" marT="0" marB="0">
                    <a:lnL w="6350" cap="flat" cmpd="sng" algn="ctr">
                      <a:solidFill>
                        <a:srgbClr val="EEF2EF"/>
                      </a:solidFill>
                      <a:prstDash val="solid"/>
                      <a:round/>
                      <a:headEnd type="none" w="med" len="med"/>
                      <a:tailEnd type="none" w="med" len="med"/>
                    </a:lnL>
                    <a:lnR w="6350" cap="flat" cmpd="sng" algn="ctr">
                      <a:solidFill>
                        <a:srgbClr val="EEF2EF"/>
                      </a:solidFill>
                      <a:prstDash val="solid"/>
                      <a:round/>
                      <a:headEnd type="none" w="med" len="med"/>
                      <a:tailEnd type="none" w="med" len="med"/>
                    </a:lnR>
                    <a:lnT w="6350" cap="flat" cmpd="sng" algn="ctr">
                      <a:solidFill>
                        <a:srgbClr val="EEF2EF"/>
                      </a:solidFill>
                      <a:prstDash val="solid"/>
                      <a:round/>
                      <a:headEnd type="none" w="med" len="med"/>
                      <a:tailEnd type="none" w="med" len="med"/>
                    </a:lnT>
                    <a:lnB w="6350" cap="flat" cmpd="sng" algn="ctr">
                      <a:solidFill>
                        <a:srgbClr val="EEF2EF"/>
                      </a:solidFill>
                      <a:prstDash val="solid"/>
                      <a:round/>
                      <a:headEnd type="none" w="med" len="med"/>
                      <a:tailEnd type="none" w="med" len="med"/>
                    </a:lnB>
                  </a:tcPr>
                </a:tc>
              </a:tr>
              <a:tr h="27432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9/30/24</a:t>
                      </a:r>
                      <a:endParaRPr lang="en-US" sz="1000" dirty="0">
                        <a:latin typeface="Calibri" charset="0"/>
                        <a:ea typeface="Calibri" charset="0"/>
                        <a:cs typeface="Calibri" charset="0"/>
                      </a:endParaRPr>
                    </a:p>
                  </a:txBody>
                  <a:tcPr marL="45720" marR="45720" marT="0" marB="0">
                    <a:lnL w="6350" cap="flat" cmpd="sng" algn="ctr">
                      <a:solidFill>
                        <a:srgbClr val="EEF2EF"/>
                      </a:solidFill>
                      <a:prstDash val="solid"/>
                      <a:round/>
                      <a:headEnd type="none" w="med" len="med"/>
                      <a:tailEnd type="none" w="med" len="med"/>
                    </a:lnL>
                    <a:lnR w="6350" cap="flat" cmpd="sng" algn="ctr">
                      <a:solidFill>
                        <a:srgbClr val="EEF2EF"/>
                      </a:solidFill>
                      <a:prstDash val="solid"/>
                      <a:round/>
                      <a:headEnd type="none" w="med" len="med"/>
                      <a:tailEnd type="none" w="med" len="med"/>
                    </a:lnR>
                    <a:lnT w="6350" cap="flat" cmpd="sng" algn="ctr">
                      <a:solidFill>
                        <a:srgbClr val="EEF2EF"/>
                      </a:solidFill>
                      <a:prstDash val="solid"/>
                      <a:round/>
                      <a:headEnd type="none" w="med" len="med"/>
                      <a:tailEnd type="none" w="med" len="med"/>
                    </a:lnT>
                    <a:lnB w="6350" cap="flat" cmpd="sng" algn="ctr">
                      <a:solidFill>
                        <a:srgbClr val="EEF2EF"/>
                      </a:solidFill>
                      <a:prstDash val="solid"/>
                      <a:round/>
                      <a:headEnd type="none" w="med" len="med"/>
                      <a:tailEnd type="none" w="med" len="med"/>
                    </a:lnB>
                  </a:tcPr>
                </a:tc>
                <a:tc>
                  <a:txBody>
                    <a:bodyPr/>
                    <a:lstStyle/>
                    <a:p>
                      <a:pPr algn="r" indent="0" marL="0">
                        <a:buNone/>
                      </a:pPr>
                      <a:r>
                        <a:rPr lang="en-US" sz="1000" b="1" dirty="0">
                          <a:solidFill>
                            <a:srgbClr val="C2412D"/>
                          </a:solidFill>
                          <a:latin typeface="Calibri" pitchFamily="34" charset="0"/>
                          <a:ea typeface="Calibri" pitchFamily="34" charset="-122"/>
                          <a:cs typeface="Calibri" pitchFamily="34" charset="-120"/>
                        </a:rPr>
                        <a:t>$225,000</a:t>
                      </a:r>
                      <a:endParaRPr lang="en-US" sz="1000" dirty="0">
                        <a:latin typeface="Calibri" charset="0"/>
                        <a:ea typeface="Calibri" charset="0"/>
                        <a:cs typeface="Calibri" charset="0"/>
                      </a:endParaRPr>
                    </a:p>
                  </a:txBody>
                  <a:tcPr marL="45720" marR="45720" marT="0" marB="0">
                    <a:lnL w="6350" cap="flat" cmpd="sng" algn="ctr">
                      <a:solidFill>
                        <a:srgbClr val="EEF2EF"/>
                      </a:solidFill>
                      <a:prstDash val="solid"/>
                      <a:round/>
                      <a:headEnd type="none" w="med" len="med"/>
                      <a:tailEnd type="none" w="med" len="med"/>
                    </a:lnL>
                    <a:lnR w="6350" cap="flat" cmpd="sng" algn="ctr">
                      <a:solidFill>
                        <a:srgbClr val="EEF2EF"/>
                      </a:solidFill>
                      <a:prstDash val="solid"/>
                      <a:round/>
                      <a:headEnd type="none" w="med" len="med"/>
                      <a:tailEnd type="none" w="med" len="med"/>
                    </a:lnR>
                    <a:lnT w="6350" cap="flat" cmpd="sng" algn="ctr">
                      <a:solidFill>
                        <a:srgbClr val="EEF2EF"/>
                      </a:solidFill>
                      <a:prstDash val="solid"/>
                      <a:round/>
                      <a:headEnd type="none" w="med" len="med"/>
                      <a:tailEnd type="none" w="med" len="med"/>
                    </a:lnT>
                    <a:lnB w="6350" cap="flat" cmpd="sng" algn="ctr">
                      <a:solidFill>
                        <a:srgbClr val="EEF2EF"/>
                      </a:solidFill>
                      <a:prstDash val="solid"/>
                      <a:round/>
                      <a:headEnd type="none" w="med" len="med"/>
                      <a:tailEnd type="none" w="med" len="med"/>
                    </a:lnB>
                  </a:tcPr>
                </a:tc>
                <a:tc>
                  <a:txBody>
                    <a:bodyPr/>
                    <a:lstStyle/>
                    <a:p>
                      <a:pPr algn="r" indent="0" marL="0">
                        <a:buNone/>
                      </a:pPr>
                      <a:r>
                        <a:rPr lang="en-US" sz="1000" dirty="0">
                          <a:solidFill>
                            <a:srgbClr val="000000"/>
                          </a:solidFill>
                          <a:latin typeface="Calibri" pitchFamily="34" charset="0"/>
                          <a:ea typeface="Calibri" pitchFamily="34" charset="-122"/>
                          <a:cs typeface="Calibri" pitchFamily="34" charset="-120"/>
                        </a:rPr>
                        <a:t>$112,500</a:t>
                      </a:r>
                      <a:endParaRPr lang="en-US" sz="1000" dirty="0">
                        <a:latin typeface="Calibri" charset="0"/>
                        <a:ea typeface="Calibri" charset="0"/>
                        <a:cs typeface="Calibri" charset="0"/>
                      </a:endParaRPr>
                    </a:p>
                  </a:txBody>
                  <a:tcPr marL="45720" marR="45720" marT="0" marB="0">
                    <a:lnL w="6350" cap="flat" cmpd="sng" algn="ctr">
                      <a:solidFill>
                        <a:srgbClr val="EEF2EF"/>
                      </a:solidFill>
                      <a:prstDash val="solid"/>
                      <a:round/>
                      <a:headEnd type="none" w="med" len="med"/>
                      <a:tailEnd type="none" w="med" len="med"/>
                    </a:lnL>
                    <a:lnR w="6350" cap="flat" cmpd="sng" algn="ctr">
                      <a:solidFill>
                        <a:srgbClr val="EEF2EF"/>
                      </a:solidFill>
                      <a:prstDash val="solid"/>
                      <a:round/>
                      <a:headEnd type="none" w="med" len="med"/>
                      <a:tailEnd type="none" w="med" len="med"/>
                    </a:lnR>
                    <a:lnT w="6350" cap="flat" cmpd="sng" algn="ctr">
                      <a:solidFill>
                        <a:srgbClr val="EEF2EF"/>
                      </a:solidFill>
                      <a:prstDash val="solid"/>
                      <a:round/>
                      <a:headEnd type="none" w="med" len="med"/>
                      <a:tailEnd type="none" w="med" len="med"/>
                    </a:lnT>
                    <a:lnB w="6350" cap="flat" cmpd="sng" algn="ctr">
                      <a:solidFill>
                        <a:srgbClr val="EEF2EF"/>
                      </a:solidFill>
                      <a:prstDash val="solid"/>
                      <a:round/>
                      <a:headEnd type="none" w="med" len="med"/>
                      <a:tailEnd type="none" w="med" len="med"/>
                    </a:lnB>
                  </a:tcPr>
                </a:tc>
                <a:tc>
                  <a:txBody>
                    <a:bodyPr/>
                    <a:lstStyle/>
                    <a:p>
                      <a:pPr algn="ctr" indent="0" marL="0">
                        <a:buNone/>
                      </a:pPr>
                      <a:r>
                        <a:rPr lang="en-US" sz="1000" b="1" dirty="0">
                          <a:solidFill>
                            <a:srgbClr val="C2412D"/>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45720" marR="45720" marT="0" marB="0">
                    <a:lnL w="6350" cap="flat" cmpd="sng" algn="ctr">
                      <a:solidFill>
                        <a:srgbClr val="EEF2EF"/>
                      </a:solidFill>
                      <a:prstDash val="solid"/>
                      <a:round/>
                      <a:headEnd type="none" w="med" len="med"/>
                      <a:tailEnd type="none" w="med" len="med"/>
                    </a:lnL>
                    <a:lnR w="6350" cap="flat" cmpd="sng" algn="ctr">
                      <a:solidFill>
                        <a:srgbClr val="EEF2EF"/>
                      </a:solidFill>
                      <a:prstDash val="solid"/>
                      <a:round/>
                      <a:headEnd type="none" w="med" len="med"/>
                      <a:tailEnd type="none" w="med" len="med"/>
                    </a:lnR>
                    <a:lnT w="6350" cap="flat" cmpd="sng" algn="ctr">
                      <a:solidFill>
                        <a:srgbClr val="EEF2EF"/>
                      </a:solidFill>
                      <a:prstDash val="solid"/>
                      <a:round/>
                      <a:headEnd type="none" w="med" len="med"/>
                      <a:tailEnd type="none" w="med" len="med"/>
                    </a:lnT>
                    <a:lnB w="6350" cap="flat" cmpd="sng" algn="ctr">
                      <a:solidFill>
                        <a:srgbClr val="EEF2EF"/>
                      </a:solidFill>
                      <a:prstDash val="solid"/>
                      <a:round/>
                      <a:headEnd type="none" w="med" len="med"/>
                      <a:tailEnd type="none" w="med" len="med"/>
                    </a:lnB>
                  </a:tcPr>
                </a:tc>
              </a:tr>
            </a:tbl>
          </a:graphicData>
        </a:graphic>
      </p:graphicFrame>
      <p:sp>
        <p:nvSpPr>
          <p:cNvPr id="24" name="Text 21"/>
          <p:cNvSpPr txBox="1"/>
          <p:nvPr/>
        </p:nvSpPr>
        <p:spPr>
          <a:xfrm>
            <a:off x="2697480" y="3685032"/>
            <a:ext cx="2606040" cy="365760"/>
          </a:xfrm>
          <a:prstGeom prst="rect">
            <a:avLst/>
          </a:prstGeom>
          <a:noFill/>
          <a:ln/>
        </p:spPr>
        <p:txBody>
          <a:bodyPr wrap="square" lIns="0" tIns="0" rIns="0" bIns="0" rtlCol="0" anchor="t"/>
          <a:lstStyle/>
          <a:p>
            <a:pPr indent="0" marL="0">
              <a:buNone/>
            </a:pPr>
            <a:r>
              <a:rPr lang="en-US" sz="900" i="1" dirty="0">
                <a:solidFill>
                  <a:schemeClr val="accent5"/>
                </a:solidFill>
              </a:rPr>
              <a:t>Paid-in, from statements vs. capital call notices</a:t>
            </a:r>
            <a:endParaRPr lang="en-US" sz="900" dirty="0"/>
          </a:p>
        </p:txBody>
      </p:sp>
      <p:sp>
        <p:nvSpPr>
          <p:cNvPr id="25" name="Shape 22"/>
          <p:cNvSpPr/>
          <p:nvPr/>
        </p:nvSpPr>
        <p:spPr>
          <a:xfrm>
            <a:off x="5394960" y="1828800"/>
            <a:ext cx="0" cy="2926080"/>
          </a:xfrm>
          <a:prstGeom prst="line">
            <a:avLst/>
          </a:prstGeom>
          <a:noFill/>
          <a:ln w="12700">
            <a:solidFill>
              <a:schemeClr val="bg2"/>
            </a:solidFill>
            <a:prstDash val="solid"/>
          </a:ln>
        </p:spPr>
      </p:sp>
      <p:sp>
        <p:nvSpPr>
          <p:cNvPr id="26" name="Text 23"/>
          <p:cNvSpPr txBox="1"/>
          <p:nvPr/>
        </p:nvSpPr>
        <p:spPr>
          <a:xfrm>
            <a:off x="5504688" y="1874520"/>
            <a:ext cx="1783080" cy="182880"/>
          </a:xfrm>
          <a:prstGeom prst="rect">
            <a:avLst/>
          </a:prstGeom>
          <a:noFill/>
          <a:ln/>
        </p:spPr>
        <p:txBody>
          <a:bodyPr wrap="square" lIns="0" tIns="0" rIns="0" bIns="0" rtlCol="0" anchor="t"/>
          <a:lstStyle/>
          <a:p>
            <a:pPr indent="0" marL="0">
              <a:buNone/>
            </a:pPr>
            <a:r>
              <a:rPr lang="en-US" sz="900" b="1" spc="100" kern="0" dirty="0">
                <a:solidFill>
                  <a:schemeClr val="accent5"/>
                </a:solidFill>
              </a:rPr>
              <a:t>WHY IT BROKE</a:t>
            </a:r>
            <a:endParaRPr lang="en-US" sz="900" dirty="0"/>
          </a:p>
        </p:txBody>
      </p:sp>
      <p:sp>
        <p:nvSpPr>
          <p:cNvPr id="27" name="Text 24"/>
          <p:cNvSpPr txBox="1"/>
          <p:nvPr/>
        </p:nvSpPr>
        <p:spPr>
          <a:xfrm>
            <a:off x="5504688" y="2103120"/>
            <a:ext cx="1783080" cy="914400"/>
          </a:xfrm>
          <a:prstGeom prst="rect">
            <a:avLst/>
          </a:prstGeom>
          <a:noFill/>
          <a:ln/>
        </p:spPr>
        <p:txBody>
          <a:bodyPr wrap="square" lIns="0" tIns="0" rIns="0" bIns="0" rtlCol="0" anchor="t"/>
          <a:lstStyle/>
          <a:p>
            <a:pPr indent="0" marL="0">
              <a:buNone/>
            </a:pPr>
            <a:r>
              <a:rPr lang="en-US" sz="1000" dirty="0">
                <a:solidFill>
                  <a:schemeClr val="tx1"/>
                </a:solidFill>
              </a:rPr>
              <a:t>Q3'24 counts calls due 10/11 and 12/10 (rows 6, 7). Same in 2 other Stonebridge investors.</a:t>
            </a:r>
            <a:endParaRPr lang="en-US" sz="1000" dirty="0"/>
          </a:p>
        </p:txBody>
      </p:sp>
      <p:sp>
        <p:nvSpPr>
          <p:cNvPr id="28" name="Shape 25"/>
          <p:cNvSpPr/>
          <p:nvPr/>
        </p:nvSpPr>
        <p:spPr>
          <a:xfrm>
            <a:off x="5504688" y="3108960"/>
            <a:ext cx="1783080" cy="292608"/>
          </a:xfrm>
          <a:prstGeom prst="roundRect">
            <a:avLst>
              <a:gd name="adj" fmla="val 25000"/>
            </a:avLst>
          </a:prstGeom>
          <a:solidFill>
            <a:schemeClr val="accent1"/>
          </a:solidFill>
          <a:ln w="9525">
            <a:solidFill>
              <a:schemeClr val="accent1"/>
            </a:solidFill>
            <a:prstDash val="solid"/>
          </a:ln>
        </p:spPr>
      </p:sp>
      <p:sp>
        <p:nvSpPr>
          <p:cNvPr id="29" name="Text 26"/>
          <p:cNvSpPr txBox="1"/>
          <p:nvPr/>
        </p:nvSpPr>
        <p:spPr>
          <a:xfrm>
            <a:off x="5504688" y="3108960"/>
            <a:ext cx="1783080" cy="292608"/>
          </a:xfrm>
          <a:prstGeom prst="rect">
            <a:avLst/>
          </a:prstGeom>
          <a:noFill/>
          <a:ln/>
        </p:spPr>
        <p:txBody>
          <a:bodyPr wrap="square" lIns="0" tIns="0" rIns="0" bIns="0" rtlCol="0" anchor="ctr"/>
          <a:lstStyle/>
          <a:p>
            <a:pPr algn="ctr" indent="0" marL="0">
              <a:buNone/>
            </a:pPr>
            <a:r>
              <a:rPr lang="en-US" sz="950" b="1" dirty="0">
                <a:solidFill>
                  <a:schemeClr val="bg1"/>
                </a:solidFill>
              </a:rPr>
              <a:t>Keep GP figure + footnote</a:t>
            </a:r>
            <a:endParaRPr lang="en-US" sz="950" dirty="0"/>
          </a:p>
        </p:txBody>
      </p:sp>
      <p:sp>
        <p:nvSpPr>
          <p:cNvPr id="30" name="Shape 27"/>
          <p:cNvSpPr/>
          <p:nvPr/>
        </p:nvSpPr>
        <p:spPr>
          <a:xfrm>
            <a:off x="5504688" y="3474720"/>
            <a:ext cx="1783080" cy="292608"/>
          </a:xfrm>
          <a:prstGeom prst="roundRect">
            <a:avLst>
              <a:gd name="adj" fmla="val 25000"/>
            </a:avLst>
          </a:prstGeom>
          <a:solidFill>
            <a:schemeClr val="bg1"/>
          </a:solidFill>
          <a:ln w="9525">
            <a:solidFill>
              <a:schemeClr val="accent4"/>
            </a:solidFill>
            <a:prstDash val="solid"/>
          </a:ln>
        </p:spPr>
      </p:sp>
      <p:sp>
        <p:nvSpPr>
          <p:cNvPr id="31" name="Text 28"/>
          <p:cNvSpPr txBox="1"/>
          <p:nvPr/>
        </p:nvSpPr>
        <p:spPr>
          <a:xfrm>
            <a:off x="5504688" y="3474720"/>
            <a:ext cx="1783080" cy="292608"/>
          </a:xfrm>
          <a:prstGeom prst="rect">
            <a:avLst/>
          </a:prstGeom>
          <a:noFill/>
          <a:ln/>
        </p:spPr>
        <p:txBody>
          <a:bodyPr wrap="square" lIns="0" tIns="0" rIns="0" bIns="0" rtlCol="0" anchor="ctr"/>
          <a:lstStyle/>
          <a:p>
            <a:pPr algn="ctr" indent="0" marL="0">
              <a:buNone/>
            </a:pPr>
            <a:r>
              <a:rPr lang="en-US" sz="950" b="1" dirty="0">
                <a:solidFill>
                  <a:schemeClr val="tx2"/>
                </a:solidFill>
              </a:rPr>
              <a:t>Use notice figures</a:t>
            </a:r>
            <a:endParaRPr lang="en-US" sz="950" dirty="0"/>
          </a:p>
        </p:txBody>
      </p:sp>
      <p:sp>
        <p:nvSpPr>
          <p:cNvPr id="32" name="Shape 29"/>
          <p:cNvSpPr/>
          <p:nvPr/>
        </p:nvSpPr>
        <p:spPr>
          <a:xfrm>
            <a:off x="5504688" y="3840480"/>
            <a:ext cx="1783080" cy="292608"/>
          </a:xfrm>
          <a:prstGeom prst="roundRect">
            <a:avLst>
              <a:gd name="adj" fmla="val 25000"/>
            </a:avLst>
          </a:prstGeom>
          <a:solidFill>
            <a:schemeClr val="bg1"/>
          </a:solidFill>
          <a:ln w="9525">
            <a:solidFill>
              <a:schemeClr val="accent4"/>
            </a:solidFill>
            <a:prstDash val="solid"/>
          </a:ln>
        </p:spPr>
      </p:sp>
      <p:sp>
        <p:nvSpPr>
          <p:cNvPr id="33" name="Text 30"/>
          <p:cNvSpPr txBox="1"/>
          <p:nvPr/>
        </p:nvSpPr>
        <p:spPr>
          <a:xfrm>
            <a:off x="5504688" y="3840480"/>
            <a:ext cx="1783080" cy="292608"/>
          </a:xfrm>
          <a:prstGeom prst="rect">
            <a:avLst/>
          </a:prstGeom>
          <a:noFill/>
          <a:ln/>
        </p:spPr>
        <p:txBody>
          <a:bodyPr wrap="square" lIns="0" tIns="0" rIns="0" bIns="0" rtlCol="0" anchor="ctr"/>
          <a:lstStyle/>
          <a:p>
            <a:pPr algn="ctr" indent="0" marL="0">
              <a:buNone/>
            </a:pPr>
            <a:r>
              <a:rPr lang="en-US" sz="950" b="1" dirty="0">
                <a:solidFill>
                  <a:schemeClr val="tx2"/>
                </a:solidFill>
              </a:rPr>
              <a:t>Ask the GP</a:t>
            </a:r>
            <a:endParaRPr lang="en-US" sz="950" dirty="0"/>
          </a:p>
        </p:txBody>
      </p:sp>
      <p:sp>
        <p:nvSpPr>
          <p:cNvPr id="34" name="Shape 31"/>
          <p:cNvSpPr/>
          <p:nvPr/>
        </p:nvSpPr>
        <p:spPr>
          <a:xfrm>
            <a:off x="5504688" y="4315968"/>
            <a:ext cx="137160" cy="137160"/>
          </a:xfrm>
          <a:prstGeom prst="rect">
            <a:avLst/>
          </a:prstGeom>
          <a:solidFill>
            <a:schemeClr val="accent1"/>
          </a:solidFill>
          <a:ln w="12700">
            <a:solidFill>
              <a:schemeClr val="accent1"/>
            </a:solidFill>
            <a:prstDash val="solid"/>
          </a:ln>
        </p:spPr>
      </p:sp>
      <p:sp>
        <p:nvSpPr>
          <p:cNvPr id="35" name="Text 32"/>
          <p:cNvSpPr txBox="1"/>
          <p:nvPr/>
        </p:nvSpPr>
        <p:spPr>
          <a:xfrm>
            <a:off x="5705856" y="4251960"/>
            <a:ext cx="1600200" cy="256032"/>
          </a:xfrm>
          <a:prstGeom prst="rect">
            <a:avLst/>
          </a:prstGeom>
          <a:noFill/>
          <a:ln/>
        </p:spPr>
        <p:txBody>
          <a:bodyPr wrap="square" lIns="0" tIns="0" rIns="0" bIns="0" rtlCol="0" anchor="ctr"/>
          <a:lstStyle/>
          <a:p>
            <a:pPr indent="0" marL="0">
              <a:buNone/>
            </a:pPr>
            <a:r>
              <a:rPr lang="en-US" sz="950" b="1" dirty="0">
                <a:solidFill>
                  <a:schemeClr val="accent1"/>
                </a:solidFill>
              </a:rPr>
              <a:t>Apply to all 3 investors</a:t>
            </a:r>
            <a:endParaRPr lang="en-US" sz="950" dirty="0"/>
          </a:p>
        </p:txBody>
      </p:sp>
      <p:sp>
        <p:nvSpPr>
          <p:cNvPr id="36" name="Shape 33"/>
          <p:cNvSpPr/>
          <p:nvPr/>
        </p:nvSpPr>
        <p:spPr>
          <a:xfrm>
            <a:off x="7726680" y="1435608"/>
            <a:ext cx="274320" cy="274320"/>
          </a:xfrm>
          <a:prstGeom prst="ellipse">
            <a:avLst/>
          </a:prstGeom>
          <a:solidFill>
            <a:schemeClr val="accent1"/>
          </a:solidFill>
          <a:ln w="9525">
            <a:solidFill>
              <a:schemeClr val="accent1"/>
            </a:solidFill>
            <a:prstDash val="solid"/>
          </a:ln>
        </p:spPr>
      </p:sp>
      <p:sp>
        <p:nvSpPr>
          <p:cNvPr id="37" name="Text 34"/>
          <p:cNvSpPr txBox="1"/>
          <p:nvPr/>
        </p:nvSpPr>
        <p:spPr>
          <a:xfrm>
            <a:off x="7726680" y="1435608"/>
            <a:ext cx="274320" cy="274320"/>
          </a:xfrm>
          <a:prstGeom prst="rect">
            <a:avLst/>
          </a:prstGeom>
          <a:no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38" name="Text 35"/>
          <p:cNvSpPr txBox="1"/>
          <p:nvPr/>
        </p:nvSpPr>
        <p:spPr>
          <a:xfrm>
            <a:off x="8110728" y="1417320"/>
            <a:ext cx="3529584" cy="292608"/>
          </a:xfrm>
          <a:prstGeom prst="rect">
            <a:avLst/>
          </a:prstGeom>
          <a:noFill/>
          <a:ln/>
        </p:spPr>
        <p:txBody>
          <a:bodyPr wrap="square" lIns="0" tIns="0" rIns="0" bIns="0" rtlCol="0" anchor="ctr"/>
          <a:lstStyle/>
          <a:p>
            <a:pPr indent="0" marL="0">
              <a:buNone/>
            </a:pPr>
            <a:r>
              <a:rPr lang="en-US" sz="1500" b="1" dirty="0">
                <a:solidFill>
                  <a:schemeClr val="tx2"/>
                </a:solidFill>
              </a:rPr>
              <a:t>Every override records</a:t>
            </a:r>
            <a:endParaRPr lang="en-US" sz="1500" dirty="0"/>
          </a:p>
        </p:txBody>
      </p:sp>
      <p:sp>
        <p:nvSpPr>
          <p:cNvPr id="39" name="Text 36"/>
          <p:cNvSpPr txBox="1"/>
          <p:nvPr/>
        </p:nvSpPr>
        <p:spPr>
          <a:xfrm>
            <a:off x="8110728" y="1746504"/>
            <a:ext cx="3529584" cy="658368"/>
          </a:xfrm>
          <a:prstGeom prst="rect">
            <a:avLst/>
          </a:prstGeom>
          <a:noFill/>
          <a:ln/>
        </p:spPr>
        <p:txBody>
          <a:bodyPr wrap="square" lIns="0" tIns="0" rIns="0" bIns="0" rtlCol="0" anchor="t"/>
          <a:lstStyle/>
          <a:p>
            <a:pPr indent="0" marL="0">
              <a:buNone/>
            </a:pPr>
            <a:r>
              <a:rPr lang="en-US" sz="1250" dirty="0">
                <a:solidFill>
                  <a:schemeClr val="tx1"/>
                </a:solidFill>
              </a:rPr>
              <a:t>who · when · old → new value · reason · evidence. Versioned and undoable.</a:t>
            </a:r>
            <a:endParaRPr lang="en-US" sz="1250" dirty="0"/>
          </a:p>
        </p:txBody>
      </p:sp>
      <p:sp>
        <p:nvSpPr>
          <p:cNvPr id="40" name="Shape 37"/>
          <p:cNvSpPr/>
          <p:nvPr/>
        </p:nvSpPr>
        <p:spPr>
          <a:xfrm>
            <a:off x="7726680" y="2395728"/>
            <a:ext cx="274320" cy="274320"/>
          </a:xfrm>
          <a:prstGeom prst="ellipse">
            <a:avLst/>
          </a:prstGeom>
          <a:solidFill>
            <a:schemeClr val="accent2"/>
          </a:solidFill>
          <a:ln w="9525">
            <a:solidFill>
              <a:schemeClr val="accent2"/>
            </a:solidFill>
            <a:prstDash val="solid"/>
          </a:ln>
        </p:spPr>
      </p:sp>
      <p:sp>
        <p:nvSpPr>
          <p:cNvPr id="41" name="Text 38"/>
          <p:cNvSpPr txBox="1"/>
          <p:nvPr/>
        </p:nvSpPr>
        <p:spPr>
          <a:xfrm>
            <a:off x="7726680" y="2395728"/>
            <a:ext cx="274320" cy="274320"/>
          </a:xfrm>
          <a:prstGeom prst="rect">
            <a:avLst/>
          </a:prstGeom>
          <a:no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42" name="Text 39"/>
          <p:cNvSpPr txBox="1"/>
          <p:nvPr/>
        </p:nvSpPr>
        <p:spPr>
          <a:xfrm>
            <a:off x="8110728" y="2377440"/>
            <a:ext cx="3529584" cy="292608"/>
          </a:xfrm>
          <a:prstGeom prst="rect">
            <a:avLst/>
          </a:prstGeom>
          <a:noFill/>
          <a:ln/>
        </p:spPr>
        <p:txBody>
          <a:bodyPr wrap="square" lIns="0" tIns="0" rIns="0" bIns="0" rtlCol="0" anchor="ctr"/>
          <a:lstStyle/>
          <a:p>
            <a:pPr indent="0" marL="0">
              <a:buNone/>
            </a:pPr>
            <a:r>
              <a:rPr lang="en-US" sz="1500" b="1" dirty="0">
                <a:solidFill>
                  <a:schemeClr val="tx2"/>
                </a:solidFill>
              </a:rPr>
              <a:t>Locked</a:t>
            </a:r>
            <a:endParaRPr lang="en-US" sz="1500" dirty="0"/>
          </a:p>
        </p:txBody>
      </p:sp>
      <p:sp>
        <p:nvSpPr>
          <p:cNvPr id="43" name="Text 40"/>
          <p:cNvSpPr txBox="1"/>
          <p:nvPr/>
        </p:nvSpPr>
        <p:spPr>
          <a:xfrm>
            <a:off x="8110728" y="2706624"/>
            <a:ext cx="3529584" cy="658368"/>
          </a:xfrm>
          <a:prstGeom prst="rect">
            <a:avLst/>
          </a:prstGeom>
          <a:noFill/>
          <a:ln/>
        </p:spPr>
        <p:txBody>
          <a:bodyPr wrap="square" lIns="0" tIns="0" rIns="0" bIns="0" rtlCol="0" anchor="t"/>
          <a:lstStyle/>
          <a:p>
            <a:pPr indent="0" marL="0">
              <a:buNone/>
            </a:pPr>
            <a:r>
              <a:rPr lang="en-US" sz="1250" dirty="0">
                <a:solidFill>
                  <a:schemeClr val="tx1"/>
                </a:solidFill>
              </a:rPr>
              <a:t>GP source figures · failed checks · the audit log</a:t>
            </a:r>
            <a:endParaRPr lang="en-US" sz="1250" dirty="0"/>
          </a:p>
        </p:txBody>
      </p:sp>
      <p:sp>
        <p:nvSpPr>
          <p:cNvPr id="44" name="Shape 41"/>
          <p:cNvSpPr/>
          <p:nvPr/>
        </p:nvSpPr>
        <p:spPr>
          <a:xfrm>
            <a:off x="7726680" y="3355848"/>
            <a:ext cx="274320" cy="274320"/>
          </a:xfrm>
          <a:prstGeom prst="ellipse">
            <a:avLst/>
          </a:prstGeom>
          <a:solidFill>
            <a:schemeClr val="accent1"/>
          </a:solidFill>
          <a:ln w="9525">
            <a:solidFill>
              <a:schemeClr val="accent1"/>
            </a:solidFill>
            <a:prstDash val="solid"/>
          </a:ln>
        </p:spPr>
      </p:sp>
      <p:sp>
        <p:nvSpPr>
          <p:cNvPr id="45" name="Text 42"/>
          <p:cNvSpPr txBox="1"/>
          <p:nvPr/>
        </p:nvSpPr>
        <p:spPr>
          <a:xfrm>
            <a:off x="7726680" y="3355848"/>
            <a:ext cx="274320" cy="274320"/>
          </a:xfrm>
          <a:prstGeom prst="rect">
            <a:avLst/>
          </a:prstGeom>
          <a:noFill/>
          <a:ln/>
        </p:spPr>
        <p:txBody>
          <a:bodyPr wrap="square" lIns="0" tIns="0" rIns="0" bIns="0" rtlCol="0" anchor="ctr"/>
          <a:lstStyle/>
          <a:p>
            <a:pPr algn="ctr" indent="0" marL="0">
              <a:buNone/>
            </a:pPr>
            <a:r>
              <a:rPr lang="en-US" sz="1100" b="1" dirty="0">
                <a:solidFill>
                  <a:schemeClr val="bg1"/>
                </a:solidFill>
              </a:rPr>
              <a:t>3</a:t>
            </a:r>
            <a:endParaRPr lang="en-US" sz="1100" dirty="0"/>
          </a:p>
        </p:txBody>
      </p:sp>
      <p:sp>
        <p:nvSpPr>
          <p:cNvPr id="46" name="Text 43"/>
          <p:cNvSpPr txBox="1"/>
          <p:nvPr/>
        </p:nvSpPr>
        <p:spPr>
          <a:xfrm>
            <a:off x="8110728" y="3337560"/>
            <a:ext cx="3529584" cy="292608"/>
          </a:xfrm>
          <a:prstGeom prst="rect">
            <a:avLst/>
          </a:prstGeom>
          <a:noFill/>
          <a:ln/>
        </p:spPr>
        <p:txBody>
          <a:bodyPr wrap="square" lIns="0" tIns="0" rIns="0" bIns="0" rtlCol="0" anchor="ctr"/>
          <a:lstStyle/>
          <a:p>
            <a:pPr indent="0" marL="0">
              <a:buNone/>
            </a:pPr>
            <a:r>
              <a:rPr lang="en-US" sz="1500" b="1" dirty="0">
                <a:solidFill>
                  <a:schemeClr val="tx2"/>
                </a:solidFill>
              </a:rPr>
              <a:t>Scales without ops headcount</a:t>
            </a:r>
            <a:endParaRPr lang="en-US" sz="1500" dirty="0"/>
          </a:p>
        </p:txBody>
      </p:sp>
      <p:sp>
        <p:nvSpPr>
          <p:cNvPr id="47" name="Text 44"/>
          <p:cNvSpPr txBox="1"/>
          <p:nvPr/>
        </p:nvSpPr>
        <p:spPr>
          <a:xfrm>
            <a:off x="8110728" y="3666744"/>
            <a:ext cx="3529584" cy="658368"/>
          </a:xfrm>
          <a:prstGeom prst="rect">
            <a:avLst/>
          </a:prstGeom>
          <a:noFill/>
          <a:ln/>
        </p:spPr>
        <p:txBody>
          <a:bodyPr wrap="square" lIns="0" tIns="0" rIns="0" bIns="0" rtlCol="0" anchor="t"/>
          <a:lstStyle/>
          <a:p>
            <a:pPr indent="0" marL="0">
              <a:buNone/>
            </a:pPr>
            <a:r>
              <a:rPr lang="en-US" sz="1250" dirty="0">
                <a:solidFill>
                  <a:schemeClr val="tx1"/>
                </a:solidFill>
              </a:rPr>
              <a:t>Fix once, apply to every investor in the fund · remember GP conventions · watch the portal for the GP's correction</a:t>
            </a:r>
            <a:endParaRPr lang="en-US" sz="1250" dirty="0"/>
          </a:p>
        </p:txBody>
      </p:sp>
      <p:sp>
        <p:nvSpPr>
          <p:cNvPr id="48" name="Text 45"/>
          <p:cNvSpPr txBox="1"/>
          <p:nvPr/>
        </p:nvSpPr>
        <p:spPr>
          <a:xfrm>
            <a:off x="7726680" y="4389120"/>
            <a:ext cx="3913632" cy="457200"/>
          </a:xfrm>
          <a:prstGeom prst="rect">
            <a:avLst/>
          </a:prstGeom>
          <a:noFill/>
          <a:ln/>
        </p:spPr>
        <p:txBody>
          <a:bodyPr wrap="square" lIns="0" tIns="0" rIns="0" bIns="0" rtlCol="0" anchor="t"/>
          <a:lstStyle/>
          <a:p>
            <a:pPr indent="0" marL="0">
              <a:buNone/>
            </a:pPr>
            <a:r>
              <a:rPr lang="en-US" sz="1250" b="1" i="1" dirty="0">
                <a:solidFill>
                  <a:schemeClr val="accent1"/>
                </a:solidFill>
              </a:rPr>
              <a:t>Competitors scale with ops teams. Bridge scales with the advisor.</a:t>
            </a:r>
            <a:endParaRPr lang="en-US" sz="1250" dirty="0"/>
          </a:p>
        </p:txBody>
      </p:sp>
      <p:sp>
        <p:nvSpPr>
          <p:cNvPr id="49" name="framing-0"/>
          <p:cNvSpPr/>
          <p:nvPr/>
        </p:nvSpPr>
        <p:spPr>
          <a:xfrm>
            <a:off x="548640" y="5029200"/>
            <a:ext cx="3584448" cy="1298448"/>
          </a:xfrm>
          <a:prstGeom prst="roundRect">
            <a:avLst>
              <a:gd name="adj" fmla="val 5634"/>
            </a:avLst>
          </a:prstGeom>
          <a:solidFill>
            <a:schemeClr val="bg2"/>
          </a:solidFill>
          <a:ln w="6350">
            <a:solidFill>
              <a:schemeClr val="bg2"/>
            </a:solidFill>
            <a:prstDash val="solid"/>
          </a:ln>
        </p:spPr>
      </p:sp>
      <p:sp>
        <p:nvSpPr>
          <p:cNvPr id="50" name="Text 47"/>
          <p:cNvSpPr txBox="1"/>
          <p:nvPr/>
        </p:nvSpPr>
        <p:spPr>
          <a:xfrm>
            <a:off x="713232" y="5148072"/>
            <a:ext cx="3255264" cy="228600"/>
          </a:xfrm>
          <a:prstGeom prst="rect">
            <a:avLst/>
          </a:prstGeom>
          <a:noFill/>
          <a:ln/>
        </p:spPr>
        <p:txBody>
          <a:bodyPr wrap="square" lIns="0" tIns="0" rIns="0" bIns="0" rtlCol="0" anchor="t"/>
          <a:lstStyle/>
          <a:p>
            <a:pPr indent="0" marL="0">
              <a:buNone/>
            </a:pPr>
            <a:r>
              <a:rPr lang="en-US" sz="1050" b="1" spc="150" kern="0" dirty="0">
                <a:solidFill>
                  <a:schemeClr val="accent1"/>
                </a:solidFill>
              </a:rPr>
              <a:t>BUILD FIRST</a:t>
            </a:r>
            <a:endParaRPr lang="en-US" sz="1050" dirty="0"/>
          </a:p>
        </p:txBody>
      </p:sp>
      <p:sp>
        <p:nvSpPr>
          <p:cNvPr id="51" name="Text 48"/>
          <p:cNvSpPr txBox="1"/>
          <p:nvPr/>
        </p:nvSpPr>
        <p:spPr>
          <a:xfrm>
            <a:off x="713232" y="5413248"/>
            <a:ext cx="3255264" cy="841248"/>
          </a:xfrm>
          <a:prstGeom prst="rect">
            <a:avLst/>
          </a:prstGeom>
          <a:noFill/>
          <a:ln/>
        </p:spPr>
        <p:txBody>
          <a:bodyPr wrap="square" lIns="0" tIns="0" rIns="0" bIns="0" rtlCol="0" anchor="t"/>
          <a:lstStyle/>
          <a:p>
            <a:pPr indent="0" marL="0">
              <a:spcAft>
                <a:spcPts val="300"/>
              </a:spcAft>
              <a:buNone/>
            </a:pPr>
            <a:r>
              <a:rPr lang="en-US" sz="1250" dirty="0">
                <a:solidFill>
                  <a:schemeClr val="tx1"/>
                </a:solidFill>
              </a:rPr>
              <a:t>Tiering engine</a:t>
            </a:r>
            <a:endParaRPr lang="en-US" sz="1250" dirty="0"/>
          </a:p>
          <a:p>
            <a:pPr indent="0" marL="0">
              <a:spcAft>
                <a:spcPts val="300"/>
              </a:spcAft>
              <a:buNone/>
            </a:pPr>
            <a:r>
              <a:rPr lang="en-US" sz="1250" dirty="0">
                <a:solidFill>
                  <a:schemeClr val="tx1"/>
                </a:solidFill>
              </a:rPr>
              <a:t>Single-position review flow</a:t>
            </a:r>
            <a:endParaRPr lang="en-US" sz="1250" dirty="0"/>
          </a:p>
          <a:p>
            <a:pPr indent="0" marL="0">
              <a:spcAft>
                <a:spcPts val="300"/>
              </a:spcAft>
              <a:buNone/>
            </a:pPr>
            <a:r>
              <a:rPr lang="en-US" sz="1250" dirty="0">
                <a:solidFill>
                  <a:schemeClr val="tx1"/>
                </a:solidFill>
              </a:rPr>
              <a:t>Override and audit model</a:t>
            </a:r>
            <a:endParaRPr lang="en-US" sz="1250" dirty="0"/>
          </a:p>
        </p:txBody>
      </p:sp>
      <p:sp>
        <p:nvSpPr>
          <p:cNvPr id="52" name="framing-1"/>
          <p:cNvSpPr/>
          <p:nvPr/>
        </p:nvSpPr>
        <p:spPr>
          <a:xfrm>
            <a:off x="4288536" y="5029200"/>
            <a:ext cx="3584448" cy="1298448"/>
          </a:xfrm>
          <a:prstGeom prst="roundRect">
            <a:avLst>
              <a:gd name="adj" fmla="val 5634"/>
            </a:avLst>
          </a:prstGeom>
          <a:solidFill>
            <a:schemeClr val="bg2"/>
          </a:solidFill>
          <a:ln w="6350">
            <a:solidFill>
              <a:schemeClr val="bg2"/>
            </a:solidFill>
            <a:prstDash val="solid"/>
          </a:ln>
        </p:spPr>
      </p:sp>
      <p:sp>
        <p:nvSpPr>
          <p:cNvPr id="53" name="Text 50"/>
          <p:cNvSpPr txBox="1"/>
          <p:nvPr/>
        </p:nvSpPr>
        <p:spPr>
          <a:xfrm>
            <a:off x="4453128" y="5148072"/>
            <a:ext cx="3255264" cy="228600"/>
          </a:xfrm>
          <a:prstGeom prst="rect">
            <a:avLst/>
          </a:prstGeom>
          <a:noFill/>
          <a:ln/>
        </p:spPr>
        <p:txBody>
          <a:bodyPr wrap="square" lIns="0" tIns="0" rIns="0" bIns="0" rtlCol="0" anchor="t"/>
          <a:lstStyle/>
          <a:p>
            <a:pPr indent="0" marL="0">
              <a:buNone/>
            </a:pPr>
            <a:r>
              <a:rPr lang="en-US" sz="1050" b="1" spc="150" kern="0" dirty="0">
                <a:solidFill>
                  <a:schemeClr val="accent1"/>
                </a:solidFill>
              </a:rPr>
              <a:t>LEAVE FOR LATER</a:t>
            </a:r>
            <a:endParaRPr lang="en-US" sz="1050" dirty="0"/>
          </a:p>
        </p:txBody>
      </p:sp>
      <p:sp>
        <p:nvSpPr>
          <p:cNvPr id="54" name="Text 51"/>
          <p:cNvSpPr txBox="1"/>
          <p:nvPr/>
        </p:nvSpPr>
        <p:spPr>
          <a:xfrm>
            <a:off x="4453128" y="5413248"/>
            <a:ext cx="3255264" cy="841248"/>
          </a:xfrm>
          <a:prstGeom prst="rect">
            <a:avLst/>
          </a:prstGeom>
          <a:noFill/>
          <a:ln/>
        </p:spPr>
        <p:txBody>
          <a:bodyPr wrap="square" lIns="0" tIns="0" rIns="0" bIns="0" rtlCol="0" anchor="t"/>
          <a:lstStyle/>
          <a:p>
            <a:pPr indent="0" marL="0">
              <a:spcAft>
                <a:spcPts val="300"/>
              </a:spcAft>
              <a:buNone/>
            </a:pPr>
            <a:r>
              <a:rPr lang="en-US" sz="1250" dirty="0">
                <a:solidFill>
                  <a:schemeClr val="tx1"/>
                </a:solidFill>
              </a:rPr>
              <a:t>Bulk actions across positions</a:t>
            </a:r>
            <a:endParaRPr lang="en-US" sz="1250" dirty="0"/>
          </a:p>
          <a:p>
            <a:pPr indent="0" marL="0">
              <a:spcAft>
                <a:spcPts val="300"/>
              </a:spcAft>
              <a:buNone/>
            </a:pPr>
            <a:r>
              <a:rPr lang="en-US" sz="1250" dirty="0">
                <a:solidFill>
                  <a:schemeClr val="tx1"/>
                </a:solidFill>
              </a:rPr>
              <a:t>GP-convention memory</a:t>
            </a:r>
            <a:endParaRPr lang="en-US" sz="1250" dirty="0"/>
          </a:p>
          <a:p>
            <a:pPr indent="0" marL="0">
              <a:spcAft>
                <a:spcPts val="300"/>
              </a:spcAft>
              <a:buNone/>
            </a:pPr>
            <a:r>
              <a:rPr lang="en-US" sz="1250" dirty="0">
                <a:solidFill>
                  <a:schemeClr val="tx1"/>
                </a:solidFill>
              </a:rPr>
              <a:t>Closing the loop with GPs</a:t>
            </a:r>
            <a:endParaRPr lang="en-US" sz="1250" dirty="0"/>
          </a:p>
        </p:txBody>
      </p:sp>
      <p:sp>
        <p:nvSpPr>
          <p:cNvPr id="55" name="framing-2"/>
          <p:cNvSpPr/>
          <p:nvPr/>
        </p:nvSpPr>
        <p:spPr>
          <a:xfrm>
            <a:off x="8028432" y="5029200"/>
            <a:ext cx="3584448" cy="1298448"/>
          </a:xfrm>
          <a:prstGeom prst="roundRect">
            <a:avLst>
              <a:gd name="adj" fmla="val 5634"/>
            </a:avLst>
          </a:prstGeom>
          <a:solidFill>
            <a:schemeClr val="bg2"/>
          </a:solidFill>
          <a:ln w="6350">
            <a:solidFill>
              <a:schemeClr val="bg2"/>
            </a:solidFill>
            <a:prstDash val="solid"/>
          </a:ln>
        </p:spPr>
      </p:sp>
      <p:sp>
        <p:nvSpPr>
          <p:cNvPr id="56" name="Text 53"/>
          <p:cNvSpPr txBox="1"/>
          <p:nvPr/>
        </p:nvSpPr>
        <p:spPr>
          <a:xfrm>
            <a:off x="8193024" y="5148072"/>
            <a:ext cx="3255264" cy="228600"/>
          </a:xfrm>
          <a:prstGeom prst="rect">
            <a:avLst/>
          </a:prstGeom>
          <a:noFill/>
          <a:ln/>
        </p:spPr>
        <p:txBody>
          <a:bodyPr wrap="square" lIns="0" tIns="0" rIns="0" bIns="0" rtlCol="0" anchor="t"/>
          <a:lstStyle/>
          <a:p>
            <a:pPr indent="0" marL="0">
              <a:buNone/>
            </a:pPr>
            <a:r>
              <a:rPr lang="en-US" sz="1050" b="1" spc="150" kern="0" dirty="0">
                <a:solidFill>
                  <a:schemeClr val="accent1"/>
                </a:solidFill>
              </a:rPr>
              <a:t>ENGINEERING BRIEF</a:t>
            </a:r>
            <a:endParaRPr lang="en-US" sz="1050" dirty="0"/>
          </a:p>
        </p:txBody>
      </p:sp>
      <p:sp>
        <p:nvSpPr>
          <p:cNvPr id="57" name="Text 54"/>
          <p:cNvSpPr txBox="1"/>
          <p:nvPr/>
        </p:nvSpPr>
        <p:spPr>
          <a:xfrm>
            <a:off x="8193024" y="5413248"/>
            <a:ext cx="3255264" cy="841248"/>
          </a:xfrm>
          <a:prstGeom prst="rect">
            <a:avLst/>
          </a:prstGeom>
          <a:noFill/>
          <a:ln/>
        </p:spPr>
        <p:txBody>
          <a:bodyPr wrap="square" lIns="0" tIns="0" rIns="0" bIns="0" rtlCol="0" anchor="t"/>
          <a:lstStyle/>
          <a:p>
            <a:pPr indent="0" marL="0">
              <a:spcAft>
                <a:spcPts val="300"/>
              </a:spcAft>
              <a:buNone/>
            </a:pPr>
            <a:r>
              <a:rPr lang="en-US" sz="1250" b="1" dirty="0">
                <a:solidFill>
                  <a:schemeClr val="tx1"/>
                </a:solidFill>
              </a:rPr>
              <a:t>Get right: </a:t>
            </a:r>
            <a:pPr indent="0" marL="0">
              <a:spcAft>
                <a:spcPts val="300"/>
              </a:spcAft>
              <a:buNone/>
            </a:pPr>
            <a:r>
              <a:rPr lang="en-US" sz="1250" dirty="0">
                <a:solidFill>
                  <a:schemeClr val="tx1"/>
                </a:solidFill>
              </a:rPr>
              <a:t>source figures never change; every override traces back</a:t>
            </a:r>
            <a:endParaRPr lang="en-US" sz="1250" dirty="0"/>
          </a:p>
          <a:p>
            <a:pPr indent="0" marL="0">
              <a:spcAft>
                <a:spcPts val="300"/>
              </a:spcAft>
              <a:buNone/>
            </a:pPr>
            <a:r>
              <a:rPr lang="en-US" sz="1250" b="1" dirty="0">
                <a:solidFill>
                  <a:schemeClr val="tx1"/>
                </a:solidFill>
              </a:rPr>
              <a:t>Skip: </a:t>
            </a:r>
            <a:pPr indent="0" marL="0">
              <a:spcAft>
                <a:spcPts val="300"/>
              </a:spcAft>
              <a:buNone/>
            </a:pPr>
            <a:r>
              <a:rPr lang="en-US" sz="1250" dirty="0">
                <a:solidFill>
                  <a:schemeClr val="tx1"/>
                </a:solidFill>
              </a:rPr>
              <a:t>a polished PDF viewer</a:t>
            </a:r>
            <a:endParaRPr lang="en-US" sz="1250" dirty="0"/>
          </a:p>
        </p:txBody>
      </p:sp>
      <p:sp>
        <p:nvSpPr>
          <p:cNvPr id="25" name="Slide Number Placeholder 0"/>
          <p:cNvSpPr>
            <a:spLocks noGrp="1"/>
          </p:cNvSpPr>
          <p:nvPr>
            <p:ph type="sldNum" sz="quarter" idx="4294967295"/>
          </p:nvPr>
        </p:nvSpPr>
        <p:spPr>
          <a:xfrm>
            <a:off x="11274552" y="6473952"/>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0972800" cy="274320"/>
          </a:xfrm>
          <a:prstGeom prst="rect">
            <a:avLst/>
          </a:prstGeom>
          <a:noFill/>
          <a:ln/>
        </p:spPr>
        <p:txBody>
          <a:bodyPr wrap="square" lIns="0" tIns="0" rIns="0" bIns="0" rtlCol="0"/>
          <a:lstStyle/>
          <a:p>
            <a:pPr indent="0" marL="0">
              <a:buNone/>
            </a:pPr>
            <a:r>
              <a:rPr lang="en-US" sz="1100" b="1" spc="200" kern="0" dirty="0">
                <a:solidFill>
                  <a:schemeClr val="accent1"/>
                </a:solidFill>
              </a:rPr>
              <a:t>PART 3 · THE CLIENT'S REPORT</a:t>
            </a:r>
            <a:endParaRPr lang="en-US" sz="1100" dirty="0"/>
          </a:p>
        </p:txBody>
      </p:sp>
      <p:sp>
        <p:nvSpPr>
          <p:cNvPr id="3" name="Text 0"/>
          <p:cNvSpPr/>
          <p:nvPr>
            <p:ph idx="101" type="title" hasCustomPrompt="1"/>
          </p:nvPr>
        </p:nvSpPr>
        <p:spPr>
          <a:xfrm>
            <a:off x="548640" y="621792"/>
            <a:ext cx="11064240" cy="640080"/>
          </a:xfrm>
          <a:prstGeom prst="rect">
            <a:avLst/>
          </a:prstGeom>
          <a:noFill/>
          <a:ln/>
        </p:spPr>
        <p:txBody>
          <a:bodyPr wrap="square" lIns="0" tIns="0" rIns="0" bIns="0" rtlCol="0" anchor="t"/>
          <a:lstStyle/>
          <a:p>
            <a:pPr algn="l" indent="0" marL="0">
              <a:buNone/>
            </a:pPr>
            <a:r>
              <a:rPr lang="en-US" sz="3200" b="1" dirty="0">
                <a:solidFill>
                  <a:schemeClr val="tx2"/>
                </a:solidFill>
                <a:latin typeface="Cambria" pitchFamily="34" charset="0"/>
                <a:ea typeface="Cambria" pitchFamily="34" charset="-122"/>
                <a:cs typeface="Cambria" pitchFamily="34" charset="-120"/>
              </a:rPr>
              <a:t>Verified, pending, unverified</a:t>
            </a:r>
            <a:endParaRPr lang="en-US" sz="3200" dirty="0"/>
          </a:p>
        </p:txBody>
      </p:sp>
      <p:sp>
        <p:nvSpPr>
          <p:cNvPr id="4" name="report"/>
          <p:cNvSpPr/>
          <p:nvPr/>
        </p:nvSpPr>
        <p:spPr>
          <a:xfrm>
            <a:off x="548640" y="1417320"/>
            <a:ext cx="7635240" cy="4800600"/>
          </a:xfrm>
          <a:prstGeom prst="roundRect">
            <a:avLst>
              <a:gd name="adj" fmla="val 952"/>
            </a:avLst>
          </a:prstGeom>
          <a:solidFill>
            <a:schemeClr val="bg1"/>
          </a:solidFill>
          <a:ln w="9525">
            <a:solidFill>
              <a:schemeClr val="accent4"/>
            </a:solidFill>
            <a:prstDash val="solid"/>
          </a:ln>
          <a:effectLst>
            <a:outerShdw sx="100000" sy="100000" kx="0" ky="0" algn="bl" rotWithShape="0" blurRad="76200" dist="25400" dir="5400000">
              <a:srgbClr val="000000">
                <a:alpha val="12000"/>
              </a:srgbClr>
            </a:outerShdw>
          </a:effectLst>
        </p:spPr>
      </p:sp>
      <p:sp>
        <p:nvSpPr>
          <p:cNvPr id="5" name="Text 3"/>
          <p:cNvSpPr txBox="1"/>
          <p:nvPr/>
        </p:nvSpPr>
        <p:spPr>
          <a:xfrm>
            <a:off x="822960" y="1618488"/>
            <a:ext cx="5486400" cy="320040"/>
          </a:xfrm>
          <a:prstGeom prst="rect">
            <a:avLst/>
          </a:prstGeom>
          <a:noFill/>
          <a:ln/>
        </p:spPr>
        <p:txBody>
          <a:bodyPr wrap="square" lIns="0" tIns="0" rIns="0" bIns="0" rtlCol="0" anchor="t"/>
          <a:lstStyle/>
          <a:p>
            <a:pPr indent="0" marL="0">
              <a:buNone/>
            </a:pPr>
            <a:r>
              <a:rPr lang="en-US" sz="1700" b="1" dirty="0">
                <a:solidFill>
                  <a:schemeClr val="tx2"/>
                </a:solidFill>
                <a:latin typeface="Cambria" pitchFamily="34" charset="0"/>
                <a:ea typeface="Cambria" pitchFamily="34" charset="-122"/>
                <a:cs typeface="Cambria" pitchFamily="34" charset="-120"/>
              </a:rPr>
              <a:t>Shah household · Private investments</a:t>
            </a:r>
            <a:endParaRPr lang="en-US" sz="1700" dirty="0"/>
          </a:p>
        </p:txBody>
      </p:sp>
      <p:sp>
        <p:nvSpPr>
          <p:cNvPr id="6" name="Text 4"/>
          <p:cNvSpPr txBox="1"/>
          <p:nvPr/>
        </p:nvSpPr>
        <p:spPr>
          <a:xfrm>
            <a:off x="822960" y="1938528"/>
            <a:ext cx="5486400" cy="228600"/>
          </a:xfrm>
          <a:prstGeom prst="rect">
            <a:avLst/>
          </a:prstGeom>
          <a:noFill/>
          <a:ln/>
        </p:spPr>
        <p:txBody>
          <a:bodyPr wrap="square" lIns="0" tIns="0" rIns="0" bIns="0" rtlCol="0" anchor="t"/>
          <a:lstStyle/>
          <a:p>
            <a:pPr indent="0" marL="0">
              <a:buNone/>
            </a:pPr>
            <a:r>
              <a:rPr lang="en-US" sz="1100" dirty="0">
                <a:solidFill>
                  <a:schemeClr val="accent5"/>
                </a:solidFill>
              </a:rPr>
              <a:t>As of 9/30/24 · illustrative, after advisor review</a:t>
            </a:r>
            <a:endParaRPr lang="en-US" sz="11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2960" y="2331720"/>
          <a:ext cx="7086600" cy="914400"/>
        </p:xfrm>
        <a:graphic>
          <a:graphicData uri="http://schemas.openxmlformats.org/drawingml/2006/table">
            <a:tbl>
              <a:tblPr/>
              <a:tblGrid>
                <a:gridCol w="2331720"/>
                <a:gridCol w="914400"/>
                <a:gridCol w="868680"/>
                <a:gridCol w="960120"/>
                <a:gridCol w="914400"/>
                <a:gridCol w="1097280"/>
              </a:tblGrid>
              <a:tr h="384048">
                <a:tc>
                  <a:txBody>
                    <a:bodyPr/>
                    <a:lstStyle/>
                    <a:p>
                      <a:pPr algn="l" indent="0" marL="0">
                        <a:buNone/>
                      </a:pPr>
                      <a:r>
                        <a:rPr lang="en-US" sz="1050" b="1" dirty="0">
                          <a:solidFill>
                            <a:srgbClr val="5B6B64"/>
                          </a:solidFill>
                          <a:latin typeface="Calibri" pitchFamily="34" charset="0"/>
                          <a:ea typeface="Calibri" pitchFamily="34" charset="-122"/>
                          <a:cs typeface="Calibri" pitchFamily="34" charset="-120"/>
                        </a:rPr>
                        <a:t>Position</a:t>
                      </a:r>
                      <a:endParaRPr lang="en-US" sz="1050" dirty="0">
                        <a:latin typeface="Calibri" charset="0"/>
                        <a:ea typeface="Calibri" charset="0"/>
                        <a:cs typeface="Calibri" charset="0"/>
                      </a:endParaRPr>
                    </a:p>
                  </a:txBody>
                  <a:tcPr marL="64008" marR="64008" marT="0" marB="0" anchor="ctr">
                    <a:lnL w="6350" cap="flat" cmpd="sng" algn="ctr">
                      <a:solidFill>
                        <a:srgbClr val="EEF2EF"/>
                      </a:solidFill>
                      <a:prstDash val="solid"/>
                      <a:round/>
                      <a:headEnd type="none" w="med" len="med"/>
                      <a:tailEnd type="none" w="med" len="med"/>
                    </a:lnL>
                    <a:lnR w="6350" cap="flat" cmpd="sng" algn="ctr">
                      <a:solidFill>
                        <a:srgbClr val="EEF2EF"/>
                      </a:solidFill>
                      <a:prstDash val="solid"/>
                      <a:round/>
                      <a:headEnd type="none" w="med" len="med"/>
                      <a:tailEnd type="none" w="med" len="med"/>
                    </a:lnR>
                    <a:lnT w="6350" cap="flat" cmpd="sng" algn="ctr">
                      <a:solidFill>
                        <a:srgbClr val="EEF2EF"/>
                      </a:solidFill>
                      <a:prstDash val="solid"/>
                      <a:round/>
                      <a:headEnd type="none" w="med" len="med"/>
                      <a:tailEnd type="none" w="med" len="med"/>
                    </a:lnT>
                    <a:lnB w="6350" cap="flat" cmpd="sng" algn="ctr">
                      <a:solidFill>
                        <a:srgbClr val="EEF2EF"/>
                      </a:solidFill>
                      <a:prstDash val="solid"/>
                      <a:round/>
                      <a:headEnd type="none" w="med" len="med"/>
                      <a:tailEnd type="none" w="med" len="med"/>
                    </a:lnB>
                  </a:tcPr>
                </a:tc>
                <a:tc>
                  <a:txBody>
                    <a:bodyPr/>
                    <a:lstStyle/>
                    <a:p>
                      <a:pPr algn="r" indent="0" marL="0">
                        <a:buNone/>
                      </a:pPr>
                      <a:r>
                        <a:rPr lang="en-US" sz="1050" b="1" dirty="0">
                          <a:solidFill>
                            <a:srgbClr val="5B6B64"/>
                          </a:solidFill>
                          <a:latin typeface="Calibri" pitchFamily="34" charset="0"/>
                          <a:ea typeface="Calibri" pitchFamily="34" charset="-122"/>
                          <a:cs typeface="Calibri" pitchFamily="34" charset="-120"/>
                        </a:rPr>
                        <a:t>Commitment</a:t>
                      </a:r>
                      <a:endParaRPr lang="en-US" sz="1050" dirty="0">
                        <a:latin typeface="Calibri" charset="0"/>
                        <a:ea typeface="Calibri" charset="0"/>
                        <a:cs typeface="Calibri" charset="0"/>
                      </a:endParaRPr>
                    </a:p>
                  </a:txBody>
                  <a:tcPr marL="64008" marR="64008" marT="0" marB="0" anchor="ctr">
                    <a:lnL w="6350" cap="flat" cmpd="sng" algn="ctr">
                      <a:solidFill>
                        <a:srgbClr val="EEF2EF"/>
                      </a:solidFill>
                      <a:prstDash val="solid"/>
                      <a:round/>
                      <a:headEnd type="none" w="med" len="med"/>
                      <a:tailEnd type="none" w="med" len="med"/>
                    </a:lnL>
                    <a:lnR w="6350" cap="flat" cmpd="sng" algn="ctr">
                      <a:solidFill>
                        <a:srgbClr val="EEF2EF"/>
                      </a:solidFill>
                      <a:prstDash val="solid"/>
                      <a:round/>
                      <a:headEnd type="none" w="med" len="med"/>
                      <a:tailEnd type="none" w="med" len="med"/>
                    </a:lnR>
                    <a:lnT w="6350" cap="flat" cmpd="sng" algn="ctr">
                      <a:solidFill>
                        <a:srgbClr val="EEF2EF"/>
                      </a:solidFill>
                      <a:prstDash val="solid"/>
                      <a:round/>
                      <a:headEnd type="none" w="med" len="med"/>
                      <a:tailEnd type="none" w="med" len="med"/>
                    </a:lnT>
                    <a:lnB w="6350" cap="flat" cmpd="sng" algn="ctr">
                      <a:solidFill>
                        <a:srgbClr val="EEF2EF"/>
                      </a:solidFill>
                      <a:prstDash val="solid"/>
                      <a:round/>
                      <a:headEnd type="none" w="med" len="med"/>
                      <a:tailEnd type="none" w="med" len="med"/>
                    </a:lnB>
                  </a:tcPr>
                </a:tc>
                <a:tc>
                  <a:txBody>
                    <a:bodyPr/>
                    <a:lstStyle/>
                    <a:p>
                      <a:pPr algn="r" indent="0" marL="0">
                        <a:buNone/>
                      </a:pPr>
                      <a:r>
                        <a:rPr lang="en-US" sz="1050" b="1" dirty="0">
                          <a:solidFill>
                            <a:srgbClr val="5B6B64"/>
                          </a:solidFill>
                          <a:latin typeface="Calibri" pitchFamily="34" charset="0"/>
                          <a:ea typeface="Calibri" pitchFamily="34" charset="-122"/>
                          <a:cs typeface="Calibri" pitchFamily="34" charset="-120"/>
                        </a:rPr>
                        <a:t>Paid in</a:t>
                      </a:r>
                      <a:endParaRPr lang="en-US" sz="1050" dirty="0">
                        <a:latin typeface="Calibri" charset="0"/>
                        <a:ea typeface="Calibri" charset="0"/>
                        <a:cs typeface="Calibri" charset="0"/>
                      </a:endParaRPr>
                    </a:p>
                  </a:txBody>
                  <a:tcPr marL="64008" marR="64008" marT="0" marB="0" anchor="ctr">
                    <a:lnL w="6350" cap="flat" cmpd="sng" algn="ctr">
                      <a:solidFill>
                        <a:srgbClr val="EEF2EF"/>
                      </a:solidFill>
                      <a:prstDash val="solid"/>
                      <a:round/>
                      <a:headEnd type="none" w="med" len="med"/>
                      <a:tailEnd type="none" w="med" len="med"/>
                    </a:lnL>
                    <a:lnR w="6350" cap="flat" cmpd="sng" algn="ctr">
                      <a:solidFill>
                        <a:srgbClr val="EEF2EF"/>
                      </a:solidFill>
                      <a:prstDash val="solid"/>
                      <a:round/>
                      <a:headEnd type="none" w="med" len="med"/>
                      <a:tailEnd type="none" w="med" len="med"/>
                    </a:lnR>
                    <a:lnT w="6350" cap="flat" cmpd="sng" algn="ctr">
                      <a:solidFill>
                        <a:srgbClr val="EEF2EF"/>
                      </a:solidFill>
                      <a:prstDash val="solid"/>
                      <a:round/>
                      <a:headEnd type="none" w="med" len="med"/>
                      <a:tailEnd type="none" w="med" len="med"/>
                    </a:lnT>
                    <a:lnB w="6350" cap="flat" cmpd="sng" algn="ctr">
                      <a:solidFill>
                        <a:srgbClr val="EEF2EF"/>
                      </a:solidFill>
                      <a:prstDash val="solid"/>
                      <a:round/>
                      <a:headEnd type="none" w="med" len="med"/>
                      <a:tailEnd type="none" w="med" len="med"/>
                    </a:lnB>
                  </a:tcPr>
                </a:tc>
                <a:tc>
                  <a:txBody>
                    <a:bodyPr/>
                    <a:lstStyle/>
                    <a:p>
                      <a:pPr algn="r" indent="0" marL="0">
                        <a:buNone/>
                      </a:pPr>
                      <a:r>
                        <a:rPr lang="en-US" sz="1050" b="1" dirty="0">
                          <a:solidFill>
                            <a:srgbClr val="5B6B64"/>
                          </a:solidFill>
                          <a:latin typeface="Calibri" pitchFamily="34" charset="0"/>
                          <a:ea typeface="Calibri" pitchFamily="34" charset="-122"/>
                          <a:cs typeface="Calibri" pitchFamily="34" charset="-120"/>
                        </a:rPr>
                        <a:t>Distributions</a:t>
                      </a:r>
                      <a:endParaRPr lang="en-US" sz="1050" dirty="0">
                        <a:latin typeface="Calibri" charset="0"/>
                        <a:ea typeface="Calibri" charset="0"/>
                        <a:cs typeface="Calibri" charset="0"/>
                      </a:endParaRPr>
                    </a:p>
                  </a:txBody>
                  <a:tcPr marL="64008" marR="64008" marT="0" marB="0" anchor="ctr">
                    <a:lnL w="6350" cap="flat" cmpd="sng" algn="ctr">
                      <a:solidFill>
                        <a:srgbClr val="EEF2EF"/>
                      </a:solidFill>
                      <a:prstDash val="solid"/>
                      <a:round/>
                      <a:headEnd type="none" w="med" len="med"/>
                      <a:tailEnd type="none" w="med" len="med"/>
                    </a:lnL>
                    <a:lnR w="6350" cap="flat" cmpd="sng" algn="ctr">
                      <a:solidFill>
                        <a:srgbClr val="EEF2EF"/>
                      </a:solidFill>
                      <a:prstDash val="solid"/>
                      <a:round/>
                      <a:headEnd type="none" w="med" len="med"/>
                      <a:tailEnd type="none" w="med" len="med"/>
                    </a:lnR>
                    <a:lnT w="6350" cap="flat" cmpd="sng" algn="ctr">
                      <a:solidFill>
                        <a:srgbClr val="EEF2EF"/>
                      </a:solidFill>
                      <a:prstDash val="solid"/>
                      <a:round/>
                      <a:headEnd type="none" w="med" len="med"/>
                      <a:tailEnd type="none" w="med" len="med"/>
                    </a:lnT>
                    <a:lnB w="6350" cap="flat" cmpd="sng" algn="ctr">
                      <a:solidFill>
                        <a:srgbClr val="EEF2EF"/>
                      </a:solidFill>
                      <a:prstDash val="solid"/>
                      <a:round/>
                      <a:headEnd type="none" w="med" len="med"/>
                      <a:tailEnd type="none" w="med" len="med"/>
                    </a:lnB>
                  </a:tcPr>
                </a:tc>
                <a:tc>
                  <a:txBody>
                    <a:bodyPr/>
                    <a:lstStyle/>
                    <a:p>
                      <a:pPr algn="r" indent="0" marL="0">
                        <a:buNone/>
                      </a:pPr>
                      <a:r>
                        <a:rPr lang="en-US" sz="1050" b="1" dirty="0">
                          <a:solidFill>
                            <a:srgbClr val="5B6B64"/>
                          </a:solidFill>
                          <a:latin typeface="Calibri" pitchFamily="34" charset="0"/>
                          <a:ea typeface="Calibri" pitchFamily="34" charset="-122"/>
                          <a:cs typeface="Calibri" pitchFamily="34" charset="-120"/>
                        </a:rPr>
                        <a:t>Value</a:t>
                      </a:r>
                      <a:endParaRPr lang="en-US" sz="1050" dirty="0">
                        <a:latin typeface="Calibri" charset="0"/>
                        <a:ea typeface="Calibri" charset="0"/>
                        <a:cs typeface="Calibri" charset="0"/>
                      </a:endParaRPr>
                    </a:p>
                  </a:txBody>
                  <a:tcPr marL="64008" marR="64008" marT="0" marB="0" anchor="ctr">
                    <a:lnL w="6350" cap="flat" cmpd="sng" algn="ctr">
                      <a:solidFill>
                        <a:srgbClr val="EEF2EF"/>
                      </a:solidFill>
                      <a:prstDash val="solid"/>
                      <a:round/>
                      <a:headEnd type="none" w="med" len="med"/>
                      <a:tailEnd type="none" w="med" len="med"/>
                    </a:lnL>
                    <a:lnR w="6350" cap="flat" cmpd="sng" algn="ctr">
                      <a:solidFill>
                        <a:srgbClr val="EEF2EF"/>
                      </a:solidFill>
                      <a:prstDash val="solid"/>
                      <a:round/>
                      <a:headEnd type="none" w="med" len="med"/>
                      <a:tailEnd type="none" w="med" len="med"/>
                    </a:lnR>
                    <a:lnT w="6350" cap="flat" cmpd="sng" algn="ctr">
                      <a:solidFill>
                        <a:srgbClr val="EEF2EF"/>
                      </a:solidFill>
                      <a:prstDash val="solid"/>
                      <a:round/>
                      <a:headEnd type="none" w="med" len="med"/>
                      <a:tailEnd type="none" w="med" len="med"/>
                    </a:lnT>
                    <a:lnB w="6350" cap="flat" cmpd="sng" algn="ctr">
                      <a:solidFill>
                        <a:srgbClr val="EEF2EF"/>
                      </a:solidFill>
                      <a:prstDash val="solid"/>
                      <a:round/>
                      <a:headEnd type="none" w="med" len="med"/>
                      <a:tailEnd type="none" w="med" len="med"/>
                    </a:lnB>
                  </a:tcPr>
                </a:tc>
                <a:tc>
                  <a:txBody>
                    <a:bodyPr/>
                    <a:lstStyle/>
                    <a:p>
                      <a:pPr algn="l" indent="0" marL="0">
                        <a:buNone/>
                      </a:pPr>
                      <a:r>
                        <a:rPr lang="en-US" sz="1050" b="1" dirty="0">
                          <a:solidFill>
                            <a:srgbClr val="5B6B64"/>
                          </a:solidFill>
                          <a:latin typeface="Calibri" pitchFamily="34" charset="0"/>
                          <a:ea typeface="Calibri" pitchFamily="34" charset="-122"/>
                          <a:cs typeface="Calibri" pitchFamily="34" charset="-120"/>
                        </a:rPr>
                        <a:t>Status</a:t>
                      </a:r>
                      <a:endParaRPr lang="en-US" sz="1050" dirty="0">
                        <a:latin typeface="Calibri" charset="0"/>
                        <a:ea typeface="Calibri" charset="0"/>
                        <a:cs typeface="Calibri" charset="0"/>
                      </a:endParaRPr>
                    </a:p>
                  </a:txBody>
                  <a:tcPr marL="64008" marR="64008" marT="0" marB="0" anchor="ctr">
                    <a:lnL w="6350" cap="flat" cmpd="sng" algn="ctr">
                      <a:solidFill>
                        <a:srgbClr val="EEF2EF"/>
                      </a:solidFill>
                      <a:prstDash val="solid"/>
                      <a:round/>
                      <a:headEnd type="none" w="med" len="med"/>
                      <a:tailEnd type="none" w="med" len="med"/>
                    </a:lnL>
                    <a:lnR w="6350" cap="flat" cmpd="sng" algn="ctr">
                      <a:solidFill>
                        <a:srgbClr val="EEF2EF"/>
                      </a:solidFill>
                      <a:prstDash val="solid"/>
                      <a:round/>
                      <a:headEnd type="none" w="med" len="med"/>
                      <a:tailEnd type="none" w="med" len="med"/>
                    </a:lnR>
                    <a:lnT w="6350" cap="flat" cmpd="sng" algn="ctr">
                      <a:solidFill>
                        <a:srgbClr val="EEF2EF"/>
                      </a:solidFill>
                      <a:prstDash val="solid"/>
                      <a:round/>
                      <a:headEnd type="none" w="med" len="med"/>
                      <a:tailEnd type="none" w="med" len="med"/>
                    </a:lnT>
                    <a:lnB w="6350" cap="flat" cmpd="sng" algn="ctr">
                      <a:solidFill>
                        <a:srgbClr val="EEF2EF"/>
                      </a:solidFill>
                      <a:prstDash val="solid"/>
                      <a:round/>
                      <a:headEnd type="none" w="med" len="med"/>
                      <a:tailEnd type="none" w="med" len="med"/>
                    </a:lnB>
                  </a:tcPr>
                </a:tc>
              </a:tr>
              <a:tr h="384048">
                <a:tc>
                  <a:txBody>
                    <a:bodyPr/>
                    <a:lstStyle/>
                    <a:p>
                      <a:pPr indent="0" marL="0">
                        <a:buNone/>
                      </a:pPr>
                      <a:r>
                        <a:rPr lang="en-US" sz="1150" b="1" dirty="0">
                          <a:solidFill>
                            <a:srgbClr val="1B2420"/>
                          </a:solidFill>
                          <a:latin typeface="Calibri" pitchFamily="34" charset="0"/>
                          <a:ea typeface="Calibri" pitchFamily="34" charset="-122"/>
                          <a:cs typeface="Calibri" pitchFamily="34" charset="-120"/>
                        </a:rPr>
                        <a:t>Ashbourne II · P. Shah Trust</a:t>
                      </a:r>
                      <a:endParaRPr lang="en-US" sz="1150" dirty="0">
                        <a:latin typeface="Calibri" charset="0"/>
                        <a:ea typeface="Calibri" charset="0"/>
                        <a:cs typeface="Calibri" charset="0"/>
                      </a:endParaRPr>
                    </a:p>
                  </a:txBody>
                  <a:tcPr marL="64008" marR="64008" marT="0" marB="0" anchor="ctr">
                    <a:lnL w="6350" cap="flat" cmpd="sng" algn="ctr">
                      <a:solidFill>
                        <a:srgbClr val="EEF2EF"/>
                      </a:solidFill>
                      <a:prstDash val="solid"/>
                      <a:round/>
                      <a:headEnd type="none" w="med" len="med"/>
                      <a:tailEnd type="none" w="med" len="med"/>
                    </a:lnL>
                    <a:lnR w="6350" cap="flat" cmpd="sng" algn="ctr">
                      <a:solidFill>
                        <a:srgbClr val="EEF2EF"/>
                      </a:solidFill>
                      <a:prstDash val="solid"/>
                      <a:round/>
                      <a:headEnd type="none" w="med" len="med"/>
                      <a:tailEnd type="none" w="med" len="med"/>
                    </a:lnR>
                    <a:lnT w="6350" cap="flat" cmpd="sng" algn="ctr">
                      <a:solidFill>
                        <a:srgbClr val="EEF2EF"/>
                      </a:solidFill>
                      <a:prstDash val="solid"/>
                      <a:round/>
                      <a:headEnd type="none" w="med" len="med"/>
                      <a:tailEnd type="none" w="med" len="med"/>
                    </a:lnT>
                    <a:lnB w="6350" cap="flat" cmpd="sng" algn="ctr">
                      <a:solidFill>
                        <a:srgbClr val="EEF2EF"/>
                      </a:solidFill>
                      <a:prstDash val="solid"/>
                      <a:round/>
                      <a:headEnd type="none" w="med" len="med"/>
                      <a:tailEnd type="none" w="med" len="med"/>
                    </a:lnB>
                  </a:tcPr>
                </a:tc>
                <a:tc>
                  <a:txBody>
                    <a:bodyPr/>
                    <a:lstStyle/>
                    <a:p>
                      <a:pPr algn="r" indent="0" marL="0">
                        <a:buNone/>
                      </a:pPr>
                      <a:r>
                        <a:rPr lang="en-US" sz="1150" dirty="0">
                          <a:solidFill>
                            <a:srgbClr val="1B2420"/>
                          </a:solidFill>
                          <a:latin typeface="Calibri" pitchFamily="34" charset="0"/>
                          <a:ea typeface="Calibri" pitchFamily="34" charset="-122"/>
                          <a:cs typeface="Calibri" pitchFamily="34" charset="-120"/>
                        </a:rPr>
                        <a:t>$550,000</a:t>
                      </a:r>
                      <a:endParaRPr lang="en-US" sz="1150" dirty="0">
                        <a:latin typeface="Calibri" charset="0"/>
                        <a:ea typeface="Calibri" charset="0"/>
                        <a:cs typeface="Calibri" charset="0"/>
                      </a:endParaRPr>
                    </a:p>
                  </a:txBody>
                  <a:tcPr marL="64008" marR="64008" marT="0" marB="0" anchor="ctr">
                    <a:lnL w="6350" cap="flat" cmpd="sng" algn="ctr">
                      <a:solidFill>
                        <a:srgbClr val="EEF2EF"/>
                      </a:solidFill>
                      <a:prstDash val="solid"/>
                      <a:round/>
                      <a:headEnd type="none" w="med" len="med"/>
                      <a:tailEnd type="none" w="med" len="med"/>
                    </a:lnL>
                    <a:lnR w="6350" cap="flat" cmpd="sng" algn="ctr">
                      <a:solidFill>
                        <a:srgbClr val="EEF2EF"/>
                      </a:solidFill>
                      <a:prstDash val="solid"/>
                      <a:round/>
                      <a:headEnd type="none" w="med" len="med"/>
                      <a:tailEnd type="none" w="med" len="med"/>
                    </a:lnR>
                    <a:lnT w="6350" cap="flat" cmpd="sng" algn="ctr">
                      <a:solidFill>
                        <a:srgbClr val="EEF2EF"/>
                      </a:solidFill>
                      <a:prstDash val="solid"/>
                      <a:round/>
                      <a:headEnd type="none" w="med" len="med"/>
                      <a:tailEnd type="none" w="med" len="med"/>
                    </a:lnT>
                    <a:lnB w="6350" cap="flat" cmpd="sng" algn="ctr">
                      <a:solidFill>
                        <a:srgbClr val="EEF2EF"/>
                      </a:solidFill>
                      <a:prstDash val="solid"/>
                      <a:round/>
                      <a:headEnd type="none" w="med" len="med"/>
                      <a:tailEnd type="none" w="med" len="med"/>
                    </a:lnB>
                  </a:tcPr>
                </a:tc>
                <a:tc>
                  <a:txBody>
                    <a:bodyPr/>
                    <a:lstStyle/>
                    <a:p>
                      <a:pPr algn="r" indent="0" marL="0">
                        <a:buNone/>
                      </a:pPr>
                      <a:r>
                        <a:rPr lang="en-US" sz="1150" dirty="0">
                          <a:solidFill>
                            <a:srgbClr val="1B2420"/>
                          </a:solidFill>
                          <a:latin typeface="Calibri" pitchFamily="34" charset="0"/>
                          <a:ea typeface="Calibri" pitchFamily="34" charset="-122"/>
                          <a:cs typeface="Calibri" pitchFamily="34" charset="-120"/>
                        </a:rPr>
                        <a:t>$181,500</a:t>
                      </a:r>
                      <a:endParaRPr lang="en-US" sz="1150" dirty="0">
                        <a:latin typeface="Calibri" charset="0"/>
                        <a:ea typeface="Calibri" charset="0"/>
                        <a:cs typeface="Calibri" charset="0"/>
                      </a:endParaRPr>
                    </a:p>
                  </a:txBody>
                  <a:tcPr marL="64008" marR="64008" marT="0" marB="0" anchor="ctr">
                    <a:lnL w="6350" cap="flat" cmpd="sng" algn="ctr">
                      <a:solidFill>
                        <a:srgbClr val="EEF2EF"/>
                      </a:solidFill>
                      <a:prstDash val="solid"/>
                      <a:round/>
                      <a:headEnd type="none" w="med" len="med"/>
                      <a:tailEnd type="none" w="med" len="med"/>
                    </a:lnL>
                    <a:lnR w="6350" cap="flat" cmpd="sng" algn="ctr">
                      <a:solidFill>
                        <a:srgbClr val="EEF2EF"/>
                      </a:solidFill>
                      <a:prstDash val="solid"/>
                      <a:round/>
                      <a:headEnd type="none" w="med" len="med"/>
                      <a:tailEnd type="none" w="med" len="med"/>
                    </a:lnR>
                    <a:lnT w="6350" cap="flat" cmpd="sng" algn="ctr">
                      <a:solidFill>
                        <a:srgbClr val="EEF2EF"/>
                      </a:solidFill>
                      <a:prstDash val="solid"/>
                      <a:round/>
                      <a:headEnd type="none" w="med" len="med"/>
                      <a:tailEnd type="none" w="med" len="med"/>
                    </a:lnT>
                    <a:lnB w="6350" cap="flat" cmpd="sng" algn="ctr">
                      <a:solidFill>
                        <a:srgbClr val="EEF2EF"/>
                      </a:solidFill>
                      <a:prstDash val="solid"/>
                      <a:round/>
                      <a:headEnd type="none" w="med" len="med"/>
                      <a:tailEnd type="none" w="med" len="med"/>
                    </a:lnB>
                  </a:tcPr>
                </a:tc>
                <a:tc>
                  <a:txBody>
                    <a:bodyPr/>
                    <a:lstStyle/>
                    <a:p>
                      <a:pPr algn="r" indent="0" marL="0">
                        <a:buNone/>
                      </a:pPr>
                      <a:r>
                        <a:rPr lang="en-US" sz="1150" dirty="0">
                          <a:solidFill>
                            <a:srgbClr val="1B2420"/>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64008" marR="64008" marT="0" marB="0" anchor="ctr">
                    <a:lnL w="6350" cap="flat" cmpd="sng" algn="ctr">
                      <a:solidFill>
                        <a:srgbClr val="EEF2EF"/>
                      </a:solidFill>
                      <a:prstDash val="solid"/>
                      <a:round/>
                      <a:headEnd type="none" w="med" len="med"/>
                      <a:tailEnd type="none" w="med" len="med"/>
                    </a:lnL>
                    <a:lnR w="6350" cap="flat" cmpd="sng" algn="ctr">
                      <a:solidFill>
                        <a:srgbClr val="EEF2EF"/>
                      </a:solidFill>
                      <a:prstDash val="solid"/>
                      <a:round/>
                      <a:headEnd type="none" w="med" len="med"/>
                      <a:tailEnd type="none" w="med" len="med"/>
                    </a:lnR>
                    <a:lnT w="6350" cap="flat" cmpd="sng" algn="ctr">
                      <a:solidFill>
                        <a:srgbClr val="EEF2EF"/>
                      </a:solidFill>
                      <a:prstDash val="solid"/>
                      <a:round/>
                      <a:headEnd type="none" w="med" len="med"/>
                      <a:tailEnd type="none" w="med" len="med"/>
                    </a:lnT>
                    <a:lnB w="6350" cap="flat" cmpd="sng" algn="ctr">
                      <a:solidFill>
                        <a:srgbClr val="EEF2EF"/>
                      </a:solidFill>
                      <a:prstDash val="solid"/>
                      <a:round/>
                      <a:headEnd type="none" w="med" len="med"/>
                      <a:tailEnd type="none" w="med" len="med"/>
                    </a:lnB>
                  </a:tcPr>
                </a:tc>
                <a:tc>
                  <a:txBody>
                    <a:bodyPr/>
                    <a:lstStyle/>
                    <a:p>
                      <a:pPr algn="r" indent="0" marL="0">
                        <a:buNone/>
                      </a:pPr>
                      <a:r>
                        <a:rPr lang="en-US" sz="1150" dirty="0">
                          <a:solidFill>
                            <a:srgbClr val="1B2420"/>
                          </a:solidFill>
                          <a:latin typeface="Calibri" pitchFamily="34" charset="0"/>
                          <a:ea typeface="Calibri" pitchFamily="34" charset="-122"/>
                          <a:cs typeface="Calibri" pitchFamily="34" charset="-120"/>
                        </a:rPr>
                        <a:t>$254,100</a:t>
                      </a:r>
                      <a:endParaRPr lang="en-US" sz="1150" dirty="0">
                        <a:latin typeface="Calibri" charset="0"/>
                        <a:ea typeface="Calibri" charset="0"/>
                        <a:cs typeface="Calibri" charset="0"/>
                      </a:endParaRPr>
                    </a:p>
                  </a:txBody>
                  <a:tcPr marL="64008" marR="64008" marT="0" marB="0" anchor="ctr">
                    <a:lnL w="6350" cap="flat" cmpd="sng" algn="ctr">
                      <a:solidFill>
                        <a:srgbClr val="EEF2EF"/>
                      </a:solidFill>
                      <a:prstDash val="solid"/>
                      <a:round/>
                      <a:headEnd type="none" w="med" len="med"/>
                      <a:tailEnd type="none" w="med" len="med"/>
                    </a:lnL>
                    <a:lnR w="6350" cap="flat" cmpd="sng" algn="ctr">
                      <a:solidFill>
                        <a:srgbClr val="EEF2EF"/>
                      </a:solidFill>
                      <a:prstDash val="solid"/>
                      <a:round/>
                      <a:headEnd type="none" w="med" len="med"/>
                      <a:tailEnd type="none" w="med" len="med"/>
                    </a:lnR>
                    <a:lnT w="6350" cap="flat" cmpd="sng" algn="ctr">
                      <a:solidFill>
                        <a:srgbClr val="EEF2EF"/>
                      </a:solidFill>
                      <a:prstDash val="solid"/>
                      <a:round/>
                      <a:headEnd type="none" w="med" len="med"/>
                      <a:tailEnd type="none" w="med" len="med"/>
                    </a:lnT>
                    <a:lnB w="6350" cap="flat" cmpd="sng" algn="ctr">
                      <a:solidFill>
                        <a:srgbClr val="EEF2EF"/>
                      </a:solidFill>
                      <a:prstDash val="solid"/>
                      <a:round/>
                      <a:headEnd type="none" w="med" len="med"/>
                      <a:tailEnd type="none" w="med" len="med"/>
                    </a:lnB>
                  </a:tcPr>
                </a:tc>
                <a:tc>
                  <a:txBody>
                    <a:bodyPr/>
                    <a:lstStyle/>
                    <a:p>
                      <a:pPr algn="l" indent="0" marL="0">
                        <a:buNone/>
                      </a:pPr>
                      <a:r>
                        <a:rPr lang="en-US" sz="1100" b="1" dirty="0">
                          <a:solidFill>
                            <a:srgbClr val="1F7A5C"/>
                          </a:solidFill>
                          <a:latin typeface="Calibri" pitchFamily="34" charset="0"/>
                          <a:ea typeface="Calibri" pitchFamily="34" charset="-122"/>
                          <a:cs typeface="Calibri" pitchFamily="34" charset="-120"/>
                        </a:rPr>
                        <a:t>● Verified</a:t>
                      </a:r>
                      <a:endParaRPr lang="en-US" sz="1100" dirty="0">
                        <a:latin typeface="Calibri" charset="0"/>
                        <a:ea typeface="Calibri" charset="0"/>
                        <a:cs typeface="Calibri" charset="0"/>
                      </a:endParaRPr>
                    </a:p>
                  </a:txBody>
                  <a:tcPr marL="64008" marR="64008" marT="0" marB="0" anchor="ctr">
                    <a:lnL w="6350" cap="flat" cmpd="sng" algn="ctr">
                      <a:solidFill>
                        <a:srgbClr val="EEF2EF"/>
                      </a:solidFill>
                      <a:prstDash val="solid"/>
                      <a:round/>
                      <a:headEnd type="none" w="med" len="med"/>
                      <a:tailEnd type="none" w="med" len="med"/>
                    </a:lnL>
                    <a:lnR w="6350" cap="flat" cmpd="sng" algn="ctr">
                      <a:solidFill>
                        <a:srgbClr val="EEF2EF"/>
                      </a:solidFill>
                      <a:prstDash val="solid"/>
                      <a:round/>
                      <a:headEnd type="none" w="med" len="med"/>
                      <a:tailEnd type="none" w="med" len="med"/>
                    </a:lnR>
                    <a:lnT w="6350" cap="flat" cmpd="sng" algn="ctr">
                      <a:solidFill>
                        <a:srgbClr val="EEF2EF"/>
                      </a:solidFill>
                      <a:prstDash val="solid"/>
                      <a:round/>
                      <a:headEnd type="none" w="med" len="med"/>
                      <a:tailEnd type="none" w="med" len="med"/>
                    </a:lnT>
                    <a:lnB w="6350" cap="flat" cmpd="sng" algn="ctr">
                      <a:solidFill>
                        <a:srgbClr val="EEF2EF"/>
                      </a:solidFill>
                      <a:prstDash val="solid"/>
                      <a:round/>
                      <a:headEnd type="none" w="med" len="med"/>
                      <a:tailEnd type="none" w="med" len="med"/>
                    </a:lnB>
                  </a:tcPr>
                </a:tc>
              </a:tr>
              <a:tr h="384048">
                <a:tc>
                  <a:txBody>
                    <a:bodyPr/>
                    <a:lstStyle/>
                    <a:p>
                      <a:pPr indent="0" marL="0">
                        <a:buNone/>
                      </a:pPr>
                      <a:r>
                        <a:rPr lang="en-US" sz="1150" b="1" dirty="0">
                          <a:solidFill>
                            <a:srgbClr val="1B2420"/>
                          </a:solidFill>
                          <a:latin typeface="Calibri" pitchFamily="34" charset="0"/>
                          <a:ea typeface="Calibri" pitchFamily="34" charset="-122"/>
                          <a:cs typeface="Calibri" pitchFamily="34" charset="-120"/>
                        </a:rPr>
                        <a:t>Falcon Ridge III · P. Shah Trust</a:t>
                      </a:r>
                      <a:endParaRPr lang="en-US" sz="1150" dirty="0">
                        <a:latin typeface="Calibri" charset="0"/>
                        <a:ea typeface="Calibri" charset="0"/>
                        <a:cs typeface="Calibri" charset="0"/>
                      </a:endParaRPr>
                    </a:p>
                  </a:txBody>
                  <a:tcPr marL="64008" marR="64008" marT="0" marB="0" anchor="ctr">
                    <a:lnL w="6350" cap="flat" cmpd="sng" algn="ctr">
                      <a:solidFill>
                        <a:srgbClr val="EEF2EF"/>
                      </a:solidFill>
                      <a:prstDash val="solid"/>
                      <a:round/>
                      <a:headEnd type="none" w="med" len="med"/>
                      <a:tailEnd type="none" w="med" len="med"/>
                    </a:lnL>
                    <a:lnR w="6350" cap="flat" cmpd="sng" algn="ctr">
                      <a:solidFill>
                        <a:srgbClr val="EEF2EF"/>
                      </a:solidFill>
                      <a:prstDash val="solid"/>
                      <a:round/>
                      <a:headEnd type="none" w="med" len="med"/>
                      <a:tailEnd type="none" w="med" len="med"/>
                    </a:lnR>
                    <a:lnT w="6350" cap="flat" cmpd="sng" algn="ctr">
                      <a:solidFill>
                        <a:srgbClr val="EEF2EF"/>
                      </a:solidFill>
                      <a:prstDash val="solid"/>
                      <a:round/>
                      <a:headEnd type="none" w="med" len="med"/>
                      <a:tailEnd type="none" w="med" len="med"/>
                    </a:lnT>
                    <a:lnB w="6350" cap="flat" cmpd="sng" algn="ctr">
                      <a:solidFill>
                        <a:srgbClr val="EEF2EF"/>
                      </a:solidFill>
                      <a:prstDash val="solid"/>
                      <a:round/>
                      <a:headEnd type="none" w="med" len="med"/>
                      <a:tailEnd type="none" w="med" len="med"/>
                    </a:lnB>
                  </a:tcPr>
                </a:tc>
                <a:tc>
                  <a:txBody>
                    <a:bodyPr/>
                    <a:lstStyle/>
                    <a:p>
                      <a:pPr algn="r" indent="0" marL="0">
                        <a:buNone/>
                      </a:pPr>
                      <a:r>
                        <a:rPr lang="en-US" sz="1150" dirty="0">
                          <a:solidFill>
                            <a:srgbClr val="1B2420"/>
                          </a:solidFill>
                          <a:latin typeface="Calibri" pitchFamily="34" charset="0"/>
                          <a:ea typeface="Calibri" pitchFamily="34" charset="-122"/>
                          <a:cs typeface="Calibri" pitchFamily="34" charset="-120"/>
                        </a:rPr>
                        <a:t>$300,000</a:t>
                      </a:r>
                      <a:endParaRPr lang="en-US" sz="1150" dirty="0">
                        <a:latin typeface="Calibri" charset="0"/>
                        <a:ea typeface="Calibri" charset="0"/>
                        <a:cs typeface="Calibri" charset="0"/>
                      </a:endParaRPr>
                    </a:p>
                  </a:txBody>
                  <a:tcPr marL="64008" marR="64008" marT="0" marB="0" anchor="ctr">
                    <a:lnL w="6350" cap="flat" cmpd="sng" algn="ctr">
                      <a:solidFill>
                        <a:srgbClr val="EEF2EF"/>
                      </a:solidFill>
                      <a:prstDash val="solid"/>
                      <a:round/>
                      <a:headEnd type="none" w="med" len="med"/>
                      <a:tailEnd type="none" w="med" len="med"/>
                    </a:lnL>
                    <a:lnR w="6350" cap="flat" cmpd="sng" algn="ctr">
                      <a:solidFill>
                        <a:srgbClr val="EEF2EF"/>
                      </a:solidFill>
                      <a:prstDash val="solid"/>
                      <a:round/>
                      <a:headEnd type="none" w="med" len="med"/>
                      <a:tailEnd type="none" w="med" len="med"/>
                    </a:lnR>
                    <a:lnT w="6350" cap="flat" cmpd="sng" algn="ctr">
                      <a:solidFill>
                        <a:srgbClr val="EEF2EF"/>
                      </a:solidFill>
                      <a:prstDash val="solid"/>
                      <a:round/>
                      <a:headEnd type="none" w="med" len="med"/>
                      <a:tailEnd type="none" w="med" len="med"/>
                    </a:lnT>
                    <a:lnB w="6350" cap="flat" cmpd="sng" algn="ctr">
                      <a:solidFill>
                        <a:srgbClr val="EEF2EF"/>
                      </a:solidFill>
                      <a:prstDash val="solid"/>
                      <a:round/>
                      <a:headEnd type="none" w="med" len="med"/>
                      <a:tailEnd type="none" w="med" len="med"/>
                    </a:lnB>
                  </a:tcPr>
                </a:tc>
                <a:tc>
                  <a:txBody>
                    <a:bodyPr/>
                    <a:lstStyle/>
                    <a:p>
                      <a:pPr algn="r" indent="0" marL="0">
                        <a:buNone/>
                      </a:pPr>
                      <a:r>
                        <a:rPr lang="en-US" sz="1150" dirty="0">
                          <a:solidFill>
                            <a:srgbClr val="1B2420"/>
                          </a:solidFill>
                          <a:latin typeface="Calibri" pitchFamily="34" charset="0"/>
                          <a:ea typeface="Calibri" pitchFamily="34" charset="-122"/>
                          <a:cs typeface="Calibri" pitchFamily="34" charset="-120"/>
                        </a:rPr>
                        <a:t>$30,000</a:t>
                      </a:r>
                      <a:endParaRPr lang="en-US" sz="1150" dirty="0">
                        <a:latin typeface="Calibri" charset="0"/>
                        <a:ea typeface="Calibri" charset="0"/>
                        <a:cs typeface="Calibri" charset="0"/>
                      </a:endParaRPr>
                    </a:p>
                  </a:txBody>
                  <a:tcPr marL="64008" marR="64008" marT="0" marB="0" anchor="ctr">
                    <a:lnL w="6350" cap="flat" cmpd="sng" algn="ctr">
                      <a:solidFill>
                        <a:srgbClr val="EEF2EF"/>
                      </a:solidFill>
                      <a:prstDash val="solid"/>
                      <a:round/>
                      <a:headEnd type="none" w="med" len="med"/>
                      <a:tailEnd type="none" w="med" len="med"/>
                    </a:lnL>
                    <a:lnR w="6350" cap="flat" cmpd="sng" algn="ctr">
                      <a:solidFill>
                        <a:srgbClr val="EEF2EF"/>
                      </a:solidFill>
                      <a:prstDash val="solid"/>
                      <a:round/>
                      <a:headEnd type="none" w="med" len="med"/>
                      <a:tailEnd type="none" w="med" len="med"/>
                    </a:lnR>
                    <a:lnT w="6350" cap="flat" cmpd="sng" algn="ctr">
                      <a:solidFill>
                        <a:srgbClr val="EEF2EF"/>
                      </a:solidFill>
                      <a:prstDash val="solid"/>
                      <a:round/>
                      <a:headEnd type="none" w="med" len="med"/>
                      <a:tailEnd type="none" w="med" len="med"/>
                    </a:lnT>
                    <a:lnB w="6350" cap="flat" cmpd="sng" algn="ctr">
                      <a:solidFill>
                        <a:srgbClr val="EEF2EF"/>
                      </a:solidFill>
                      <a:prstDash val="solid"/>
                      <a:round/>
                      <a:headEnd type="none" w="med" len="med"/>
                      <a:tailEnd type="none" w="med" len="med"/>
                    </a:lnB>
                  </a:tcPr>
                </a:tc>
                <a:tc>
                  <a:txBody>
                    <a:bodyPr/>
                    <a:lstStyle/>
                    <a:p>
                      <a:pPr algn="r" indent="0" marL="0">
                        <a:buNone/>
                      </a:pPr>
                      <a:r>
                        <a:rPr lang="en-US" sz="1150" dirty="0">
                          <a:solidFill>
                            <a:srgbClr val="1B2420"/>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64008" marR="64008" marT="0" marB="0" anchor="ctr">
                    <a:lnL w="6350" cap="flat" cmpd="sng" algn="ctr">
                      <a:solidFill>
                        <a:srgbClr val="EEF2EF"/>
                      </a:solidFill>
                      <a:prstDash val="solid"/>
                      <a:round/>
                      <a:headEnd type="none" w="med" len="med"/>
                      <a:tailEnd type="none" w="med" len="med"/>
                    </a:lnL>
                    <a:lnR w="6350" cap="flat" cmpd="sng" algn="ctr">
                      <a:solidFill>
                        <a:srgbClr val="EEF2EF"/>
                      </a:solidFill>
                      <a:prstDash val="solid"/>
                      <a:round/>
                      <a:headEnd type="none" w="med" len="med"/>
                      <a:tailEnd type="none" w="med" len="med"/>
                    </a:lnR>
                    <a:lnT w="6350" cap="flat" cmpd="sng" algn="ctr">
                      <a:solidFill>
                        <a:srgbClr val="EEF2EF"/>
                      </a:solidFill>
                      <a:prstDash val="solid"/>
                      <a:round/>
                      <a:headEnd type="none" w="med" len="med"/>
                      <a:tailEnd type="none" w="med" len="med"/>
                    </a:lnT>
                    <a:lnB w="6350" cap="flat" cmpd="sng" algn="ctr">
                      <a:solidFill>
                        <a:srgbClr val="EEF2EF"/>
                      </a:solidFill>
                      <a:prstDash val="solid"/>
                      <a:round/>
                      <a:headEnd type="none" w="med" len="med"/>
                      <a:tailEnd type="none" w="med" len="med"/>
                    </a:lnB>
                  </a:tcPr>
                </a:tc>
                <a:tc>
                  <a:txBody>
                    <a:bodyPr/>
                    <a:lstStyle/>
                    <a:p>
                      <a:pPr algn="r" indent="0" marL="0">
                        <a:buNone/>
                      </a:pPr>
                      <a:r>
                        <a:rPr lang="en-US" sz="1150" dirty="0">
                          <a:solidFill>
                            <a:srgbClr val="1B2420"/>
                          </a:solidFill>
                          <a:latin typeface="Calibri" pitchFamily="34" charset="0"/>
                          <a:ea typeface="Calibri" pitchFamily="34" charset="-122"/>
                          <a:cs typeface="Calibri" pitchFamily="34" charset="-120"/>
                        </a:rPr>
                        <a:t>$42,000</a:t>
                      </a:r>
                      <a:endParaRPr lang="en-US" sz="1150" dirty="0">
                        <a:latin typeface="Calibri" charset="0"/>
                        <a:ea typeface="Calibri" charset="0"/>
                        <a:cs typeface="Calibri" charset="0"/>
                      </a:endParaRPr>
                    </a:p>
                  </a:txBody>
                  <a:tcPr marL="64008" marR="64008" marT="0" marB="0" anchor="ctr">
                    <a:lnL w="6350" cap="flat" cmpd="sng" algn="ctr">
                      <a:solidFill>
                        <a:srgbClr val="EEF2EF"/>
                      </a:solidFill>
                      <a:prstDash val="solid"/>
                      <a:round/>
                      <a:headEnd type="none" w="med" len="med"/>
                      <a:tailEnd type="none" w="med" len="med"/>
                    </a:lnL>
                    <a:lnR w="6350" cap="flat" cmpd="sng" algn="ctr">
                      <a:solidFill>
                        <a:srgbClr val="EEF2EF"/>
                      </a:solidFill>
                      <a:prstDash val="solid"/>
                      <a:round/>
                      <a:headEnd type="none" w="med" len="med"/>
                      <a:tailEnd type="none" w="med" len="med"/>
                    </a:lnR>
                    <a:lnT w="6350" cap="flat" cmpd="sng" algn="ctr">
                      <a:solidFill>
                        <a:srgbClr val="EEF2EF"/>
                      </a:solidFill>
                      <a:prstDash val="solid"/>
                      <a:round/>
                      <a:headEnd type="none" w="med" len="med"/>
                      <a:tailEnd type="none" w="med" len="med"/>
                    </a:lnT>
                    <a:lnB w="6350" cap="flat" cmpd="sng" algn="ctr">
                      <a:solidFill>
                        <a:srgbClr val="EEF2EF"/>
                      </a:solidFill>
                      <a:prstDash val="solid"/>
                      <a:round/>
                      <a:headEnd type="none" w="med" len="med"/>
                      <a:tailEnd type="none" w="med" len="med"/>
                    </a:lnB>
                  </a:tcPr>
                </a:tc>
                <a:tc>
                  <a:txBody>
                    <a:bodyPr/>
                    <a:lstStyle/>
                    <a:p>
                      <a:pPr algn="l" indent="0" marL="0">
                        <a:buNone/>
                      </a:pPr>
                      <a:r>
                        <a:rPr lang="en-US" sz="1100" b="1" dirty="0">
                          <a:solidFill>
                            <a:srgbClr val="1F7A5C"/>
                          </a:solidFill>
                          <a:latin typeface="Calibri" pitchFamily="34" charset="0"/>
                          <a:ea typeface="Calibri" pitchFamily="34" charset="-122"/>
                          <a:cs typeface="Calibri" pitchFamily="34" charset="-120"/>
                        </a:rPr>
                        <a:t>● Verified</a:t>
                      </a:r>
                      <a:endParaRPr lang="en-US" sz="1100" dirty="0">
                        <a:latin typeface="Calibri" charset="0"/>
                        <a:ea typeface="Calibri" charset="0"/>
                        <a:cs typeface="Calibri" charset="0"/>
                      </a:endParaRPr>
                    </a:p>
                  </a:txBody>
                  <a:tcPr marL="64008" marR="64008" marT="0" marB="0" anchor="ctr">
                    <a:lnL w="6350" cap="flat" cmpd="sng" algn="ctr">
                      <a:solidFill>
                        <a:srgbClr val="EEF2EF"/>
                      </a:solidFill>
                      <a:prstDash val="solid"/>
                      <a:round/>
                      <a:headEnd type="none" w="med" len="med"/>
                      <a:tailEnd type="none" w="med" len="med"/>
                    </a:lnL>
                    <a:lnR w="6350" cap="flat" cmpd="sng" algn="ctr">
                      <a:solidFill>
                        <a:srgbClr val="EEF2EF"/>
                      </a:solidFill>
                      <a:prstDash val="solid"/>
                      <a:round/>
                      <a:headEnd type="none" w="med" len="med"/>
                      <a:tailEnd type="none" w="med" len="med"/>
                    </a:lnR>
                    <a:lnT w="6350" cap="flat" cmpd="sng" algn="ctr">
                      <a:solidFill>
                        <a:srgbClr val="EEF2EF"/>
                      </a:solidFill>
                      <a:prstDash val="solid"/>
                      <a:round/>
                      <a:headEnd type="none" w="med" len="med"/>
                      <a:tailEnd type="none" w="med" len="med"/>
                    </a:lnT>
                    <a:lnB w="6350" cap="flat" cmpd="sng" algn="ctr">
                      <a:solidFill>
                        <a:srgbClr val="EEF2EF"/>
                      </a:solidFill>
                      <a:prstDash val="solid"/>
                      <a:round/>
                      <a:headEnd type="none" w="med" len="med"/>
                      <a:tailEnd type="none" w="med" len="med"/>
                    </a:lnB>
                  </a:tcPr>
                </a:tc>
              </a:tr>
              <a:tr h="384048">
                <a:tc>
                  <a:txBody>
                    <a:bodyPr/>
                    <a:lstStyle/>
                    <a:p>
                      <a:pPr indent="0" marL="0">
                        <a:buNone/>
                      </a:pPr>
                      <a:r>
                        <a:rPr lang="en-US" sz="1150" b="1" dirty="0">
                          <a:solidFill>
                            <a:srgbClr val="1B2420"/>
                          </a:solidFill>
                          <a:latin typeface="Calibri" pitchFamily="34" charset="0"/>
                          <a:ea typeface="Calibri" pitchFamily="34" charset="-122"/>
                          <a:cs typeface="Calibri" pitchFamily="34" charset="-120"/>
                        </a:rPr>
                        <a:t>Stonebridge III · P. Shah Trust</a:t>
                      </a:r>
                      <a:endParaRPr lang="en-US" sz="1150" dirty="0">
                        <a:latin typeface="Calibri" charset="0"/>
                        <a:ea typeface="Calibri" charset="0"/>
                        <a:cs typeface="Calibri" charset="0"/>
                      </a:endParaRPr>
                    </a:p>
                  </a:txBody>
                  <a:tcPr marL="64008" marR="64008" marT="0" marB="0" anchor="ctr">
                    <a:lnL w="6350" cap="flat" cmpd="sng" algn="ctr">
                      <a:solidFill>
                        <a:srgbClr val="EEF2EF"/>
                      </a:solidFill>
                      <a:prstDash val="solid"/>
                      <a:round/>
                      <a:headEnd type="none" w="med" len="med"/>
                      <a:tailEnd type="none" w="med" len="med"/>
                    </a:lnL>
                    <a:lnR w="6350" cap="flat" cmpd="sng" algn="ctr">
                      <a:solidFill>
                        <a:srgbClr val="EEF2EF"/>
                      </a:solidFill>
                      <a:prstDash val="solid"/>
                      <a:round/>
                      <a:headEnd type="none" w="med" len="med"/>
                      <a:tailEnd type="none" w="med" len="med"/>
                    </a:lnR>
                    <a:lnT w="6350" cap="flat" cmpd="sng" algn="ctr">
                      <a:solidFill>
                        <a:srgbClr val="EEF2EF"/>
                      </a:solidFill>
                      <a:prstDash val="solid"/>
                      <a:round/>
                      <a:headEnd type="none" w="med" len="med"/>
                      <a:tailEnd type="none" w="med" len="med"/>
                    </a:lnT>
                    <a:lnB w="6350" cap="flat" cmpd="sng" algn="ctr">
                      <a:solidFill>
                        <a:srgbClr val="EEF2EF"/>
                      </a:solidFill>
                      <a:prstDash val="solid"/>
                      <a:round/>
                      <a:headEnd type="none" w="med" len="med"/>
                      <a:tailEnd type="none" w="med" len="med"/>
                    </a:lnB>
                  </a:tcPr>
                </a:tc>
                <a:tc>
                  <a:txBody>
                    <a:bodyPr/>
                    <a:lstStyle/>
                    <a:p>
                      <a:pPr algn="r" indent="0" marL="0">
                        <a:buNone/>
                      </a:pPr>
                      <a:r>
                        <a:rPr lang="en-US" sz="1150" dirty="0">
                          <a:solidFill>
                            <a:srgbClr val="1B2420"/>
                          </a:solidFill>
                          <a:latin typeface="Calibri" pitchFamily="34" charset="0"/>
                          <a:ea typeface="Calibri" pitchFamily="34" charset="-122"/>
                          <a:cs typeface="Calibri" pitchFamily="34" charset="-120"/>
                        </a:rPr>
                        <a:t>$150,000</a:t>
                      </a:r>
                      <a:endParaRPr lang="en-US" sz="1150" dirty="0">
                        <a:latin typeface="Calibri" charset="0"/>
                        <a:ea typeface="Calibri" charset="0"/>
                        <a:cs typeface="Calibri" charset="0"/>
                      </a:endParaRPr>
                    </a:p>
                  </a:txBody>
                  <a:tcPr marL="64008" marR="64008" marT="0" marB="0" anchor="ctr">
                    <a:lnL w="6350" cap="flat" cmpd="sng" algn="ctr">
                      <a:solidFill>
                        <a:srgbClr val="EEF2EF"/>
                      </a:solidFill>
                      <a:prstDash val="solid"/>
                      <a:round/>
                      <a:headEnd type="none" w="med" len="med"/>
                      <a:tailEnd type="none" w="med" len="med"/>
                    </a:lnL>
                    <a:lnR w="6350" cap="flat" cmpd="sng" algn="ctr">
                      <a:solidFill>
                        <a:srgbClr val="EEF2EF"/>
                      </a:solidFill>
                      <a:prstDash val="solid"/>
                      <a:round/>
                      <a:headEnd type="none" w="med" len="med"/>
                      <a:tailEnd type="none" w="med" len="med"/>
                    </a:lnR>
                    <a:lnT w="6350" cap="flat" cmpd="sng" algn="ctr">
                      <a:solidFill>
                        <a:srgbClr val="EEF2EF"/>
                      </a:solidFill>
                      <a:prstDash val="solid"/>
                      <a:round/>
                      <a:headEnd type="none" w="med" len="med"/>
                      <a:tailEnd type="none" w="med" len="med"/>
                    </a:lnT>
                    <a:lnB w="6350" cap="flat" cmpd="sng" algn="ctr">
                      <a:solidFill>
                        <a:srgbClr val="EEF2EF"/>
                      </a:solidFill>
                      <a:prstDash val="solid"/>
                      <a:round/>
                      <a:headEnd type="none" w="med" len="med"/>
                      <a:tailEnd type="none" w="med" len="med"/>
                    </a:lnB>
                  </a:tcPr>
                </a:tc>
                <a:tc>
                  <a:txBody>
                    <a:bodyPr/>
                    <a:lstStyle/>
                    <a:p>
                      <a:pPr algn="r" indent="0" marL="0">
                        <a:buNone/>
                      </a:pPr>
                      <a:r>
                        <a:rPr lang="en-US" sz="1150" dirty="0">
                          <a:solidFill>
                            <a:srgbClr val="1B2420"/>
                          </a:solidFill>
                          <a:latin typeface="Calibri" pitchFamily="34" charset="0"/>
                          <a:ea typeface="Calibri" pitchFamily="34" charset="-122"/>
                          <a:cs typeface="Calibri" pitchFamily="34" charset="-120"/>
                        </a:rPr>
                        <a:t>$135,000¹</a:t>
                      </a:r>
                      <a:endParaRPr lang="en-US" sz="1150" dirty="0">
                        <a:latin typeface="Calibri" charset="0"/>
                        <a:ea typeface="Calibri" charset="0"/>
                        <a:cs typeface="Calibri" charset="0"/>
                      </a:endParaRPr>
                    </a:p>
                  </a:txBody>
                  <a:tcPr marL="64008" marR="64008" marT="0" marB="0" anchor="ctr">
                    <a:lnL w="6350" cap="flat" cmpd="sng" algn="ctr">
                      <a:solidFill>
                        <a:srgbClr val="EEF2EF"/>
                      </a:solidFill>
                      <a:prstDash val="solid"/>
                      <a:round/>
                      <a:headEnd type="none" w="med" len="med"/>
                      <a:tailEnd type="none" w="med" len="med"/>
                    </a:lnL>
                    <a:lnR w="6350" cap="flat" cmpd="sng" algn="ctr">
                      <a:solidFill>
                        <a:srgbClr val="EEF2EF"/>
                      </a:solidFill>
                      <a:prstDash val="solid"/>
                      <a:round/>
                      <a:headEnd type="none" w="med" len="med"/>
                      <a:tailEnd type="none" w="med" len="med"/>
                    </a:lnR>
                    <a:lnT w="6350" cap="flat" cmpd="sng" algn="ctr">
                      <a:solidFill>
                        <a:srgbClr val="EEF2EF"/>
                      </a:solidFill>
                      <a:prstDash val="solid"/>
                      <a:round/>
                      <a:headEnd type="none" w="med" len="med"/>
                      <a:tailEnd type="none" w="med" len="med"/>
                    </a:lnT>
                    <a:lnB w="6350" cap="flat" cmpd="sng" algn="ctr">
                      <a:solidFill>
                        <a:srgbClr val="EEF2EF"/>
                      </a:solidFill>
                      <a:prstDash val="solid"/>
                      <a:round/>
                      <a:headEnd type="none" w="med" len="med"/>
                      <a:tailEnd type="none" w="med" len="med"/>
                    </a:lnB>
                  </a:tcPr>
                </a:tc>
                <a:tc>
                  <a:txBody>
                    <a:bodyPr/>
                    <a:lstStyle/>
                    <a:p>
                      <a:pPr algn="r" indent="0" marL="0">
                        <a:buNone/>
                      </a:pPr>
                      <a:r>
                        <a:rPr lang="en-US" sz="1150" dirty="0">
                          <a:solidFill>
                            <a:srgbClr val="1B2420"/>
                          </a:solidFill>
                          <a:latin typeface="Calibri" pitchFamily="34" charset="0"/>
                          <a:ea typeface="Calibri" pitchFamily="34" charset="-122"/>
                          <a:cs typeface="Calibri" pitchFamily="34" charset="-120"/>
                        </a:rPr>
                        <a:t>$37,125¹</a:t>
                      </a:r>
                      <a:endParaRPr lang="en-US" sz="1150" dirty="0">
                        <a:latin typeface="Calibri" charset="0"/>
                        <a:ea typeface="Calibri" charset="0"/>
                        <a:cs typeface="Calibri" charset="0"/>
                      </a:endParaRPr>
                    </a:p>
                  </a:txBody>
                  <a:tcPr marL="64008" marR="64008" marT="0" marB="0" anchor="ctr">
                    <a:lnL w="6350" cap="flat" cmpd="sng" algn="ctr">
                      <a:solidFill>
                        <a:srgbClr val="EEF2EF"/>
                      </a:solidFill>
                      <a:prstDash val="solid"/>
                      <a:round/>
                      <a:headEnd type="none" w="med" len="med"/>
                      <a:tailEnd type="none" w="med" len="med"/>
                    </a:lnL>
                    <a:lnR w="6350" cap="flat" cmpd="sng" algn="ctr">
                      <a:solidFill>
                        <a:srgbClr val="EEF2EF"/>
                      </a:solidFill>
                      <a:prstDash val="solid"/>
                      <a:round/>
                      <a:headEnd type="none" w="med" len="med"/>
                      <a:tailEnd type="none" w="med" len="med"/>
                    </a:lnR>
                    <a:lnT w="6350" cap="flat" cmpd="sng" algn="ctr">
                      <a:solidFill>
                        <a:srgbClr val="EEF2EF"/>
                      </a:solidFill>
                      <a:prstDash val="solid"/>
                      <a:round/>
                      <a:headEnd type="none" w="med" len="med"/>
                      <a:tailEnd type="none" w="med" len="med"/>
                    </a:lnT>
                    <a:lnB w="6350" cap="flat" cmpd="sng" algn="ctr">
                      <a:solidFill>
                        <a:srgbClr val="EEF2EF"/>
                      </a:solidFill>
                      <a:prstDash val="solid"/>
                      <a:round/>
                      <a:headEnd type="none" w="med" len="med"/>
                      <a:tailEnd type="none" w="med" len="med"/>
                    </a:lnB>
                  </a:tcPr>
                </a:tc>
                <a:tc>
                  <a:txBody>
                    <a:bodyPr/>
                    <a:lstStyle/>
                    <a:p>
                      <a:pPr algn="r" indent="0" marL="0">
                        <a:buNone/>
                      </a:pPr>
                      <a:r>
                        <a:rPr lang="en-US" sz="1150" dirty="0">
                          <a:solidFill>
                            <a:srgbClr val="1B2420"/>
                          </a:solidFill>
                          <a:latin typeface="Calibri" pitchFamily="34" charset="0"/>
                          <a:ea typeface="Calibri" pitchFamily="34" charset="-122"/>
                          <a:cs typeface="Calibri" pitchFamily="34" charset="-120"/>
                        </a:rPr>
                        <a:t>$337,500</a:t>
                      </a:r>
                      <a:endParaRPr lang="en-US" sz="1150" dirty="0">
                        <a:latin typeface="Calibri" charset="0"/>
                        <a:ea typeface="Calibri" charset="0"/>
                        <a:cs typeface="Calibri" charset="0"/>
                      </a:endParaRPr>
                    </a:p>
                  </a:txBody>
                  <a:tcPr marL="64008" marR="64008" marT="0" marB="0" anchor="ctr">
                    <a:lnL w="6350" cap="flat" cmpd="sng" algn="ctr">
                      <a:solidFill>
                        <a:srgbClr val="EEF2EF"/>
                      </a:solidFill>
                      <a:prstDash val="solid"/>
                      <a:round/>
                      <a:headEnd type="none" w="med" len="med"/>
                      <a:tailEnd type="none" w="med" len="med"/>
                    </a:lnL>
                    <a:lnR w="6350" cap="flat" cmpd="sng" algn="ctr">
                      <a:solidFill>
                        <a:srgbClr val="EEF2EF"/>
                      </a:solidFill>
                      <a:prstDash val="solid"/>
                      <a:round/>
                      <a:headEnd type="none" w="med" len="med"/>
                      <a:tailEnd type="none" w="med" len="med"/>
                    </a:lnR>
                    <a:lnT w="6350" cap="flat" cmpd="sng" algn="ctr">
                      <a:solidFill>
                        <a:srgbClr val="EEF2EF"/>
                      </a:solidFill>
                      <a:prstDash val="solid"/>
                      <a:round/>
                      <a:headEnd type="none" w="med" len="med"/>
                      <a:tailEnd type="none" w="med" len="med"/>
                    </a:lnT>
                    <a:lnB w="6350" cap="flat" cmpd="sng" algn="ctr">
                      <a:solidFill>
                        <a:srgbClr val="EEF2EF"/>
                      </a:solidFill>
                      <a:prstDash val="solid"/>
                      <a:round/>
                      <a:headEnd type="none" w="med" len="med"/>
                      <a:tailEnd type="none" w="med" len="med"/>
                    </a:lnB>
                  </a:tcPr>
                </a:tc>
                <a:tc>
                  <a:txBody>
                    <a:bodyPr/>
                    <a:lstStyle/>
                    <a:p>
                      <a:pPr algn="l" indent="0" marL="0">
                        <a:buNone/>
                      </a:pPr>
                      <a:r>
                        <a:rPr lang="en-US" sz="1100" b="1" dirty="0">
                          <a:solidFill>
                            <a:srgbClr val="1F7A5C"/>
                          </a:solidFill>
                          <a:latin typeface="Calibri" pitchFamily="34" charset="0"/>
                          <a:ea typeface="Calibri" pitchFamily="34" charset="-122"/>
                          <a:cs typeface="Calibri" pitchFamily="34" charset="-120"/>
                        </a:rPr>
                        <a:t>● Verified¹</a:t>
                      </a:r>
                      <a:endParaRPr lang="en-US" sz="1100" dirty="0">
                        <a:latin typeface="Calibri" charset="0"/>
                        <a:ea typeface="Calibri" charset="0"/>
                        <a:cs typeface="Calibri" charset="0"/>
                      </a:endParaRPr>
                    </a:p>
                  </a:txBody>
                  <a:tcPr marL="64008" marR="64008" marT="0" marB="0" anchor="ctr">
                    <a:lnL w="6350" cap="flat" cmpd="sng" algn="ctr">
                      <a:solidFill>
                        <a:srgbClr val="EEF2EF"/>
                      </a:solidFill>
                      <a:prstDash val="solid"/>
                      <a:round/>
                      <a:headEnd type="none" w="med" len="med"/>
                      <a:tailEnd type="none" w="med" len="med"/>
                    </a:lnL>
                    <a:lnR w="6350" cap="flat" cmpd="sng" algn="ctr">
                      <a:solidFill>
                        <a:srgbClr val="EEF2EF"/>
                      </a:solidFill>
                      <a:prstDash val="solid"/>
                      <a:round/>
                      <a:headEnd type="none" w="med" len="med"/>
                      <a:tailEnd type="none" w="med" len="med"/>
                    </a:lnR>
                    <a:lnT w="6350" cap="flat" cmpd="sng" algn="ctr">
                      <a:solidFill>
                        <a:srgbClr val="EEF2EF"/>
                      </a:solidFill>
                      <a:prstDash val="solid"/>
                      <a:round/>
                      <a:headEnd type="none" w="med" len="med"/>
                      <a:tailEnd type="none" w="med" len="med"/>
                    </a:lnT>
                    <a:lnB w="6350" cap="flat" cmpd="sng" algn="ctr">
                      <a:solidFill>
                        <a:srgbClr val="EEF2EF"/>
                      </a:solidFill>
                      <a:prstDash val="solid"/>
                      <a:round/>
                      <a:headEnd type="none" w="med" len="med"/>
                      <a:tailEnd type="none" w="med" len="med"/>
                    </a:lnB>
                  </a:tcPr>
                </a:tc>
              </a:tr>
              <a:tr h="384048">
                <a:tc>
                  <a:txBody>
                    <a:bodyPr/>
                    <a:lstStyle/>
                    <a:p>
                      <a:pPr indent="0" marL="0">
                        <a:buNone/>
                      </a:pPr>
                      <a:r>
                        <a:rPr lang="en-US" sz="1150" b="1" dirty="0">
                          <a:solidFill>
                            <a:srgbClr val="1B2420"/>
                          </a:solidFill>
                          <a:latin typeface="Calibri" pitchFamily="34" charset="0"/>
                          <a:ea typeface="Calibri" pitchFamily="34" charset="-122"/>
                          <a:cs typeface="Calibri" pitchFamily="34" charset="-120"/>
                        </a:rPr>
                        <a:t>Stonebridge III · PS Holdings</a:t>
                      </a:r>
                      <a:endParaRPr lang="en-US" sz="1150" dirty="0">
                        <a:latin typeface="Calibri" charset="0"/>
                        <a:ea typeface="Calibri" charset="0"/>
                        <a:cs typeface="Calibri" charset="0"/>
                      </a:endParaRPr>
                    </a:p>
                  </a:txBody>
                  <a:tcPr marL="64008" marR="64008" marT="0" marB="0" anchor="ctr">
                    <a:lnL w="6350" cap="flat" cmpd="sng" algn="ctr">
                      <a:solidFill>
                        <a:srgbClr val="EEF2EF"/>
                      </a:solidFill>
                      <a:prstDash val="solid"/>
                      <a:round/>
                      <a:headEnd type="none" w="med" len="med"/>
                      <a:tailEnd type="none" w="med" len="med"/>
                    </a:lnL>
                    <a:lnR w="6350" cap="flat" cmpd="sng" algn="ctr">
                      <a:solidFill>
                        <a:srgbClr val="EEF2EF"/>
                      </a:solidFill>
                      <a:prstDash val="solid"/>
                      <a:round/>
                      <a:headEnd type="none" w="med" len="med"/>
                      <a:tailEnd type="none" w="med" len="med"/>
                    </a:lnR>
                    <a:lnT w="6350" cap="flat" cmpd="sng" algn="ctr">
                      <a:solidFill>
                        <a:srgbClr val="EEF2EF"/>
                      </a:solidFill>
                      <a:prstDash val="solid"/>
                      <a:round/>
                      <a:headEnd type="none" w="med" len="med"/>
                      <a:tailEnd type="none" w="med" len="med"/>
                    </a:lnT>
                    <a:lnB w="6350" cap="flat" cmpd="sng" algn="ctr">
                      <a:solidFill>
                        <a:srgbClr val="EEF2EF"/>
                      </a:solidFill>
                      <a:prstDash val="solid"/>
                      <a:round/>
                      <a:headEnd type="none" w="med" len="med"/>
                      <a:tailEnd type="none" w="med" len="med"/>
                    </a:lnB>
                  </a:tcPr>
                </a:tc>
                <a:tc>
                  <a:txBody>
                    <a:bodyPr/>
                    <a:lstStyle/>
                    <a:p>
                      <a:pPr algn="r" indent="0" marL="0">
                        <a:buNone/>
                      </a:pPr>
                      <a:r>
                        <a:rPr lang="en-US" sz="1150" dirty="0">
                          <a:solidFill>
                            <a:srgbClr val="1B2420"/>
                          </a:solidFill>
                          <a:latin typeface="Calibri" pitchFamily="34" charset="0"/>
                          <a:ea typeface="Calibri" pitchFamily="34" charset="-122"/>
                          <a:cs typeface="Calibri" pitchFamily="34" charset="-120"/>
                        </a:rPr>
                        <a:t>$250,000</a:t>
                      </a:r>
                      <a:endParaRPr lang="en-US" sz="1150" dirty="0">
                        <a:latin typeface="Calibri" charset="0"/>
                        <a:ea typeface="Calibri" charset="0"/>
                        <a:cs typeface="Calibri" charset="0"/>
                      </a:endParaRPr>
                    </a:p>
                  </a:txBody>
                  <a:tcPr marL="64008" marR="64008" marT="0" marB="0" anchor="ctr">
                    <a:lnL w="6350" cap="flat" cmpd="sng" algn="ctr">
                      <a:solidFill>
                        <a:srgbClr val="EEF2EF"/>
                      </a:solidFill>
                      <a:prstDash val="solid"/>
                      <a:round/>
                      <a:headEnd type="none" w="med" len="med"/>
                      <a:tailEnd type="none" w="med" len="med"/>
                    </a:lnL>
                    <a:lnR w="6350" cap="flat" cmpd="sng" algn="ctr">
                      <a:solidFill>
                        <a:srgbClr val="EEF2EF"/>
                      </a:solidFill>
                      <a:prstDash val="solid"/>
                      <a:round/>
                      <a:headEnd type="none" w="med" len="med"/>
                      <a:tailEnd type="none" w="med" len="med"/>
                    </a:lnR>
                    <a:lnT w="6350" cap="flat" cmpd="sng" algn="ctr">
                      <a:solidFill>
                        <a:srgbClr val="EEF2EF"/>
                      </a:solidFill>
                      <a:prstDash val="solid"/>
                      <a:round/>
                      <a:headEnd type="none" w="med" len="med"/>
                      <a:tailEnd type="none" w="med" len="med"/>
                    </a:lnT>
                    <a:lnB w="6350" cap="flat" cmpd="sng" algn="ctr">
                      <a:solidFill>
                        <a:srgbClr val="EEF2EF"/>
                      </a:solidFill>
                      <a:prstDash val="solid"/>
                      <a:round/>
                      <a:headEnd type="none" w="med" len="med"/>
                      <a:tailEnd type="none" w="med" len="med"/>
                    </a:lnB>
                  </a:tcPr>
                </a:tc>
                <a:tc>
                  <a:txBody>
                    <a:bodyPr/>
                    <a:lstStyle/>
                    <a:p>
                      <a:pPr algn="r" indent="0" marL="0">
                        <a:buNone/>
                      </a:pPr>
                      <a:r>
                        <a:rPr lang="en-US" sz="1150" dirty="0">
                          <a:solidFill>
                            <a:srgbClr val="1B2420"/>
                          </a:solidFill>
                          <a:latin typeface="Calibri" pitchFamily="34" charset="0"/>
                          <a:ea typeface="Calibri" pitchFamily="34" charset="-122"/>
                          <a:cs typeface="Calibri" pitchFamily="34" charset="-120"/>
                        </a:rPr>
                        <a:t>$225,000¹</a:t>
                      </a:r>
                      <a:endParaRPr lang="en-US" sz="1150" dirty="0">
                        <a:latin typeface="Calibri" charset="0"/>
                        <a:ea typeface="Calibri" charset="0"/>
                        <a:cs typeface="Calibri" charset="0"/>
                      </a:endParaRPr>
                    </a:p>
                  </a:txBody>
                  <a:tcPr marL="64008" marR="64008" marT="0" marB="0" anchor="ctr">
                    <a:lnL w="6350" cap="flat" cmpd="sng" algn="ctr">
                      <a:solidFill>
                        <a:srgbClr val="EEF2EF"/>
                      </a:solidFill>
                      <a:prstDash val="solid"/>
                      <a:round/>
                      <a:headEnd type="none" w="med" len="med"/>
                      <a:tailEnd type="none" w="med" len="med"/>
                    </a:lnL>
                    <a:lnR w="6350" cap="flat" cmpd="sng" algn="ctr">
                      <a:solidFill>
                        <a:srgbClr val="EEF2EF"/>
                      </a:solidFill>
                      <a:prstDash val="solid"/>
                      <a:round/>
                      <a:headEnd type="none" w="med" len="med"/>
                      <a:tailEnd type="none" w="med" len="med"/>
                    </a:lnR>
                    <a:lnT w="6350" cap="flat" cmpd="sng" algn="ctr">
                      <a:solidFill>
                        <a:srgbClr val="EEF2EF"/>
                      </a:solidFill>
                      <a:prstDash val="solid"/>
                      <a:round/>
                      <a:headEnd type="none" w="med" len="med"/>
                      <a:tailEnd type="none" w="med" len="med"/>
                    </a:lnT>
                    <a:lnB w="6350" cap="flat" cmpd="sng" algn="ctr">
                      <a:solidFill>
                        <a:srgbClr val="EEF2EF"/>
                      </a:solidFill>
                      <a:prstDash val="solid"/>
                      <a:round/>
                      <a:headEnd type="none" w="med" len="med"/>
                      <a:tailEnd type="none" w="med" len="med"/>
                    </a:lnB>
                  </a:tcPr>
                </a:tc>
                <a:tc>
                  <a:txBody>
                    <a:bodyPr/>
                    <a:lstStyle/>
                    <a:p>
                      <a:pPr algn="r" indent="0" marL="0">
                        <a:buNone/>
                      </a:pPr>
                      <a:r>
                        <a:rPr lang="en-US" sz="1150" dirty="0">
                          <a:solidFill>
                            <a:srgbClr val="1B2420"/>
                          </a:solidFill>
                          <a:latin typeface="Calibri" pitchFamily="34" charset="0"/>
                          <a:ea typeface="Calibri" pitchFamily="34" charset="-122"/>
                          <a:cs typeface="Calibri" pitchFamily="34" charset="-120"/>
                        </a:rPr>
                        <a:t>$61,875¹</a:t>
                      </a:r>
                      <a:endParaRPr lang="en-US" sz="1150" dirty="0">
                        <a:latin typeface="Calibri" charset="0"/>
                        <a:ea typeface="Calibri" charset="0"/>
                        <a:cs typeface="Calibri" charset="0"/>
                      </a:endParaRPr>
                    </a:p>
                  </a:txBody>
                  <a:tcPr marL="64008" marR="64008" marT="0" marB="0" anchor="ctr">
                    <a:lnL w="6350" cap="flat" cmpd="sng" algn="ctr">
                      <a:solidFill>
                        <a:srgbClr val="EEF2EF"/>
                      </a:solidFill>
                      <a:prstDash val="solid"/>
                      <a:round/>
                      <a:headEnd type="none" w="med" len="med"/>
                      <a:tailEnd type="none" w="med" len="med"/>
                    </a:lnL>
                    <a:lnR w="6350" cap="flat" cmpd="sng" algn="ctr">
                      <a:solidFill>
                        <a:srgbClr val="EEF2EF"/>
                      </a:solidFill>
                      <a:prstDash val="solid"/>
                      <a:round/>
                      <a:headEnd type="none" w="med" len="med"/>
                      <a:tailEnd type="none" w="med" len="med"/>
                    </a:lnR>
                    <a:lnT w="6350" cap="flat" cmpd="sng" algn="ctr">
                      <a:solidFill>
                        <a:srgbClr val="EEF2EF"/>
                      </a:solidFill>
                      <a:prstDash val="solid"/>
                      <a:round/>
                      <a:headEnd type="none" w="med" len="med"/>
                      <a:tailEnd type="none" w="med" len="med"/>
                    </a:lnT>
                    <a:lnB w="6350" cap="flat" cmpd="sng" algn="ctr">
                      <a:solidFill>
                        <a:srgbClr val="EEF2EF"/>
                      </a:solidFill>
                      <a:prstDash val="solid"/>
                      <a:round/>
                      <a:headEnd type="none" w="med" len="med"/>
                      <a:tailEnd type="none" w="med" len="med"/>
                    </a:lnB>
                  </a:tcPr>
                </a:tc>
                <a:tc>
                  <a:txBody>
                    <a:bodyPr/>
                    <a:lstStyle/>
                    <a:p>
                      <a:pPr algn="r" indent="0" marL="0">
                        <a:buNone/>
                      </a:pPr>
                      <a:r>
                        <a:rPr lang="en-US" sz="1150" dirty="0">
                          <a:solidFill>
                            <a:srgbClr val="1B2420"/>
                          </a:solidFill>
                          <a:latin typeface="Calibri" pitchFamily="34" charset="0"/>
                          <a:ea typeface="Calibri" pitchFamily="34" charset="-122"/>
                          <a:cs typeface="Calibri" pitchFamily="34" charset="-120"/>
                        </a:rPr>
                        <a:t>$562,500</a:t>
                      </a:r>
                      <a:endParaRPr lang="en-US" sz="1150" dirty="0">
                        <a:latin typeface="Calibri" charset="0"/>
                        <a:ea typeface="Calibri" charset="0"/>
                        <a:cs typeface="Calibri" charset="0"/>
                      </a:endParaRPr>
                    </a:p>
                  </a:txBody>
                  <a:tcPr marL="64008" marR="64008" marT="0" marB="0" anchor="ctr">
                    <a:lnL w="6350" cap="flat" cmpd="sng" algn="ctr">
                      <a:solidFill>
                        <a:srgbClr val="EEF2EF"/>
                      </a:solidFill>
                      <a:prstDash val="solid"/>
                      <a:round/>
                      <a:headEnd type="none" w="med" len="med"/>
                      <a:tailEnd type="none" w="med" len="med"/>
                    </a:lnL>
                    <a:lnR w="6350" cap="flat" cmpd="sng" algn="ctr">
                      <a:solidFill>
                        <a:srgbClr val="EEF2EF"/>
                      </a:solidFill>
                      <a:prstDash val="solid"/>
                      <a:round/>
                      <a:headEnd type="none" w="med" len="med"/>
                      <a:tailEnd type="none" w="med" len="med"/>
                    </a:lnR>
                    <a:lnT w="6350" cap="flat" cmpd="sng" algn="ctr">
                      <a:solidFill>
                        <a:srgbClr val="EEF2EF"/>
                      </a:solidFill>
                      <a:prstDash val="solid"/>
                      <a:round/>
                      <a:headEnd type="none" w="med" len="med"/>
                      <a:tailEnd type="none" w="med" len="med"/>
                    </a:lnT>
                    <a:lnB w="6350" cap="flat" cmpd="sng" algn="ctr">
                      <a:solidFill>
                        <a:srgbClr val="EEF2EF"/>
                      </a:solidFill>
                      <a:prstDash val="solid"/>
                      <a:round/>
                      <a:headEnd type="none" w="med" len="med"/>
                      <a:tailEnd type="none" w="med" len="med"/>
                    </a:lnB>
                  </a:tcPr>
                </a:tc>
                <a:tc>
                  <a:txBody>
                    <a:bodyPr/>
                    <a:lstStyle/>
                    <a:p>
                      <a:pPr algn="l" indent="0" marL="0">
                        <a:buNone/>
                      </a:pPr>
                      <a:r>
                        <a:rPr lang="en-US" sz="1100" b="1" dirty="0">
                          <a:solidFill>
                            <a:srgbClr val="1F7A5C"/>
                          </a:solidFill>
                          <a:latin typeface="Calibri" pitchFamily="34" charset="0"/>
                          <a:ea typeface="Calibri" pitchFamily="34" charset="-122"/>
                          <a:cs typeface="Calibri" pitchFamily="34" charset="-120"/>
                        </a:rPr>
                        <a:t>● Verified¹</a:t>
                      </a:r>
                      <a:endParaRPr lang="en-US" sz="1100" dirty="0">
                        <a:latin typeface="Calibri" charset="0"/>
                        <a:ea typeface="Calibri" charset="0"/>
                        <a:cs typeface="Calibri" charset="0"/>
                      </a:endParaRPr>
                    </a:p>
                  </a:txBody>
                  <a:tcPr marL="64008" marR="64008" marT="0" marB="0" anchor="ctr">
                    <a:lnL w="6350" cap="flat" cmpd="sng" algn="ctr">
                      <a:solidFill>
                        <a:srgbClr val="EEF2EF"/>
                      </a:solidFill>
                      <a:prstDash val="solid"/>
                      <a:round/>
                      <a:headEnd type="none" w="med" len="med"/>
                      <a:tailEnd type="none" w="med" len="med"/>
                    </a:lnL>
                    <a:lnR w="6350" cap="flat" cmpd="sng" algn="ctr">
                      <a:solidFill>
                        <a:srgbClr val="EEF2EF"/>
                      </a:solidFill>
                      <a:prstDash val="solid"/>
                      <a:round/>
                      <a:headEnd type="none" w="med" len="med"/>
                      <a:tailEnd type="none" w="med" len="med"/>
                    </a:lnR>
                    <a:lnT w="6350" cap="flat" cmpd="sng" algn="ctr">
                      <a:solidFill>
                        <a:srgbClr val="EEF2EF"/>
                      </a:solidFill>
                      <a:prstDash val="solid"/>
                      <a:round/>
                      <a:headEnd type="none" w="med" len="med"/>
                      <a:tailEnd type="none" w="med" len="med"/>
                    </a:lnT>
                    <a:lnB w="6350" cap="flat" cmpd="sng" algn="ctr">
                      <a:solidFill>
                        <a:srgbClr val="EEF2EF"/>
                      </a:solidFill>
                      <a:prstDash val="solid"/>
                      <a:round/>
                      <a:headEnd type="none" w="med" len="med"/>
                      <a:tailEnd type="none" w="med" len="med"/>
                    </a:lnB>
                  </a:tcPr>
                </a:tc>
              </a:tr>
              <a:tr h="384048">
                <a:tc>
                  <a:txBody>
                    <a:bodyPr/>
                    <a:lstStyle/>
                    <a:p>
                      <a:pPr indent="0" marL="0">
                        <a:buNone/>
                      </a:pPr>
                      <a:r>
                        <a:rPr lang="en-US" sz="1150" b="1" dirty="0">
                          <a:solidFill>
                            <a:srgbClr val="1B2420"/>
                          </a:solidFill>
                          <a:latin typeface="Calibri" pitchFamily="34" charset="0"/>
                          <a:ea typeface="Calibri" pitchFamily="34" charset="-122"/>
                          <a:cs typeface="Calibri" pitchFamily="34" charset="-120"/>
                        </a:rPr>
                        <a:t>Northwell IV · Priyanka Shah</a:t>
                      </a:r>
                      <a:endParaRPr lang="en-US" sz="1150" dirty="0">
                        <a:latin typeface="Calibri" charset="0"/>
                        <a:ea typeface="Calibri" charset="0"/>
                        <a:cs typeface="Calibri" charset="0"/>
                      </a:endParaRPr>
                    </a:p>
                  </a:txBody>
                  <a:tcPr marL="64008" marR="64008" marT="0" marB="0" anchor="ctr">
                    <a:lnL w="6350" cap="flat" cmpd="sng" algn="ctr">
                      <a:solidFill>
                        <a:srgbClr val="EEF2EF"/>
                      </a:solidFill>
                      <a:prstDash val="solid"/>
                      <a:round/>
                      <a:headEnd type="none" w="med" len="med"/>
                      <a:tailEnd type="none" w="med" len="med"/>
                    </a:lnL>
                    <a:lnR w="6350" cap="flat" cmpd="sng" algn="ctr">
                      <a:solidFill>
                        <a:srgbClr val="EEF2EF"/>
                      </a:solidFill>
                      <a:prstDash val="solid"/>
                      <a:round/>
                      <a:headEnd type="none" w="med" len="med"/>
                      <a:tailEnd type="none" w="med" len="med"/>
                    </a:lnR>
                    <a:lnT w="6350" cap="flat" cmpd="sng" algn="ctr">
                      <a:solidFill>
                        <a:srgbClr val="EEF2EF"/>
                      </a:solidFill>
                      <a:prstDash val="solid"/>
                      <a:round/>
                      <a:headEnd type="none" w="med" len="med"/>
                      <a:tailEnd type="none" w="med" len="med"/>
                    </a:lnT>
                    <a:lnB w="6350" cap="flat" cmpd="sng" algn="ctr">
                      <a:solidFill>
                        <a:srgbClr val="EEF2EF"/>
                      </a:solidFill>
                      <a:prstDash val="solid"/>
                      <a:round/>
                      <a:headEnd type="none" w="med" len="med"/>
                      <a:tailEnd type="none" w="med" len="med"/>
                    </a:lnB>
                  </a:tcPr>
                </a:tc>
                <a:tc>
                  <a:txBody>
                    <a:bodyPr/>
                    <a:lstStyle/>
                    <a:p>
                      <a:pPr algn="r" indent="0" marL="0">
                        <a:buNone/>
                      </a:pPr>
                      <a:r>
                        <a:rPr lang="en-US" sz="1150" dirty="0">
                          <a:solidFill>
                            <a:srgbClr val="1B2420"/>
                          </a:solidFill>
                          <a:latin typeface="Calibri" pitchFamily="34" charset="0"/>
                          <a:ea typeface="Calibri" pitchFamily="34" charset="-122"/>
                          <a:cs typeface="Calibri" pitchFamily="34" charset="-120"/>
                        </a:rPr>
                        <a:t>$400,000</a:t>
                      </a:r>
                      <a:endParaRPr lang="en-US" sz="1150" dirty="0">
                        <a:latin typeface="Calibri" charset="0"/>
                        <a:ea typeface="Calibri" charset="0"/>
                        <a:cs typeface="Calibri" charset="0"/>
                      </a:endParaRPr>
                    </a:p>
                  </a:txBody>
                  <a:tcPr marL="64008" marR="64008" marT="0" marB="0" anchor="ctr">
                    <a:lnL w="6350" cap="flat" cmpd="sng" algn="ctr">
                      <a:solidFill>
                        <a:srgbClr val="EEF2EF"/>
                      </a:solidFill>
                      <a:prstDash val="solid"/>
                      <a:round/>
                      <a:headEnd type="none" w="med" len="med"/>
                      <a:tailEnd type="none" w="med" len="med"/>
                    </a:lnL>
                    <a:lnR w="6350" cap="flat" cmpd="sng" algn="ctr">
                      <a:solidFill>
                        <a:srgbClr val="EEF2EF"/>
                      </a:solidFill>
                      <a:prstDash val="solid"/>
                      <a:round/>
                      <a:headEnd type="none" w="med" len="med"/>
                      <a:tailEnd type="none" w="med" len="med"/>
                    </a:lnR>
                    <a:lnT w="6350" cap="flat" cmpd="sng" algn="ctr">
                      <a:solidFill>
                        <a:srgbClr val="EEF2EF"/>
                      </a:solidFill>
                      <a:prstDash val="solid"/>
                      <a:round/>
                      <a:headEnd type="none" w="med" len="med"/>
                      <a:tailEnd type="none" w="med" len="med"/>
                    </a:lnT>
                    <a:lnB w="6350" cap="flat" cmpd="sng" algn="ctr">
                      <a:solidFill>
                        <a:srgbClr val="EEF2EF"/>
                      </a:solidFill>
                      <a:prstDash val="solid"/>
                      <a:round/>
                      <a:headEnd type="none" w="med" len="med"/>
                      <a:tailEnd type="none" w="med" len="med"/>
                    </a:lnB>
                  </a:tcPr>
                </a:tc>
                <a:tc>
                  <a:txBody>
                    <a:bodyPr/>
                    <a:lstStyle/>
                    <a:p>
                      <a:pPr algn="r" indent="0" marL="0">
                        <a:buNone/>
                      </a:pPr>
                      <a:r>
                        <a:rPr lang="en-US" sz="1150" dirty="0">
                          <a:solidFill>
                            <a:srgbClr val="1B2420"/>
                          </a:solidFill>
                          <a:latin typeface="Calibri" pitchFamily="34" charset="0"/>
                          <a:ea typeface="Calibri" pitchFamily="34" charset="-122"/>
                          <a:cs typeface="Calibri" pitchFamily="34" charset="-120"/>
                        </a:rPr>
                        <a:t>$400,000</a:t>
                      </a:r>
                      <a:endParaRPr lang="en-US" sz="1150" dirty="0">
                        <a:latin typeface="Calibri" charset="0"/>
                        <a:ea typeface="Calibri" charset="0"/>
                        <a:cs typeface="Calibri" charset="0"/>
                      </a:endParaRPr>
                    </a:p>
                  </a:txBody>
                  <a:tcPr marL="64008" marR="64008" marT="0" marB="0" anchor="ctr">
                    <a:lnL w="6350" cap="flat" cmpd="sng" algn="ctr">
                      <a:solidFill>
                        <a:srgbClr val="EEF2EF"/>
                      </a:solidFill>
                      <a:prstDash val="solid"/>
                      <a:round/>
                      <a:headEnd type="none" w="med" len="med"/>
                      <a:tailEnd type="none" w="med" len="med"/>
                    </a:lnL>
                    <a:lnR w="6350" cap="flat" cmpd="sng" algn="ctr">
                      <a:solidFill>
                        <a:srgbClr val="EEF2EF"/>
                      </a:solidFill>
                      <a:prstDash val="solid"/>
                      <a:round/>
                      <a:headEnd type="none" w="med" len="med"/>
                      <a:tailEnd type="none" w="med" len="med"/>
                    </a:lnR>
                    <a:lnT w="6350" cap="flat" cmpd="sng" algn="ctr">
                      <a:solidFill>
                        <a:srgbClr val="EEF2EF"/>
                      </a:solidFill>
                      <a:prstDash val="solid"/>
                      <a:round/>
                      <a:headEnd type="none" w="med" len="med"/>
                      <a:tailEnd type="none" w="med" len="med"/>
                    </a:lnT>
                    <a:lnB w="6350" cap="flat" cmpd="sng" algn="ctr">
                      <a:solidFill>
                        <a:srgbClr val="EEF2EF"/>
                      </a:solidFill>
                      <a:prstDash val="solid"/>
                      <a:round/>
                      <a:headEnd type="none" w="med" len="med"/>
                      <a:tailEnd type="none" w="med" len="med"/>
                    </a:lnB>
                  </a:tcPr>
                </a:tc>
                <a:tc>
                  <a:txBody>
                    <a:bodyPr/>
                    <a:lstStyle/>
                    <a:p>
                      <a:pPr algn="r" indent="0" marL="0">
                        <a:buNone/>
                      </a:pPr>
                      <a:r>
                        <a:rPr lang="en-US" sz="1150" dirty="0">
                          <a:solidFill>
                            <a:srgbClr val="1B2420"/>
                          </a:solidFill>
                          <a:latin typeface="Calibri" pitchFamily="34" charset="0"/>
                          <a:ea typeface="Calibri" pitchFamily="34" charset="-122"/>
                          <a:cs typeface="Calibri" pitchFamily="34" charset="-120"/>
                        </a:rPr>
                        <a:t>$540,000</a:t>
                      </a:r>
                      <a:endParaRPr lang="en-US" sz="1150" dirty="0">
                        <a:latin typeface="Calibri" charset="0"/>
                        <a:ea typeface="Calibri" charset="0"/>
                        <a:cs typeface="Calibri" charset="0"/>
                      </a:endParaRPr>
                    </a:p>
                  </a:txBody>
                  <a:tcPr marL="64008" marR="64008" marT="0" marB="0" anchor="ctr">
                    <a:lnL w="6350" cap="flat" cmpd="sng" algn="ctr">
                      <a:solidFill>
                        <a:srgbClr val="EEF2EF"/>
                      </a:solidFill>
                      <a:prstDash val="solid"/>
                      <a:round/>
                      <a:headEnd type="none" w="med" len="med"/>
                      <a:tailEnd type="none" w="med" len="med"/>
                    </a:lnL>
                    <a:lnR w="6350" cap="flat" cmpd="sng" algn="ctr">
                      <a:solidFill>
                        <a:srgbClr val="EEF2EF"/>
                      </a:solidFill>
                      <a:prstDash val="solid"/>
                      <a:round/>
                      <a:headEnd type="none" w="med" len="med"/>
                      <a:tailEnd type="none" w="med" len="med"/>
                    </a:lnR>
                    <a:lnT w="6350" cap="flat" cmpd="sng" algn="ctr">
                      <a:solidFill>
                        <a:srgbClr val="EEF2EF"/>
                      </a:solidFill>
                      <a:prstDash val="solid"/>
                      <a:round/>
                      <a:headEnd type="none" w="med" len="med"/>
                      <a:tailEnd type="none" w="med" len="med"/>
                    </a:lnT>
                    <a:lnB w="6350" cap="flat" cmpd="sng" algn="ctr">
                      <a:solidFill>
                        <a:srgbClr val="EEF2EF"/>
                      </a:solidFill>
                      <a:prstDash val="solid"/>
                      <a:round/>
                      <a:headEnd type="none" w="med" len="med"/>
                      <a:tailEnd type="none" w="med" len="med"/>
                    </a:lnB>
                  </a:tcPr>
                </a:tc>
                <a:tc>
                  <a:txBody>
                    <a:bodyPr/>
                    <a:lstStyle/>
                    <a:p>
                      <a:pPr algn="r" indent="0" marL="0">
                        <a:buNone/>
                      </a:pPr>
                      <a:r>
                        <a:rPr lang="en-US" sz="1150" dirty="0">
                          <a:solidFill>
                            <a:srgbClr val="1B2420"/>
                          </a:solidFill>
                          <a:latin typeface="Calibri" pitchFamily="34" charset="0"/>
                          <a:ea typeface="Calibri" pitchFamily="34" charset="-122"/>
                          <a:cs typeface="Calibri" pitchFamily="34" charset="-120"/>
                        </a:rPr>
                        <a:t>$1,800,000</a:t>
                      </a:r>
                      <a:endParaRPr lang="en-US" sz="1150" dirty="0">
                        <a:latin typeface="Calibri" charset="0"/>
                        <a:ea typeface="Calibri" charset="0"/>
                        <a:cs typeface="Calibri" charset="0"/>
                      </a:endParaRPr>
                    </a:p>
                  </a:txBody>
                  <a:tcPr marL="64008" marR="64008" marT="0" marB="0" anchor="ctr">
                    <a:lnL w="6350" cap="flat" cmpd="sng" algn="ctr">
                      <a:solidFill>
                        <a:srgbClr val="EEF2EF"/>
                      </a:solidFill>
                      <a:prstDash val="solid"/>
                      <a:round/>
                      <a:headEnd type="none" w="med" len="med"/>
                      <a:tailEnd type="none" w="med" len="med"/>
                    </a:lnL>
                    <a:lnR w="6350" cap="flat" cmpd="sng" algn="ctr">
                      <a:solidFill>
                        <a:srgbClr val="EEF2EF"/>
                      </a:solidFill>
                      <a:prstDash val="solid"/>
                      <a:round/>
                      <a:headEnd type="none" w="med" len="med"/>
                      <a:tailEnd type="none" w="med" len="med"/>
                    </a:lnR>
                    <a:lnT w="6350" cap="flat" cmpd="sng" algn="ctr">
                      <a:solidFill>
                        <a:srgbClr val="EEF2EF"/>
                      </a:solidFill>
                      <a:prstDash val="solid"/>
                      <a:round/>
                      <a:headEnd type="none" w="med" len="med"/>
                      <a:tailEnd type="none" w="med" len="med"/>
                    </a:lnT>
                    <a:lnB w="6350" cap="flat" cmpd="sng" algn="ctr">
                      <a:solidFill>
                        <a:srgbClr val="EEF2EF"/>
                      </a:solidFill>
                      <a:prstDash val="solid"/>
                      <a:round/>
                      <a:headEnd type="none" w="med" len="med"/>
                      <a:tailEnd type="none" w="med" len="med"/>
                    </a:lnB>
                  </a:tcPr>
                </a:tc>
                <a:tc>
                  <a:txBody>
                    <a:bodyPr/>
                    <a:lstStyle/>
                    <a:p>
                      <a:pPr algn="l" indent="0" marL="0">
                        <a:buNone/>
                      </a:pPr>
                      <a:r>
                        <a:rPr lang="en-US" sz="1100" b="1" dirty="0">
                          <a:solidFill>
                            <a:srgbClr val="D99A00"/>
                          </a:solidFill>
                          <a:latin typeface="Calibri" pitchFamily="34" charset="0"/>
                          <a:ea typeface="Calibri" pitchFamily="34" charset="-122"/>
                          <a:cs typeface="Calibri" pitchFamily="34" charset="-120"/>
                        </a:rPr>
                        <a:t>● Unverified</a:t>
                      </a:r>
                      <a:endParaRPr lang="en-US" sz="1100" dirty="0">
                        <a:latin typeface="Calibri" charset="0"/>
                        <a:ea typeface="Calibri" charset="0"/>
                        <a:cs typeface="Calibri" charset="0"/>
                      </a:endParaRPr>
                    </a:p>
                  </a:txBody>
                  <a:tcPr marL="64008" marR="64008" marT="0" marB="0" anchor="ctr">
                    <a:lnL w="6350" cap="flat" cmpd="sng" algn="ctr">
                      <a:solidFill>
                        <a:srgbClr val="EEF2EF"/>
                      </a:solidFill>
                      <a:prstDash val="solid"/>
                      <a:round/>
                      <a:headEnd type="none" w="med" len="med"/>
                      <a:tailEnd type="none" w="med" len="med"/>
                    </a:lnL>
                    <a:lnR w="6350" cap="flat" cmpd="sng" algn="ctr">
                      <a:solidFill>
                        <a:srgbClr val="EEF2EF"/>
                      </a:solidFill>
                      <a:prstDash val="solid"/>
                      <a:round/>
                      <a:headEnd type="none" w="med" len="med"/>
                      <a:tailEnd type="none" w="med" len="med"/>
                    </a:lnR>
                    <a:lnT w="6350" cap="flat" cmpd="sng" algn="ctr">
                      <a:solidFill>
                        <a:srgbClr val="EEF2EF"/>
                      </a:solidFill>
                      <a:prstDash val="solid"/>
                      <a:round/>
                      <a:headEnd type="none" w="med" len="med"/>
                      <a:tailEnd type="none" w="med" len="med"/>
                    </a:lnT>
                    <a:lnB w="6350" cap="flat" cmpd="sng" algn="ctr">
                      <a:solidFill>
                        <a:srgbClr val="EEF2EF"/>
                      </a:solidFill>
                      <a:prstDash val="solid"/>
                      <a:round/>
                      <a:headEnd type="none" w="med" len="med"/>
                      <a:tailEnd type="none" w="med" len="med"/>
                    </a:lnB>
                  </a:tcPr>
                </a:tc>
              </a:tr>
              <a:tr h="384048">
                <a:tc>
                  <a:txBody>
                    <a:bodyPr/>
                    <a:lstStyle/>
                    <a:p>
                      <a:pPr indent="0" marL="0">
                        <a:buNone/>
                      </a:pPr>
                      <a:r>
                        <a:rPr lang="en-US" sz="1150" b="1" dirty="0">
                          <a:solidFill>
                            <a:srgbClr val="5B6B64"/>
                          </a:solidFill>
                          <a:latin typeface="Calibri" pitchFamily="34" charset="0"/>
                          <a:ea typeface="Calibri" pitchFamily="34" charset="-122"/>
                          <a:cs typeface="Calibri" pitchFamily="34" charset="-120"/>
                        </a:rPr>
                        <a:t>Apax XI · Priyanka Shah</a:t>
                      </a:r>
                      <a:endParaRPr lang="en-US" sz="1150" dirty="0">
                        <a:latin typeface="Calibri" charset="0"/>
                        <a:ea typeface="Calibri" charset="0"/>
                        <a:cs typeface="Calibri" charset="0"/>
                      </a:endParaRPr>
                    </a:p>
                  </a:txBody>
                  <a:tcPr marL="64008" marR="64008" marT="0" marB="0" anchor="ctr">
                    <a:lnL w="6350" cap="flat" cmpd="sng" algn="ctr">
                      <a:solidFill>
                        <a:srgbClr val="EEF2EF"/>
                      </a:solidFill>
                      <a:prstDash val="solid"/>
                      <a:round/>
                      <a:headEnd type="none" w="med" len="med"/>
                      <a:tailEnd type="none" w="med" len="med"/>
                    </a:lnL>
                    <a:lnR w="6350" cap="flat" cmpd="sng" algn="ctr">
                      <a:solidFill>
                        <a:srgbClr val="EEF2EF"/>
                      </a:solidFill>
                      <a:prstDash val="solid"/>
                      <a:round/>
                      <a:headEnd type="none" w="med" len="med"/>
                      <a:tailEnd type="none" w="med" len="med"/>
                    </a:lnR>
                    <a:lnT w="6350" cap="flat" cmpd="sng" algn="ctr">
                      <a:solidFill>
                        <a:srgbClr val="EEF2EF"/>
                      </a:solidFill>
                      <a:prstDash val="solid"/>
                      <a:round/>
                      <a:headEnd type="none" w="med" len="med"/>
                      <a:tailEnd type="none" w="med" len="med"/>
                    </a:lnT>
                    <a:lnB w="6350" cap="flat" cmpd="sng" algn="ctr">
                      <a:solidFill>
                        <a:srgbClr val="EEF2EF"/>
                      </a:solidFill>
                      <a:prstDash val="solid"/>
                      <a:round/>
                      <a:headEnd type="none" w="med" len="med"/>
                      <a:tailEnd type="none" w="med" len="med"/>
                    </a:lnB>
                  </a:tcPr>
                </a:tc>
                <a:tc gridSpan="4">
                  <a:txBody>
                    <a:bodyPr/>
                    <a:lstStyle/>
                    <a:p>
                      <a:pPr algn="ctr" indent="0" marL="0">
                        <a:buNone/>
                      </a:pPr>
                      <a:r>
                        <a:rPr lang="en-US" sz="1150" i="1" dirty="0">
                          <a:solidFill>
                            <a:srgbClr val="5B6B64"/>
                          </a:solidFill>
                          <a:latin typeface="Calibri" pitchFamily="34" charset="0"/>
                          <a:ea typeface="Calibri" pitchFamily="34" charset="-122"/>
                          <a:cs typeface="Calibri" pitchFamily="34" charset="-120"/>
                        </a:rPr>
                        <a:t>Pending: awaiting fund confirmation</a:t>
                      </a:r>
                      <a:endParaRPr lang="en-US" sz="1150" dirty="0">
                        <a:latin typeface="Calibri" charset="0"/>
                        <a:ea typeface="Calibri" charset="0"/>
                        <a:cs typeface="Calibri" charset="0"/>
                      </a:endParaRPr>
                    </a:p>
                  </a:txBody>
                  <a:tcPr marL="64008" marR="64008" marT="0" marB="0" anchor="ctr">
                    <a:lnL w="6350" cap="flat" cmpd="sng" algn="ctr">
                      <a:solidFill>
                        <a:srgbClr val="EEF2EF"/>
                      </a:solidFill>
                      <a:prstDash val="solid"/>
                      <a:round/>
                      <a:headEnd type="none" w="med" len="med"/>
                      <a:tailEnd type="none" w="med" len="med"/>
                    </a:lnL>
                    <a:lnR w="6350" cap="flat" cmpd="sng" algn="ctr">
                      <a:solidFill>
                        <a:srgbClr val="EEF2EF"/>
                      </a:solidFill>
                      <a:prstDash val="solid"/>
                      <a:round/>
                      <a:headEnd type="none" w="med" len="med"/>
                      <a:tailEnd type="none" w="med" len="med"/>
                    </a:lnR>
                    <a:lnT w="6350" cap="flat" cmpd="sng" algn="ctr">
                      <a:solidFill>
                        <a:srgbClr val="EEF2EF"/>
                      </a:solidFill>
                      <a:prstDash val="solid"/>
                      <a:round/>
                      <a:headEnd type="none" w="med" len="med"/>
                      <a:tailEnd type="none" w="med" len="med"/>
                    </a:lnT>
                    <a:lnB w="6350" cap="flat" cmpd="sng" algn="ctr">
                      <a:solidFill>
                        <a:srgbClr val="EEF2EF"/>
                      </a:solidFill>
                      <a:prstDash val="solid"/>
                      <a:round/>
                      <a:headEnd type="none" w="med" len="med"/>
                      <a:tailEnd type="none" w="med" len="med"/>
                    </a:lnB>
                    <a:solidFill>
                      <a:srgbClr val="EEF2EF"/>
                    </a:solidFill>
                  </a:tcPr>
                </a:tc>
                <a:tc hMerge="1">
                  <a:tcPr/>
                </a:tc>
                <a:tc hMerge="1">
                  <a:tcPr/>
                </a:tc>
                <a:tc hMerge="1">
                  <a:tcPr/>
                </a:tc>
                <a:tc>
                  <a:txBody>
                    <a:bodyPr/>
                    <a:lstStyle/>
                    <a:p>
                      <a:pPr algn="l" indent="0" marL="0">
                        <a:buNone/>
                      </a:pPr>
                      <a:r>
                        <a:rPr lang="en-US" sz="1100" b="1" dirty="0">
                          <a:solidFill>
                            <a:srgbClr val="5B6B64"/>
                          </a:solidFill>
                          <a:latin typeface="Calibri" pitchFamily="34" charset="0"/>
                          <a:ea typeface="Calibri" pitchFamily="34" charset="-122"/>
                          <a:cs typeface="Calibri" pitchFamily="34" charset="-120"/>
                        </a:rPr>
                        <a:t>● Pending</a:t>
                      </a:r>
                      <a:endParaRPr lang="en-US" sz="1100" dirty="0">
                        <a:latin typeface="Calibri" charset="0"/>
                        <a:ea typeface="Calibri" charset="0"/>
                        <a:cs typeface="Calibri" charset="0"/>
                      </a:endParaRPr>
                    </a:p>
                  </a:txBody>
                  <a:tcPr marL="64008" marR="64008" marT="0" marB="0" anchor="ctr">
                    <a:lnL w="6350" cap="flat" cmpd="sng" algn="ctr">
                      <a:solidFill>
                        <a:srgbClr val="EEF2EF"/>
                      </a:solidFill>
                      <a:prstDash val="solid"/>
                      <a:round/>
                      <a:headEnd type="none" w="med" len="med"/>
                      <a:tailEnd type="none" w="med" len="med"/>
                    </a:lnL>
                    <a:lnR w="6350" cap="flat" cmpd="sng" algn="ctr">
                      <a:solidFill>
                        <a:srgbClr val="EEF2EF"/>
                      </a:solidFill>
                      <a:prstDash val="solid"/>
                      <a:round/>
                      <a:headEnd type="none" w="med" len="med"/>
                      <a:tailEnd type="none" w="med" len="med"/>
                    </a:lnR>
                    <a:lnT w="6350" cap="flat" cmpd="sng" algn="ctr">
                      <a:solidFill>
                        <a:srgbClr val="EEF2EF"/>
                      </a:solidFill>
                      <a:prstDash val="solid"/>
                      <a:round/>
                      <a:headEnd type="none" w="med" len="med"/>
                      <a:tailEnd type="none" w="med" len="med"/>
                    </a:lnT>
                    <a:lnB w="6350" cap="flat" cmpd="sng" algn="ctr">
                      <a:solidFill>
                        <a:srgbClr val="EEF2EF"/>
                      </a:solidFill>
                      <a:prstDash val="solid"/>
                      <a:round/>
                      <a:headEnd type="none" w="med" len="med"/>
                      <a:tailEnd type="none" w="med" len="med"/>
                    </a:lnB>
                  </a:tcPr>
                </a:tc>
              </a:tr>
              <a:tr h="384048">
                <a:tc>
                  <a:txBody>
                    <a:bodyPr/>
                    <a:lstStyle/>
                    <a:p>
                      <a:pPr indent="0" marL="0">
                        <a:buNone/>
                      </a:pPr>
                      <a:r>
                        <a:rPr lang="en-US" sz="1150" b="1" dirty="0">
                          <a:solidFill>
                            <a:srgbClr val="1B2420"/>
                          </a:solidFill>
                          <a:latin typeface="Calibri" pitchFamily="34" charset="0"/>
                          <a:ea typeface="Calibri" pitchFamily="34" charset="-122"/>
                          <a:cs typeface="Calibri" pitchFamily="34" charset="-120"/>
                        </a:rPr>
                        <a:t>Total (excludes 1 pending position)</a:t>
                      </a:r>
                      <a:endParaRPr lang="en-US" sz="1150" dirty="0">
                        <a:latin typeface="Calibri" charset="0"/>
                        <a:ea typeface="Calibri" charset="0"/>
                        <a:cs typeface="Calibri" charset="0"/>
                      </a:endParaRPr>
                    </a:p>
                  </a:txBody>
                  <a:tcPr marL="64008" marR="64008" marT="0" marB="0" anchor="ctr">
                    <a:lnL w="6350" cap="flat" cmpd="sng" algn="ctr">
                      <a:solidFill>
                        <a:srgbClr val="EEF2EF"/>
                      </a:solidFill>
                      <a:prstDash val="solid"/>
                      <a:round/>
                      <a:headEnd type="none" w="med" len="med"/>
                      <a:tailEnd type="none" w="med" len="med"/>
                    </a:lnL>
                    <a:lnR w="6350" cap="flat" cmpd="sng" algn="ctr">
                      <a:solidFill>
                        <a:srgbClr val="EEF2EF"/>
                      </a:solidFill>
                      <a:prstDash val="solid"/>
                      <a:round/>
                      <a:headEnd type="none" w="med" len="med"/>
                      <a:tailEnd type="none" w="med" len="med"/>
                    </a:lnR>
                    <a:lnT w="6350" cap="flat" cmpd="sng" algn="ctr">
                      <a:solidFill>
                        <a:srgbClr val="EEF2EF"/>
                      </a:solidFill>
                      <a:prstDash val="solid"/>
                      <a:round/>
                      <a:headEnd type="none" w="med" len="med"/>
                      <a:tailEnd type="none" w="med" len="med"/>
                    </a:lnT>
                    <a:lnB w="6350" cap="flat" cmpd="sng" algn="ctr">
                      <a:solidFill>
                        <a:srgbClr val="EEF2EF"/>
                      </a:solidFill>
                      <a:prstDash val="solid"/>
                      <a:round/>
                      <a:headEnd type="none" w="med" len="med"/>
                      <a:tailEnd type="none" w="med" len="med"/>
                    </a:lnB>
                  </a:tcPr>
                </a:tc>
                <a:tc>
                  <a:txBody>
                    <a:bodyPr/>
                    <a:lstStyle/>
                    <a:p>
                      <a:pPr algn="r" indent="0" marL="0">
                        <a:buNone/>
                      </a:pPr>
                      <a:r>
                        <a:rPr lang="en-US" sz="1150" b="1" dirty="0">
                          <a:solidFill>
                            <a:srgbClr val="1B2420"/>
                          </a:solidFill>
                          <a:latin typeface="Calibri" pitchFamily="34" charset="0"/>
                          <a:ea typeface="Calibri" pitchFamily="34" charset="-122"/>
                          <a:cs typeface="Calibri" pitchFamily="34" charset="-120"/>
                        </a:rPr>
                        <a:t>$1,650,000</a:t>
                      </a:r>
                      <a:endParaRPr lang="en-US" sz="1150" dirty="0">
                        <a:latin typeface="Calibri" charset="0"/>
                        <a:ea typeface="Calibri" charset="0"/>
                        <a:cs typeface="Calibri" charset="0"/>
                      </a:endParaRPr>
                    </a:p>
                  </a:txBody>
                  <a:tcPr marL="64008" marR="64008" marT="0" marB="0" anchor="ctr">
                    <a:lnL w="6350" cap="flat" cmpd="sng" algn="ctr">
                      <a:solidFill>
                        <a:srgbClr val="EEF2EF"/>
                      </a:solidFill>
                      <a:prstDash val="solid"/>
                      <a:round/>
                      <a:headEnd type="none" w="med" len="med"/>
                      <a:tailEnd type="none" w="med" len="med"/>
                    </a:lnL>
                    <a:lnR w="6350" cap="flat" cmpd="sng" algn="ctr">
                      <a:solidFill>
                        <a:srgbClr val="EEF2EF"/>
                      </a:solidFill>
                      <a:prstDash val="solid"/>
                      <a:round/>
                      <a:headEnd type="none" w="med" len="med"/>
                      <a:tailEnd type="none" w="med" len="med"/>
                    </a:lnR>
                    <a:lnT w="6350" cap="flat" cmpd="sng" algn="ctr">
                      <a:solidFill>
                        <a:srgbClr val="EEF2EF"/>
                      </a:solidFill>
                      <a:prstDash val="solid"/>
                      <a:round/>
                      <a:headEnd type="none" w="med" len="med"/>
                      <a:tailEnd type="none" w="med" len="med"/>
                    </a:lnT>
                    <a:lnB w="6350" cap="flat" cmpd="sng" algn="ctr">
                      <a:solidFill>
                        <a:srgbClr val="EEF2EF"/>
                      </a:solidFill>
                      <a:prstDash val="solid"/>
                      <a:round/>
                      <a:headEnd type="none" w="med" len="med"/>
                      <a:tailEnd type="none" w="med" len="med"/>
                    </a:lnB>
                  </a:tcPr>
                </a:tc>
                <a:tc>
                  <a:txBody>
                    <a:bodyPr/>
                    <a:lstStyle/>
                    <a:p>
                      <a:pPr algn="r" indent="0" marL="0">
                        <a:buNone/>
                      </a:pPr>
                      <a:r>
                        <a:rPr lang="en-US" sz="1150" b="1" dirty="0">
                          <a:solidFill>
                            <a:srgbClr val="1B2420"/>
                          </a:solidFill>
                          <a:latin typeface="Calibri" pitchFamily="34" charset="0"/>
                          <a:ea typeface="Calibri" pitchFamily="34" charset="-122"/>
                          <a:cs typeface="Calibri" pitchFamily="34" charset="-120"/>
                        </a:rPr>
                        <a:t>$971,500</a:t>
                      </a:r>
                      <a:endParaRPr lang="en-US" sz="1150" dirty="0">
                        <a:latin typeface="Calibri" charset="0"/>
                        <a:ea typeface="Calibri" charset="0"/>
                        <a:cs typeface="Calibri" charset="0"/>
                      </a:endParaRPr>
                    </a:p>
                  </a:txBody>
                  <a:tcPr marL="64008" marR="64008" marT="0" marB="0" anchor="ctr">
                    <a:lnL w="6350" cap="flat" cmpd="sng" algn="ctr">
                      <a:solidFill>
                        <a:srgbClr val="EEF2EF"/>
                      </a:solidFill>
                      <a:prstDash val="solid"/>
                      <a:round/>
                      <a:headEnd type="none" w="med" len="med"/>
                      <a:tailEnd type="none" w="med" len="med"/>
                    </a:lnL>
                    <a:lnR w="6350" cap="flat" cmpd="sng" algn="ctr">
                      <a:solidFill>
                        <a:srgbClr val="EEF2EF"/>
                      </a:solidFill>
                      <a:prstDash val="solid"/>
                      <a:round/>
                      <a:headEnd type="none" w="med" len="med"/>
                      <a:tailEnd type="none" w="med" len="med"/>
                    </a:lnR>
                    <a:lnT w="6350" cap="flat" cmpd="sng" algn="ctr">
                      <a:solidFill>
                        <a:srgbClr val="EEF2EF"/>
                      </a:solidFill>
                      <a:prstDash val="solid"/>
                      <a:round/>
                      <a:headEnd type="none" w="med" len="med"/>
                      <a:tailEnd type="none" w="med" len="med"/>
                    </a:lnT>
                    <a:lnB w="6350" cap="flat" cmpd="sng" algn="ctr">
                      <a:solidFill>
                        <a:srgbClr val="EEF2EF"/>
                      </a:solidFill>
                      <a:prstDash val="solid"/>
                      <a:round/>
                      <a:headEnd type="none" w="med" len="med"/>
                      <a:tailEnd type="none" w="med" len="med"/>
                    </a:lnB>
                  </a:tcPr>
                </a:tc>
                <a:tc>
                  <a:txBody>
                    <a:bodyPr/>
                    <a:lstStyle/>
                    <a:p>
                      <a:pPr algn="r" indent="0" marL="0">
                        <a:buNone/>
                      </a:pPr>
                      <a:r>
                        <a:rPr lang="en-US" sz="1150" b="1" dirty="0">
                          <a:solidFill>
                            <a:srgbClr val="1B2420"/>
                          </a:solidFill>
                          <a:latin typeface="Calibri" pitchFamily="34" charset="0"/>
                          <a:ea typeface="Calibri" pitchFamily="34" charset="-122"/>
                          <a:cs typeface="Calibri" pitchFamily="34" charset="-120"/>
                        </a:rPr>
                        <a:t>$639,000</a:t>
                      </a:r>
                      <a:endParaRPr lang="en-US" sz="1150" dirty="0">
                        <a:latin typeface="Calibri" charset="0"/>
                        <a:ea typeface="Calibri" charset="0"/>
                        <a:cs typeface="Calibri" charset="0"/>
                      </a:endParaRPr>
                    </a:p>
                  </a:txBody>
                  <a:tcPr marL="64008" marR="64008" marT="0" marB="0" anchor="ctr">
                    <a:lnL w="6350" cap="flat" cmpd="sng" algn="ctr">
                      <a:solidFill>
                        <a:srgbClr val="EEF2EF"/>
                      </a:solidFill>
                      <a:prstDash val="solid"/>
                      <a:round/>
                      <a:headEnd type="none" w="med" len="med"/>
                      <a:tailEnd type="none" w="med" len="med"/>
                    </a:lnL>
                    <a:lnR w="6350" cap="flat" cmpd="sng" algn="ctr">
                      <a:solidFill>
                        <a:srgbClr val="EEF2EF"/>
                      </a:solidFill>
                      <a:prstDash val="solid"/>
                      <a:round/>
                      <a:headEnd type="none" w="med" len="med"/>
                      <a:tailEnd type="none" w="med" len="med"/>
                    </a:lnR>
                    <a:lnT w="6350" cap="flat" cmpd="sng" algn="ctr">
                      <a:solidFill>
                        <a:srgbClr val="EEF2EF"/>
                      </a:solidFill>
                      <a:prstDash val="solid"/>
                      <a:round/>
                      <a:headEnd type="none" w="med" len="med"/>
                      <a:tailEnd type="none" w="med" len="med"/>
                    </a:lnT>
                    <a:lnB w="6350" cap="flat" cmpd="sng" algn="ctr">
                      <a:solidFill>
                        <a:srgbClr val="EEF2EF"/>
                      </a:solidFill>
                      <a:prstDash val="solid"/>
                      <a:round/>
                      <a:headEnd type="none" w="med" len="med"/>
                      <a:tailEnd type="none" w="med" len="med"/>
                    </a:lnB>
                  </a:tcPr>
                </a:tc>
                <a:tc>
                  <a:txBody>
                    <a:bodyPr/>
                    <a:lstStyle/>
                    <a:p>
                      <a:pPr algn="r" indent="0" marL="0">
                        <a:buNone/>
                      </a:pPr>
                      <a:r>
                        <a:rPr lang="en-US" sz="1150" b="1" dirty="0">
                          <a:solidFill>
                            <a:srgbClr val="1B2420"/>
                          </a:solidFill>
                          <a:latin typeface="Calibri" pitchFamily="34" charset="0"/>
                          <a:ea typeface="Calibri" pitchFamily="34" charset="-122"/>
                          <a:cs typeface="Calibri" pitchFamily="34" charset="-120"/>
                        </a:rPr>
                        <a:t>$2,996,100</a:t>
                      </a:r>
                      <a:endParaRPr lang="en-US" sz="1150" dirty="0">
                        <a:latin typeface="Calibri" charset="0"/>
                        <a:ea typeface="Calibri" charset="0"/>
                        <a:cs typeface="Calibri" charset="0"/>
                      </a:endParaRPr>
                    </a:p>
                  </a:txBody>
                  <a:tcPr marL="64008" marR="64008" marT="0" marB="0" anchor="ctr">
                    <a:lnL w="6350" cap="flat" cmpd="sng" algn="ctr">
                      <a:solidFill>
                        <a:srgbClr val="EEF2EF"/>
                      </a:solidFill>
                      <a:prstDash val="solid"/>
                      <a:round/>
                      <a:headEnd type="none" w="med" len="med"/>
                      <a:tailEnd type="none" w="med" len="med"/>
                    </a:lnL>
                    <a:lnR w="6350" cap="flat" cmpd="sng" algn="ctr">
                      <a:solidFill>
                        <a:srgbClr val="EEF2EF"/>
                      </a:solidFill>
                      <a:prstDash val="solid"/>
                      <a:round/>
                      <a:headEnd type="none" w="med" len="med"/>
                      <a:tailEnd type="none" w="med" len="med"/>
                    </a:lnR>
                    <a:lnT w="6350" cap="flat" cmpd="sng" algn="ctr">
                      <a:solidFill>
                        <a:srgbClr val="EEF2EF"/>
                      </a:solidFill>
                      <a:prstDash val="solid"/>
                      <a:round/>
                      <a:headEnd type="none" w="med" len="med"/>
                      <a:tailEnd type="none" w="med" len="med"/>
                    </a:lnT>
                    <a:lnB w="6350" cap="flat" cmpd="sng" algn="ctr">
                      <a:solidFill>
                        <a:srgbClr val="EEF2EF"/>
                      </a:solidFill>
                      <a:prstDash val="solid"/>
                      <a:round/>
                      <a:headEnd type="none" w="med" len="med"/>
                      <a:tailEnd type="none" w="med" len="med"/>
                    </a:lnB>
                  </a:tcPr>
                </a:tc>
                <a:tc>
                  <a:txBody>
                    <a:bodyPr/>
                    <a:lstStyle/>
                    <a:p>
                      <a:pPr indent="0" marL="0">
                        <a:buNone/>
                      </a:pPr>
                      <a:endParaRPr lang="en-US" sz="1200" dirty="0">
                        <a:latin typeface="Calibri" charset="0"/>
                        <a:ea typeface="Calibri" charset="0"/>
                        <a:cs typeface="Calibri" charset="0"/>
                      </a:endParaRPr>
                    </a:p>
                  </a:txBody>
                  <a:tcPr marL="64008" marR="64008" marT="0" marB="0" anchor="ctr">
                    <a:lnL w="6350" cap="flat" cmpd="sng" algn="ctr">
                      <a:solidFill>
                        <a:srgbClr val="EEF2EF"/>
                      </a:solidFill>
                      <a:prstDash val="solid"/>
                      <a:round/>
                      <a:headEnd type="none" w="med" len="med"/>
                      <a:tailEnd type="none" w="med" len="med"/>
                    </a:lnL>
                    <a:lnR w="6350" cap="flat" cmpd="sng" algn="ctr">
                      <a:solidFill>
                        <a:srgbClr val="EEF2EF"/>
                      </a:solidFill>
                      <a:prstDash val="solid"/>
                      <a:round/>
                      <a:headEnd type="none" w="med" len="med"/>
                      <a:tailEnd type="none" w="med" len="med"/>
                    </a:lnR>
                    <a:lnT w="6350" cap="flat" cmpd="sng" algn="ctr">
                      <a:solidFill>
                        <a:srgbClr val="EEF2EF"/>
                      </a:solidFill>
                      <a:prstDash val="solid"/>
                      <a:round/>
                      <a:headEnd type="none" w="med" len="med"/>
                      <a:tailEnd type="none" w="med" len="med"/>
                    </a:lnT>
                    <a:lnB w="6350" cap="flat" cmpd="sng" algn="ctr">
                      <a:solidFill>
                        <a:srgbClr val="EEF2EF"/>
                      </a:solidFill>
                      <a:prstDash val="solid"/>
                      <a:round/>
                      <a:headEnd type="none" w="med" len="med"/>
                      <a:tailEnd type="none" w="med" len="med"/>
                    </a:lnB>
                  </a:tcPr>
                </a:tc>
              </a:tr>
            </a:tbl>
          </a:graphicData>
        </a:graphic>
      </p:graphicFrame>
      <p:sp>
        <p:nvSpPr>
          <p:cNvPr id="8" name="Text 5"/>
          <p:cNvSpPr txBox="1"/>
          <p:nvPr/>
        </p:nvSpPr>
        <p:spPr>
          <a:xfrm>
            <a:off x="822960" y="5532120"/>
            <a:ext cx="7086600" cy="228600"/>
          </a:xfrm>
          <a:prstGeom prst="rect">
            <a:avLst/>
          </a:prstGeom>
          <a:noFill/>
          <a:ln/>
        </p:spPr>
        <p:txBody>
          <a:bodyPr wrap="square" lIns="0" tIns="0" rIns="0" bIns="0" rtlCol="0" anchor="t"/>
          <a:lstStyle/>
          <a:p>
            <a:pPr indent="0" marL="0">
              <a:buNone/>
            </a:pPr>
            <a:r>
              <a:rPr lang="en-US" sz="1000" i="1" dirty="0">
                <a:solidFill>
                  <a:schemeClr val="accent5"/>
                </a:solidFill>
              </a:rPr>
              <a:t>¹ The fund's statement includes capital calls and a distribution dated after 9/30/24.</a:t>
            </a:r>
            <a:endParaRPr lang="en-US" sz="1000" dirty="0"/>
          </a:p>
        </p:txBody>
      </p:sp>
      <p:sp>
        <p:nvSpPr>
          <p:cNvPr id="9" name="Text 6"/>
          <p:cNvSpPr txBox="1"/>
          <p:nvPr/>
        </p:nvSpPr>
        <p:spPr>
          <a:xfrm>
            <a:off x="822960" y="5806440"/>
            <a:ext cx="7086600" cy="228600"/>
          </a:xfrm>
          <a:prstGeom prst="rect">
            <a:avLst/>
          </a:prstGeom>
          <a:noFill/>
          <a:ln/>
        </p:spPr>
        <p:txBody>
          <a:bodyPr wrap="square" lIns="0" tIns="0" rIns="0" bIns="0" rtlCol="0" anchor="t"/>
          <a:lstStyle/>
          <a:p>
            <a:pPr indent="0" marL="0">
              <a:buNone/>
            </a:pPr>
            <a:r>
              <a:rPr lang="en-US" sz="1000" dirty="0">
                <a:solidFill>
                  <a:schemeClr val="accent5"/>
                </a:solidFill>
              </a:rPr>
              <a:t>Documents: 143 · de-duplicated · this household only</a:t>
            </a:r>
            <a:endParaRPr lang="en-US" sz="1000" dirty="0"/>
          </a:p>
        </p:txBody>
      </p:sp>
      <p:sp>
        <p:nvSpPr>
          <p:cNvPr id="10" name="Shape 7"/>
          <p:cNvSpPr/>
          <p:nvPr/>
        </p:nvSpPr>
        <p:spPr>
          <a:xfrm>
            <a:off x="8503920" y="1517904"/>
            <a:ext cx="237744" cy="237744"/>
          </a:xfrm>
          <a:prstGeom prst="ellipse">
            <a:avLst/>
          </a:prstGeom>
          <a:solidFill>
            <a:schemeClr val="accent1"/>
          </a:solidFill>
          <a:ln w="9525">
            <a:solidFill>
              <a:schemeClr val="accent1"/>
            </a:solidFill>
            <a:prstDash val="solid"/>
          </a:ln>
        </p:spPr>
      </p:sp>
      <p:sp>
        <p:nvSpPr>
          <p:cNvPr id="11" name="Text 8"/>
          <p:cNvSpPr txBox="1"/>
          <p:nvPr/>
        </p:nvSpPr>
        <p:spPr>
          <a:xfrm>
            <a:off x="8887968" y="1463040"/>
            <a:ext cx="2752344" cy="347472"/>
          </a:xfrm>
          <a:prstGeom prst="rect">
            <a:avLst/>
          </a:prstGeom>
          <a:noFill/>
          <a:ln/>
        </p:spPr>
        <p:txBody>
          <a:bodyPr wrap="square" lIns="0" tIns="0" rIns="0" bIns="0" rtlCol="0" anchor="ctr"/>
          <a:lstStyle/>
          <a:p>
            <a:pPr indent="0" marL="0">
              <a:buNone/>
            </a:pPr>
            <a:r>
              <a:rPr lang="en-US" sz="1800" b="1" dirty="0">
                <a:solidFill>
                  <a:schemeClr val="tx2"/>
                </a:solidFill>
              </a:rPr>
              <a:t>Verified</a:t>
            </a:r>
            <a:endParaRPr lang="en-US" sz="1800" dirty="0"/>
          </a:p>
        </p:txBody>
      </p:sp>
      <p:sp>
        <p:nvSpPr>
          <p:cNvPr id="12" name="Text 9"/>
          <p:cNvSpPr txBox="1"/>
          <p:nvPr/>
        </p:nvSpPr>
        <p:spPr>
          <a:xfrm>
            <a:off x="8887968" y="1874520"/>
            <a:ext cx="2752344" cy="822960"/>
          </a:xfrm>
          <a:prstGeom prst="rect">
            <a:avLst/>
          </a:prstGeom>
          <a:noFill/>
          <a:ln/>
        </p:spPr>
        <p:txBody>
          <a:bodyPr wrap="square" lIns="0" tIns="0" rIns="0" bIns="0" rtlCol="0" anchor="t"/>
          <a:lstStyle/>
          <a:p>
            <a:pPr indent="0" marL="0">
              <a:buNone/>
            </a:pPr>
            <a:r>
              <a:rPr lang="en-US" sz="1400" dirty="0">
                <a:solidFill>
                  <a:schemeClr val="tx1"/>
                </a:solidFill>
              </a:rPr>
              <a:t>Statements, calls and distributions tie, or the advisor resolved the break</a:t>
            </a:r>
            <a:endParaRPr lang="en-US" sz="1400" dirty="0"/>
          </a:p>
        </p:txBody>
      </p:sp>
      <p:sp>
        <p:nvSpPr>
          <p:cNvPr id="13" name="Shape 10"/>
          <p:cNvSpPr/>
          <p:nvPr/>
        </p:nvSpPr>
        <p:spPr>
          <a:xfrm>
            <a:off x="8503920" y="2935224"/>
            <a:ext cx="237744" cy="237744"/>
          </a:xfrm>
          <a:prstGeom prst="ellipse">
            <a:avLst/>
          </a:prstGeom>
          <a:solidFill>
            <a:schemeClr val="accent5"/>
          </a:solidFill>
          <a:ln w="9525">
            <a:solidFill>
              <a:schemeClr val="accent5"/>
            </a:solidFill>
            <a:prstDash val="solid"/>
          </a:ln>
        </p:spPr>
      </p:sp>
      <p:sp>
        <p:nvSpPr>
          <p:cNvPr id="14" name="Text 11"/>
          <p:cNvSpPr txBox="1"/>
          <p:nvPr/>
        </p:nvSpPr>
        <p:spPr>
          <a:xfrm>
            <a:off x="8887968" y="2880360"/>
            <a:ext cx="2752344" cy="347472"/>
          </a:xfrm>
          <a:prstGeom prst="rect">
            <a:avLst/>
          </a:prstGeom>
          <a:noFill/>
          <a:ln/>
        </p:spPr>
        <p:txBody>
          <a:bodyPr wrap="square" lIns="0" tIns="0" rIns="0" bIns="0" rtlCol="0" anchor="ctr"/>
          <a:lstStyle/>
          <a:p>
            <a:pPr indent="0" marL="0">
              <a:buNone/>
            </a:pPr>
            <a:r>
              <a:rPr lang="en-US" sz="1800" b="1" dirty="0">
                <a:solidFill>
                  <a:schemeClr val="tx2"/>
                </a:solidFill>
              </a:rPr>
              <a:t>Pending</a:t>
            </a:r>
            <a:endParaRPr lang="en-US" sz="1800" dirty="0"/>
          </a:p>
        </p:txBody>
      </p:sp>
      <p:sp>
        <p:nvSpPr>
          <p:cNvPr id="15" name="Text 12"/>
          <p:cNvSpPr txBox="1"/>
          <p:nvPr/>
        </p:nvSpPr>
        <p:spPr>
          <a:xfrm>
            <a:off x="8887968" y="3291840"/>
            <a:ext cx="2752344" cy="822960"/>
          </a:xfrm>
          <a:prstGeom prst="rect">
            <a:avLst/>
          </a:prstGeom>
          <a:noFill/>
          <a:ln/>
        </p:spPr>
        <p:txBody>
          <a:bodyPr wrap="square" lIns="0" tIns="0" rIns="0" bIns="0" rtlCol="0" anchor="t"/>
          <a:lstStyle/>
          <a:p>
            <a:pPr indent="0" marL="0">
              <a:buNone/>
            </a:pPr>
            <a:r>
              <a:rPr lang="en-US" sz="1400" dirty="0">
                <a:solidFill>
                  <a:schemeClr val="tx1"/>
                </a:solidFill>
              </a:rPr>
              <a:t>The client sees the position, but no numbers. Left out of totals</a:t>
            </a:r>
            <a:endParaRPr lang="en-US" sz="1400" dirty="0"/>
          </a:p>
        </p:txBody>
      </p:sp>
      <p:sp>
        <p:nvSpPr>
          <p:cNvPr id="16" name="Shape 13"/>
          <p:cNvSpPr/>
          <p:nvPr/>
        </p:nvSpPr>
        <p:spPr>
          <a:xfrm>
            <a:off x="8503920" y="4352544"/>
            <a:ext cx="237744" cy="237744"/>
          </a:xfrm>
          <a:prstGeom prst="ellipse">
            <a:avLst/>
          </a:prstGeom>
          <a:solidFill>
            <a:schemeClr val="accent3"/>
          </a:solidFill>
          <a:ln w="9525">
            <a:solidFill>
              <a:schemeClr val="accent3"/>
            </a:solidFill>
            <a:prstDash val="solid"/>
          </a:ln>
        </p:spPr>
      </p:sp>
      <p:sp>
        <p:nvSpPr>
          <p:cNvPr id="17" name="Text 14"/>
          <p:cNvSpPr txBox="1"/>
          <p:nvPr/>
        </p:nvSpPr>
        <p:spPr>
          <a:xfrm>
            <a:off x="8887968" y="4297680"/>
            <a:ext cx="2752344" cy="347472"/>
          </a:xfrm>
          <a:prstGeom prst="rect">
            <a:avLst/>
          </a:prstGeom>
          <a:noFill/>
          <a:ln/>
        </p:spPr>
        <p:txBody>
          <a:bodyPr wrap="square" lIns="0" tIns="0" rIns="0" bIns="0" rtlCol="0" anchor="ctr"/>
          <a:lstStyle/>
          <a:p>
            <a:pPr indent="0" marL="0">
              <a:buNone/>
            </a:pPr>
            <a:r>
              <a:rPr lang="en-US" sz="1800" b="1" dirty="0">
                <a:solidFill>
                  <a:schemeClr val="tx2"/>
                </a:solidFill>
              </a:rPr>
              <a:t>Unverified</a:t>
            </a:r>
            <a:endParaRPr lang="en-US" sz="1800" dirty="0"/>
          </a:p>
        </p:txBody>
      </p:sp>
      <p:sp>
        <p:nvSpPr>
          <p:cNvPr id="18" name="Text 15"/>
          <p:cNvSpPr txBox="1"/>
          <p:nvPr/>
        </p:nvSpPr>
        <p:spPr>
          <a:xfrm>
            <a:off x="8887968" y="4709160"/>
            <a:ext cx="2752344" cy="822960"/>
          </a:xfrm>
          <a:prstGeom prst="rect">
            <a:avLst/>
          </a:prstGeom>
          <a:noFill/>
          <a:ln/>
        </p:spPr>
        <p:txBody>
          <a:bodyPr wrap="square" lIns="0" tIns="0" rIns="0" bIns="0" rtlCol="0" anchor="t"/>
          <a:lstStyle/>
          <a:p>
            <a:pPr indent="0" marL="0">
              <a:buNone/>
            </a:pPr>
            <a:r>
              <a:rPr lang="en-US" sz="1400" dirty="0">
                <a:solidFill>
                  <a:schemeClr val="tx1"/>
                </a:solidFill>
              </a:rPr>
              <a:t>Shown only when the advisor chooses, and always labelled</a:t>
            </a:r>
            <a:endParaRPr lang="en-US" sz="1400" dirty="0"/>
          </a:p>
        </p:txBody>
      </p:sp>
      <p:sp>
        <p:nvSpPr>
          <p:cNvPr id="25" name="Slide Number Placeholder 0"/>
          <p:cNvSpPr>
            <a:spLocks noGrp="1"/>
          </p:cNvSpPr>
          <p:nvPr>
            <p:ph type="sldNum" sz="quarter" idx="4294967295"/>
          </p:nvPr>
        </p:nvSpPr>
        <p:spPr>
          <a:xfrm>
            <a:off x="11274552" y="6473952"/>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0972800" cy="274320"/>
          </a:xfrm>
          <a:prstGeom prst="rect">
            <a:avLst/>
          </a:prstGeom>
          <a:noFill/>
          <a:ln/>
        </p:spPr>
        <p:txBody>
          <a:bodyPr wrap="square" lIns="0" tIns="0" rIns="0" bIns="0" rtlCol="0"/>
          <a:lstStyle/>
          <a:p>
            <a:pPr indent="0" marL="0">
              <a:buNone/>
            </a:pPr>
            <a:r>
              <a:rPr lang="en-US" sz="1100" b="1" spc="200" kern="0" dirty="0">
                <a:solidFill>
                  <a:schemeClr val="accent1"/>
                </a:solidFill>
              </a:rPr>
              <a:t>PART 3 · THE CLIENT'S REPORT</a:t>
            </a:r>
            <a:endParaRPr lang="en-US" sz="1100" dirty="0"/>
          </a:p>
        </p:txBody>
      </p:sp>
      <p:sp>
        <p:nvSpPr>
          <p:cNvPr id="3" name="Text 0"/>
          <p:cNvSpPr/>
          <p:nvPr>
            <p:ph idx="101" type="title" hasCustomPrompt="1"/>
          </p:nvPr>
        </p:nvSpPr>
        <p:spPr>
          <a:xfrm>
            <a:off x="548640" y="621792"/>
            <a:ext cx="11064240" cy="640080"/>
          </a:xfrm>
          <a:prstGeom prst="rect">
            <a:avLst/>
          </a:prstGeom>
          <a:noFill/>
          <a:ln/>
        </p:spPr>
        <p:txBody>
          <a:bodyPr wrap="square" lIns="0" tIns="0" rIns="0" bIns="0" rtlCol="0" anchor="t"/>
          <a:lstStyle/>
          <a:p>
            <a:pPr algn="l" indent="0" marL="0">
              <a:buNone/>
            </a:pPr>
            <a:r>
              <a:rPr lang="en-US" sz="3200" b="1" dirty="0">
                <a:solidFill>
                  <a:schemeClr val="tx2"/>
                </a:solidFill>
                <a:latin typeface="Cambria" pitchFamily="34" charset="0"/>
                <a:ea typeface="Cambria" pitchFamily="34" charset="-122"/>
                <a:cs typeface="Cambria" pitchFamily="34" charset="-120"/>
              </a:rPr>
              <a:t>Every report carries a verification statement</a:t>
            </a:r>
            <a:endParaRPr lang="en-US" sz="3200" dirty="0"/>
          </a:p>
        </p:txBody>
      </p:sp>
      <p:sp>
        <p:nvSpPr>
          <p:cNvPr id="4" name="Text 2"/>
          <p:cNvSpPr txBox="1"/>
          <p:nvPr/>
        </p:nvSpPr>
        <p:spPr>
          <a:xfrm>
            <a:off x="548640" y="1371600"/>
            <a:ext cx="3291840" cy="1005840"/>
          </a:xfrm>
          <a:prstGeom prst="rect">
            <a:avLst/>
          </a:prstGeom>
          <a:noFill/>
          <a:ln/>
        </p:spPr>
        <p:txBody>
          <a:bodyPr wrap="square" lIns="0" tIns="0" rIns="0" bIns="0" rtlCol="0" anchor="t"/>
          <a:lstStyle/>
          <a:p>
            <a:pPr indent="0" marL="0">
              <a:buNone/>
            </a:pPr>
            <a:r>
              <a:rPr lang="en-US" sz="6600" b="1" dirty="0">
                <a:solidFill>
                  <a:schemeClr val="accent2"/>
                </a:solidFill>
                <a:latin typeface="Cambria" pitchFamily="34" charset="0"/>
                <a:ea typeface="Cambria" pitchFamily="34" charset="-122"/>
                <a:cs typeface="Cambria" pitchFamily="34" charset="-120"/>
              </a:rPr>
              <a:t>2 of 12</a:t>
            </a:r>
            <a:endParaRPr lang="en-US" sz="6600" dirty="0"/>
          </a:p>
        </p:txBody>
      </p:sp>
      <p:sp>
        <p:nvSpPr>
          <p:cNvPr id="5" name="Text 3"/>
          <p:cNvSpPr txBox="1"/>
          <p:nvPr/>
        </p:nvSpPr>
        <p:spPr>
          <a:xfrm>
            <a:off x="548640" y="2377440"/>
            <a:ext cx="3291840" cy="320040"/>
          </a:xfrm>
          <a:prstGeom prst="rect">
            <a:avLst/>
          </a:prstGeom>
          <a:noFill/>
          <a:ln/>
        </p:spPr>
        <p:txBody>
          <a:bodyPr wrap="square" lIns="0" tIns="0" rIns="0" bIns="0" rtlCol="0" anchor="t"/>
          <a:lstStyle/>
          <a:p>
            <a:pPr indent="0" marL="0">
              <a:buNone/>
            </a:pPr>
            <a:r>
              <a:rPr lang="en-US" sz="1700" b="1" dirty="0">
                <a:solidFill>
                  <a:schemeClr val="tx2"/>
                </a:solidFill>
              </a:rPr>
              <a:t>positions reconcile today</a:t>
            </a:r>
            <a:endParaRPr lang="en-US" sz="1700" dirty="0"/>
          </a:p>
        </p:txBody>
      </p:sp>
      <p:sp>
        <p:nvSpPr>
          <p:cNvPr id="6" name="Text 4"/>
          <p:cNvSpPr txBox="1"/>
          <p:nvPr/>
        </p:nvSpPr>
        <p:spPr>
          <a:xfrm>
            <a:off x="548640" y="2743200"/>
            <a:ext cx="3200400" cy="548640"/>
          </a:xfrm>
          <a:prstGeom prst="rect">
            <a:avLst/>
          </a:prstGeom>
          <a:noFill/>
          <a:ln/>
        </p:spPr>
        <p:txBody>
          <a:bodyPr wrap="square" lIns="0" tIns="0" rIns="0" bIns="0" rtlCol="0" anchor="t"/>
          <a:lstStyle/>
          <a:p>
            <a:pPr indent="0" marL="0">
              <a:buNone/>
            </a:pPr>
            <a:r>
              <a:rPr lang="en-US" sz="1300" dirty="0">
                <a:solidFill>
                  <a:schemeClr val="accent5"/>
                </a:solidFill>
              </a:rPr>
              <a:t>Ashbourne and Falcon Ridge. Every report says so plainly.</a:t>
            </a:r>
            <a:endParaRPr lang="en-US" sz="1300" dirty="0"/>
          </a:p>
        </p:txBody>
      </p:sp>
      <p:sp>
        <p:nvSpPr>
          <p:cNvPr id="7" name="statement"/>
          <p:cNvSpPr/>
          <p:nvPr/>
        </p:nvSpPr>
        <p:spPr>
          <a:xfrm>
            <a:off x="4160520" y="1417320"/>
            <a:ext cx="7479792" cy="2331720"/>
          </a:xfrm>
          <a:prstGeom prst="rect">
            <a:avLst/>
          </a:prstGeom>
          <a:solidFill>
            <a:schemeClr val="bg1"/>
          </a:solidFill>
          <a:ln w="9525">
            <a:solidFill>
              <a:schemeClr val="accent4"/>
            </a:solidFill>
            <a:prstDash val="solid"/>
          </a:ln>
          <a:effectLst>
            <a:outerShdw sx="100000" sy="100000" kx="0" ky="0" algn="bl" rotWithShape="0" blurRad="76200" dist="25400" dir="5400000">
              <a:srgbClr val="000000">
                <a:alpha val="12000"/>
              </a:srgbClr>
            </a:outerShdw>
          </a:effectLst>
        </p:spPr>
      </p:sp>
      <p:sp>
        <p:nvSpPr>
          <p:cNvPr id="8" name="Text 6"/>
          <p:cNvSpPr txBox="1"/>
          <p:nvPr/>
        </p:nvSpPr>
        <p:spPr>
          <a:xfrm>
            <a:off x="4480560" y="1645920"/>
            <a:ext cx="6400800" cy="228600"/>
          </a:xfrm>
          <a:prstGeom prst="rect">
            <a:avLst/>
          </a:prstGeom>
          <a:noFill/>
          <a:ln/>
        </p:spPr>
        <p:txBody>
          <a:bodyPr wrap="square" lIns="0" tIns="0" rIns="0" bIns="0" rtlCol="0" anchor="t"/>
          <a:lstStyle/>
          <a:p>
            <a:pPr indent="0" marL="0">
              <a:buNone/>
            </a:pPr>
            <a:r>
              <a:rPr lang="en-US" sz="1050" b="1" spc="150" kern="0" dirty="0">
                <a:solidFill>
                  <a:schemeClr val="accent1"/>
                </a:solidFill>
              </a:rPr>
              <a:t>VERIFICATION STATEMENT · SHAH HOUSEHOLD</a:t>
            </a:r>
            <a:endParaRPr lang="en-US" sz="1050" dirty="0"/>
          </a:p>
        </p:txBody>
      </p:sp>
      <p:sp>
        <p:nvSpPr>
          <p:cNvPr id="9" name="Text 7"/>
          <p:cNvSpPr txBox="1"/>
          <p:nvPr/>
        </p:nvSpPr>
        <p:spPr>
          <a:xfrm>
            <a:off x="4480560" y="1965960"/>
            <a:ext cx="6839712" cy="1143000"/>
          </a:xfrm>
          <a:prstGeom prst="rect">
            <a:avLst/>
          </a:prstGeom>
          <a:noFill/>
          <a:ln/>
        </p:spPr>
        <p:txBody>
          <a:bodyPr wrap="square" lIns="0" tIns="0" rIns="0" bIns="0" rtlCol="0" anchor="t"/>
          <a:lstStyle/>
          <a:p>
            <a:pPr indent="0" marL="0">
              <a:spcAft>
                <a:spcPts val="600"/>
              </a:spcAft>
              <a:buNone/>
            </a:pPr>
            <a:r>
              <a:rPr lang="en-US" sz="1500" b="1" dirty="0">
                <a:solidFill>
                  <a:srgbClr val="1F7A5C"/>
                </a:solidFill>
                <a:latin typeface="Cambria" pitchFamily="34" charset="0"/>
                <a:ea typeface="Cambria" pitchFamily="34" charset="-122"/>
                <a:cs typeface="Cambria" pitchFamily="34" charset="-120"/>
              </a:rPr>
              <a:t>Verified. </a:t>
            </a:r>
            <a:pPr indent="0" marL="0">
              <a:spcAft>
                <a:spcPts val="600"/>
              </a:spcAft>
              <a:buNone/>
            </a:pPr>
            <a:r>
              <a:rPr lang="en-US" sz="1500" dirty="0">
                <a:solidFill>
                  <a:schemeClr val="tx1"/>
                </a:solidFill>
                <a:latin typeface="Cambria" pitchFamily="34" charset="0"/>
                <a:ea typeface="Cambria" pitchFamily="34" charset="-122"/>
                <a:cs typeface="Cambria" pitchFamily="34" charset="-120"/>
              </a:rPr>
              <a:t>4 of 6 positions reconcile across statements, calls and distributions.</a:t>
            </a:r>
            <a:endParaRPr lang="en-US" sz="1500" dirty="0"/>
          </a:p>
          <a:p>
            <a:pPr indent="0" marL="0">
              <a:spcAft>
                <a:spcPts val="600"/>
              </a:spcAft>
              <a:buNone/>
            </a:pPr>
            <a:r>
              <a:rPr lang="en-US" sz="1500" b="1" dirty="0">
                <a:solidFill>
                  <a:srgbClr val="D99A00"/>
                </a:solidFill>
                <a:latin typeface="Cambria" pitchFamily="34" charset="0"/>
                <a:ea typeface="Cambria" pitchFamily="34" charset="-122"/>
                <a:cs typeface="Cambria" pitchFamily="34" charset="-120"/>
              </a:rPr>
              <a:t>Qualified. </a:t>
            </a:r>
            <a:pPr indent="0" marL="0">
              <a:spcAft>
                <a:spcPts val="600"/>
              </a:spcAft>
              <a:buNone/>
            </a:pPr>
            <a:r>
              <a:rPr lang="en-US" sz="1500" dirty="0">
                <a:solidFill>
                  <a:schemeClr val="tx1"/>
                </a:solidFill>
                <a:latin typeface="Cambria" pitchFamily="34" charset="0"/>
                <a:ea typeface="Cambria" pitchFamily="34" charset="-122"/>
                <a:cs typeface="Cambria" pitchFamily="34" charset="-120"/>
              </a:rPr>
              <a:t>Northwell IV is shown as reported by the fund, not yet verified. Apax XI is pending fund confirmation.</a:t>
            </a:r>
            <a:endParaRPr lang="en-US" sz="1500" dirty="0"/>
          </a:p>
        </p:txBody>
      </p:sp>
      <p:sp>
        <p:nvSpPr>
          <p:cNvPr id="10" name="Text 8"/>
          <p:cNvSpPr txBox="1"/>
          <p:nvPr/>
        </p:nvSpPr>
        <p:spPr>
          <a:xfrm>
            <a:off x="4480560" y="3291840"/>
            <a:ext cx="6839712" cy="256032"/>
          </a:xfrm>
          <a:prstGeom prst="rect">
            <a:avLst/>
          </a:prstGeom>
          <a:noFill/>
          <a:ln/>
        </p:spPr>
        <p:txBody>
          <a:bodyPr wrap="square" lIns="0" tIns="0" rIns="0" bIns="0" rtlCol="0" anchor="t"/>
          <a:lstStyle/>
          <a:p>
            <a:pPr indent="0" marL="0">
              <a:buNone/>
            </a:pPr>
            <a:r>
              <a:rPr lang="en-US" sz="1100" i="1" dirty="0">
                <a:solidFill>
                  <a:schemeClr val="accent5"/>
                </a:solidFill>
              </a:rPr>
              <a:t>Released by the advisor · 10/22 · report v3 · snapshot as of 9/30/24</a:t>
            </a:r>
            <a:endParaRPr lang="en-US" sz="1100" dirty="0"/>
          </a:p>
        </p:txBody>
      </p:sp>
      <p:sp>
        <p:nvSpPr>
          <p:cNvPr id="11" name="guarantee-0"/>
          <p:cNvSpPr/>
          <p:nvPr/>
        </p:nvSpPr>
        <p:spPr>
          <a:xfrm>
            <a:off x="548640" y="3977640"/>
            <a:ext cx="2121408" cy="777240"/>
          </a:xfrm>
          <a:prstGeom prst="roundRect">
            <a:avLst>
              <a:gd name="adj" fmla="val 9412"/>
            </a:avLst>
          </a:prstGeom>
          <a:solidFill>
            <a:schemeClr val="bg2"/>
          </a:solidFill>
          <a:ln w="6350">
            <a:solidFill>
              <a:schemeClr val="bg2"/>
            </a:solidFill>
            <a:prstDash val="solid"/>
          </a:ln>
        </p:spPr>
      </p:sp>
      <p:sp>
        <p:nvSpPr>
          <p:cNvPr id="12" name="Shape 10"/>
          <p:cNvSpPr/>
          <p:nvPr/>
        </p:nvSpPr>
        <p:spPr>
          <a:xfrm>
            <a:off x="685800" y="4261104"/>
            <a:ext cx="201168" cy="201168"/>
          </a:xfrm>
          <a:prstGeom prst="ellipse">
            <a:avLst/>
          </a:prstGeom>
          <a:solidFill>
            <a:schemeClr val="accent1"/>
          </a:solidFill>
          <a:ln w="9525">
            <a:solidFill>
              <a:schemeClr val="accent1"/>
            </a:solidFill>
            <a:prstDash val="solid"/>
          </a:ln>
        </p:spPr>
      </p:sp>
      <p:sp>
        <p:nvSpPr>
          <p:cNvPr id="13" name="Text 11"/>
          <p:cNvSpPr txBox="1"/>
          <p:nvPr/>
        </p:nvSpPr>
        <p:spPr>
          <a:xfrm>
            <a:off x="978408" y="3977640"/>
            <a:ext cx="1618488" cy="777240"/>
          </a:xfrm>
          <a:prstGeom prst="rect">
            <a:avLst/>
          </a:prstGeom>
          <a:noFill/>
          <a:ln/>
        </p:spPr>
        <p:txBody>
          <a:bodyPr wrap="square" lIns="0" tIns="0" rIns="0" bIns="0" rtlCol="0" anchor="ctr"/>
          <a:lstStyle/>
          <a:p>
            <a:pPr indent="0" marL="0">
              <a:buNone/>
            </a:pPr>
            <a:r>
              <a:rPr lang="en-US" sz="1300" b="1" dirty="0">
                <a:solidFill>
                  <a:schemeClr val="tx2"/>
                </a:solidFill>
              </a:rPr>
              <a:t>No uncleared number shows as fact</a:t>
            </a:r>
            <a:endParaRPr lang="en-US" sz="1300" dirty="0"/>
          </a:p>
        </p:txBody>
      </p:sp>
      <p:sp>
        <p:nvSpPr>
          <p:cNvPr id="14" name="guarantee-1"/>
          <p:cNvSpPr/>
          <p:nvPr/>
        </p:nvSpPr>
        <p:spPr>
          <a:xfrm>
            <a:off x="2784348" y="3977640"/>
            <a:ext cx="2121408" cy="777240"/>
          </a:xfrm>
          <a:prstGeom prst="roundRect">
            <a:avLst>
              <a:gd name="adj" fmla="val 9412"/>
            </a:avLst>
          </a:prstGeom>
          <a:solidFill>
            <a:schemeClr val="bg2"/>
          </a:solidFill>
          <a:ln w="6350">
            <a:solidFill>
              <a:schemeClr val="bg2"/>
            </a:solidFill>
            <a:prstDash val="solid"/>
          </a:ln>
        </p:spPr>
      </p:sp>
      <p:sp>
        <p:nvSpPr>
          <p:cNvPr id="15" name="Shape 13"/>
          <p:cNvSpPr/>
          <p:nvPr/>
        </p:nvSpPr>
        <p:spPr>
          <a:xfrm>
            <a:off x="2921508" y="4261104"/>
            <a:ext cx="201168" cy="201168"/>
          </a:xfrm>
          <a:prstGeom prst="ellipse">
            <a:avLst/>
          </a:prstGeom>
          <a:solidFill>
            <a:schemeClr val="accent1"/>
          </a:solidFill>
          <a:ln w="9525">
            <a:solidFill>
              <a:schemeClr val="accent1"/>
            </a:solidFill>
            <a:prstDash val="solid"/>
          </a:ln>
        </p:spPr>
      </p:sp>
      <p:sp>
        <p:nvSpPr>
          <p:cNvPr id="16" name="Text 14"/>
          <p:cNvSpPr txBox="1"/>
          <p:nvPr/>
        </p:nvSpPr>
        <p:spPr>
          <a:xfrm>
            <a:off x="3214116" y="3977640"/>
            <a:ext cx="1618488" cy="777240"/>
          </a:xfrm>
          <a:prstGeom prst="rect">
            <a:avLst/>
          </a:prstGeom>
          <a:noFill/>
          <a:ln/>
        </p:spPr>
        <p:txBody>
          <a:bodyPr wrap="square" lIns="0" tIns="0" rIns="0" bIns="0" rtlCol="0" anchor="ctr"/>
          <a:lstStyle/>
          <a:p>
            <a:pPr indent="0" marL="0">
              <a:buNone/>
            </a:pPr>
            <a:r>
              <a:rPr lang="en-US" sz="1300" b="1" dirty="0">
                <a:solidFill>
                  <a:schemeClr val="tx2"/>
                </a:solidFill>
              </a:rPr>
              <a:t>Default deny</a:t>
            </a:r>
            <a:endParaRPr lang="en-US" sz="1300" dirty="0"/>
          </a:p>
        </p:txBody>
      </p:sp>
      <p:sp>
        <p:nvSpPr>
          <p:cNvPr id="17" name="guarantee-2"/>
          <p:cNvSpPr/>
          <p:nvPr/>
        </p:nvSpPr>
        <p:spPr>
          <a:xfrm>
            <a:off x="5020056" y="3977640"/>
            <a:ext cx="2121408" cy="777240"/>
          </a:xfrm>
          <a:prstGeom prst="roundRect">
            <a:avLst>
              <a:gd name="adj" fmla="val 9412"/>
            </a:avLst>
          </a:prstGeom>
          <a:solidFill>
            <a:schemeClr val="bg2"/>
          </a:solidFill>
          <a:ln w="6350">
            <a:solidFill>
              <a:schemeClr val="bg2"/>
            </a:solidFill>
            <a:prstDash val="solid"/>
          </a:ln>
        </p:spPr>
      </p:sp>
      <p:sp>
        <p:nvSpPr>
          <p:cNvPr id="18" name="Shape 16"/>
          <p:cNvSpPr/>
          <p:nvPr/>
        </p:nvSpPr>
        <p:spPr>
          <a:xfrm>
            <a:off x="5157216" y="4261104"/>
            <a:ext cx="201168" cy="201168"/>
          </a:xfrm>
          <a:prstGeom prst="ellipse">
            <a:avLst/>
          </a:prstGeom>
          <a:solidFill>
            <a:schemeClr val="accent1"/>
          </a:solidFill>
          <a:ln w="9525">
            <a:solidFill>
              <a:schemeClr val="accent1"/>
            </a:solidFill>
            <a:prstDash val="solid"/>
          </a:ln>
        </p:spPr>
      </p:sp>
      <p:sp>
        <p:nvSpPr>
          <p:cNvPr id="19" name="Text 17"/>
          <p:cNvSpPr txBox="1"/>
          <p:nvPr/>
        </p:nvSpPr>
        <p:spPr>
          <a:xfrm>
            <a:off x="5449824" y="3977640"/>
            <a:ext cx="1618488" cy="777240"/>
          </a:xfrm>
          <a:prstGeom prst="rect">
            <a:avLst/>
          </a:prstGeom>
          <a:noFill/>
          <a:ln/>
        </p:spPr>
        <p:txBody>
          <a:bodyPr wrap="square" lIns="0" tIns="0" rIns="0" bIns="0" rtlCol="0" anchor="ctr"/>
          <a:lstStyle/>
          <a:p>
            <a:pPr indent="0" marL="0">
              <a:buNone/>
            </a:pPr>
            <a:r>
              <a:rPr lang="en-US" sz="1300" b="1" dirty="0">
                <a:solidFill>
                  <a:schemeClr val="tx2"/>
                </a:solidFill>
              </a:rPr>
              <a:t>Every figure traces to a source</a:t>
            </a:r>
            <a:endParaRPr lang="en-US" sz="1300" dirty="0"/>
          </a:p>
        </p:txBody>
      </p:sp>
      <p:sp>
        <p:nvSpPr>
          <p:cNvPr id="20" name="guarantee-3"/>
          <p:cNvSpPr/>
          <p:nvPr/>
        </p:nvSpPr>
        <p:spPr>
          <a:xfrm>
            <a:off x="7255764" y="3977640"/>
            <a:ext cx="2121408" cy="777240"/>
          </a:xfrm>
          <a:prstGeom prst="roundRect">
            <a:avLst>
              <a:gd name="adj" fmla="val 9412"/>
            </a:avLst>
          </a:prstGeom>
          <a:solidFill>
            <a:schemeClr val="bg2"/>
          </a:solidFill>
          <a:ln w="6350">
            <a:solidFill>
              <a:schemeClr val="bg2"/>
            </a:solidFill>
            <a:prstDash val="solid"/>
          </a:ln>
        </p:spPr>
      </p:sp>
      <p:sp>
        <p:nvSpPr>
          <p:cNvPr id="21" name="Shape 19"/>
          <p:cNvSpPr/>
          <p:nvPr/>
        </p:nvSpPr>
        <p:spPr>
          <a:xfrm>
            <a:off x="7392924" y="4261104"/>
            <a:ext cx="201168" cy="201168"/>
          </a:xfrm>
          <a:prstGeom prst="ellipse">
            <a:avLst/>
          </a:prstGeom>
          <a:solidFill>
            <a:schemeClr val="accent1"/>
          </a:solidFill>
          <a:ln w="9525">
            <a:solidFill>
              <a:schemeClr val="accent1"/>
            </a:solidFill>
            <a:prstDash val="solid"/>
          </a:ln>
        </p:spPr>
      </p:sp>
      <p:sp>
        <p:nvSpPr>
          <p:cNvPr id="22" name="Text 20"/>
          <p:cNvSpPr txBox="1"/>
          <p:nvPr/>
        </p:nvSpPr>
        <p:spPr>
          <a:xfrm>
            <a:off x="7685532" y="3977640"/>
            <a:ext cx="1618488" cy="777240"/>
          </a:xfrm>
          <a:prstGeom prst="rect">
            <a:avLst/>
          </a:prstGeom>
          <a:noFill/>
          <a:ln/>
        </p:spPr>
        <p:txBody>
          <a:bodyPr wrap="square" lIns="0" tIns="0" rIns="0" bIns="0" rtlCol="0" anchor="ctr"/>
          <a:lstStyle/>
          <a:p>
            <a:pPr indent="0" marL="0">
              <a:buNone/>
            </a:pPr>
            <a:r>
              <a:rPr lang="en-US" sz="1300" b="1" dirty="0">
                <a:solidFill>
                  <a:schemeClr val="tx2"/>
                </a:solidFill>
              </a:rPr>
              <a:t>This household only</a:t>
            </a:r>
            <a:endParaRPr lang="en-US" sz="1300" dirty="0"/>
          </a:p>
        </p:txBody>
      </p:sp>
      <p:sp>
        <p:nvSpPr>
          <p:cNvPr id="23" name="guarantee-4"/>
          <p:cNvSpPr/>
          <p:nvPr/>
        </p:nvSpPr>
        <p:spPr>
          <a:xfrm>
            <a:off x="9491472" y="3977640"/>
            <a:ext cx="2121408" cy="777240"/>
          </a:xfrm>
          <a:prstGeom prst="roundRect">
            <a:avLst>
              <a:gd name="adj" fmla="val 9412"/>
            </a:avLst>
          </a:prstGeom>
          <a:solidFill>
            <a:schemeClr val="bg2"/>
          </a:solidFill>
          <a:ln w="6350">
            <a:solidFill>
              <a:schemeClr val="bg2"/>
            </a:solidFill>
            <a:prstDash val="solid"/>
          </a:ln>
        </p:spPr>
      </p:sp>
      <p:sp>
        <p:nvSpPr>
          <p:cNvPr id="24" name="Shape 22"/>
          <p:cNvSpPr/>
          <p:nvPr/>
        </p:nvSpPr>
        <p:spPr>
          <a:xfrm>
            <a:off x="9628632" y="4261104"/>
            <a:ext cx="201168" cy="201168"/>
          </a:xfrm>
          <a:prstGeom prst="ellipse">
            <a:avLst/>
          </a:prstGeom>
          <a:solidFill>
            <a:schemeClr val="accent1"/>
          </a:solidFill>
          <a:ln w="9525">
            <a:solidFill>
              <a:schemeClr val="accent1"/>
            </a:solidFill>
            <a:prstDash val="solid"/>
          </a:ln>
        </p:spPr>
      </p:sp>
      <p:sp>
        <p:nvSpPr>
          <p:cNvPr id="25" name="Text 23"/>
          <p:cNvSpPr txBox="1"/>
          <p:nvPr/>
        </p:nvSpPr>
        <p:spPr>
          <a:xfrm>
            <a:off x="9921240" y="3977640"/>
            <a:ext cx="1618488" cy="777240"/>
          </a:xfrm>
          <a:prstGeom prst="rect">
            <a:avLst/>
          </a:prstGeom>
          <a:noFill/>
          <a:ln/>
        </p:spPr>
        <p:txBody>
          <a:bodyPr wrap="square" lIns="0" tIns="0" rIns="0" bIns="0" rtlCol="0" anchor="ctr"/>
          <a:lstStyle/>
          <a:p>
            <a:pPr indent="0" marL="0">
              <a:buNone/>
            </a:pPr>
            <a:r>
              <a:rPr lang="en-US" sz="1300" b="1" dirty="0">
                <a:solidFill>
                  <a:schemeClr val="tx2"/>
                </a:solidFill>
              </a:rPr>
              <a:t>Frozen, versioned snapshot</a:t>
            </a:r>
            <a:endParaRPr lang="en-US" sz="1300" dirty="0"/>
          </a:p>
        </p:txBody>
      </p:sp>
      <p:sp>
        <p:nvSpPr>
          <p:cNvPr id="26" name="framing-0"/>
          <p:cNvSpPr/>
          <p:nvPr/>
        </p:nvSpPr>
        <p:spPr>
          <a:xfrm>
            <a:off x="548640" y="5029200"/>
            <a:ext cx="3584448" cy="1298448"/>
          </a:xfrm>
          <a:prstGeom prst="roundRect">
            <a:avLst>
              <a:gd name="adj" fmla="val 5634"/>
            </a:avLst>
          </a:prstGeom>
          <a:solidFill>
            <a:schemeClr val="bg2"/>
          </a:solidFill>
          <a:ln w="6350">
            <a:solidFill>
              <a:schemeClr val="bg2"/>
            </a:solidFill>
            <a:prstDash val="solid"/>
          </a:ln>
        </p:spPr>
      </p:sp>
      <p:sp>
        <p:nvSpPr>
          <p:cNvPr id="27" name="Text 25"/>
          <p:cNvSpPr txBox="1"/>
          <p:nvPr/>
        </p:nvSpPr>
        <p:spPr>
          <a:xfrm>
            <a:off x="713232" y="5148072"/>
            <a:ext cx="3255264" cy="228600"/>
          </a:xfrm>
          <a:prstGeom prst="rect">
            <a:avLst/>
          </a:prstGeom>
          <a:noFill/>
          <a:ln/>
        </p:spPr>
        <p:txBody>
          <a:bodyPr wrap="square" lIns="0" tIns="0" rIns="0" bIns="0" rtlCol="0" anchor="t"/>
          <a:lstStyle/>
          <a:p>
            <a:pPr indent="0" marL="0">
              <a:buNone/>
            </a:pPr>
            <a:r>
              <a:rPr lang="en-US" sz="1050" b="1" spc="150" kern="0" dirty="0">
                <a:solidFill>
                  <a:schemeClr val="accent1"/>
                </a:solidFill>
              </a:rPr>
              <a:t>BUILD FIRST</a:t>
            </a:r>
            <a:endParaRPr lang="en-US" sz="1050" dirty="0"/>
          </a:p>
        </p:txBody>
      </p:sp>
      <p:sp>
        <p:nvSpPr>
          <p:cNvPr id="28" name="Text 26"/>
          <p:cNvSpPr txBox="1"/>
          <p:nvPr/>
        </p:nvSpPr>
        <p:spPr>
          <a:xfrm>
            <a:off x="713232" y="5413248"/>
            <a:ext cx="3255264" cy="841248"/>
          </a:xfrm>
          <a:prstGeom prst="rect">
            <a:avLst/>
          </a:prstGeom>
          <a:noFill/>
          <a:ln/>
        </p:spPr>
        <p:txBody>
          <a:bodyPr wrap="square" lIns="0" tIns="0" rIns="0" bIns="0" rtlCol="0" anchor="t"/>
          <a:lstStyle/>
          <a:p>
            <a:pPr indent="0" marL="0">
              <a:spcAft>
                <a:spcPts val="300"/>
              </a:spcAft>
              <a:buNone/>
            </a:pPr>
            <a:r>
              <a:rPr lang="en-US" sz="1250" dirty="0">
                <a:solidFill>
                  <a:schemeClr val="tx1"/>
                </a:solidFill>
              </a:rPr>
              <a:t>Content rules, snapshot, lineage</a:t>
            </a:r>
            <a:endParaRPr lang="en-US" sz="1250" dirty="0"/>
          </a:p>
          <a:p>
            <a:pPr indent="0" marL="0">
              <a:spcAft>
                <a:spcPts val="300"/>
              </a:spcAft>
              <a:buNone/>
            </a:pPr>
            <a:r>
              <a:rPr lang="en-US" sz="1250" dirty="0">
                <a:solidFill>
                  <a:schemeClr val="tx1"/>
                </a:solidFill>
              </a:rPr>
              <a:t>A plain table report</a:t>
            </a:r>
            <a:endParaRPr lang="en-US" sz="1250" dirty="0"/>
          </a:p>
        </p:txBody>
      </p:sp>
      <p:sp>
        <p:nvSpPr>
          <p:cNvPr id="29" name="framing-1"/>
          <p:cNvSpPr/>
          <p:nvPr/>
        </p:nvSpPr>
        <p:spPr>
          <a:xfrm>
            <a:off x="4288536" y="5029200"/>
            <a:ext cx="3584448" cy="1298448"/>
          </a:xfrm>
          <a:prstGeom prst="roundRect">
            <a:avLst>
              <a:gd name="adj" fmla="val 5634"/>
            </a:avLst>
          </a:prstGeom>
          <a:solidFill>
            <a:schemeClr val="bg2"/>
          </a:solidFill>
          <a:ln w="6350">
            <a:solidFill>
              <a:schemeClr val="bg2"/>
            </a:solidFill>
            <a:prstDash val="solid"/>
          </a:ln>
        </p:spPr>
      </p:sp>
      <p:sp>
        <p:nvSpPr>
          <p:cNvPr id="30" name="Text 28"/>
          <p:cNvSpPr txBox="1"/>
          <p:nvPr/>
        </p:nvSpPr>
        <p:spPr>
          <a:xfrm>
            <a:off x="4453128" y="5148072"/>
            <a:ext cx="3255264" cy="228600"/>
          </a:xfrm>
          <a:prstGeom prst="rect">
            <a:avLst/>
          </a:prstGeom>
          <a:noFill/>
          <a:ln/>
        </p:spPr>
        <p:txBody>
          <a:bodyPr wrap="square" lIns="0" tIns="0" rIns="0" bIns="0" rtlCol="0" anchor="t"/>
          <a:lstStyle/>
          <a:p>
            <a:pPr indent="0" marL="0">
              <a:buNone/>
            </a:pPr>
            <a:r>
              <a:rPr lang="en-US" sz="1050" b="1" spc="150" kern="0" dirty="0">
                <a:solidFill>
                  <a:schemeClr val="accent1"/>
                </a:solidFill>
              </a:rPr>
              <a:t>LEAVE FOR LATER</a:t>
            </a:r>
            <a:endParaRPr lang="en-US" sz="1050" dirty="0"/>
          </a:p>
        </p:txBody>
      </p:sp>
      <p:sp>
        <p:nvSpPr>
          <p:cNvPr id="31" name="Text 29"/>
          <p:cNvSpPr txBox="1"/>
          <p:nvPr/>
        </p:nvSpPr>
        <p:spPr>
          <a:xfrm>
            <a:off x="4453128" y="5413248"/>
            <a:ext cx="3255264" cy="841248"/>
          </a:xfrm>
          <a:prstGeom prst="rect">
            <a:avLst/>
          </a:prstGeom>
          <a:noFill/>
          <a:ln/>
        </p:spPr>
        <p:txBody>
          <a:bodyPr wrap="square" lIns="0" tIns="0" rIns="0" bIns="0" rtlCol="0" anchor="t"/>
          <a:lstStyle/>
          <a:p>
            <a:pPr indent="0" marL="0">
              <a:spcAft>
                <a:spcPts val="300"/>
              </a:spcAft>
              <a:buNone/>
            </a:pPr>
            <a:r>
              <a:rPr lang="en-US" sz="1250" dirty="0">
                <a:solidFill>
                  <a:schemeClr val="tx1"/>
                </a:solidFill>
              </a:rPr>
              <a:t>Client portal and branding</a:t>
            </a:r>
            <a:endParaRPr lang="en-US" sz="1250" dirty="0"/>
          </a:p>
          <a:p>
            <a:pPr indent="0" marL="0">
              <a:spcAft>
                <a:spcPts val="300"/>
              </a:spcAft>
              <a:buNone/>
            </a:pPr>
            <a:r>
              <a:rPr lang="en-US" sz="1250" dirty="0">
                <a:solidFill>
                  <a:schemeClr val="tx1"/>
                </a:solidFill>
              </a:rPr>
              <a:t>IRR, once cash-flow history is complete</a:t>
            </a:r>
            <a:endParaRPr lang="en-US" sz="1250" dirty="0"/>
          </a:p>
          <a:p>
            <a:pPr indent="0" marL="0">
              <a:spcAft>
                <a:spcPts val="300"/>
              </a:spcAft>
              <a:buNone/>
            </a:pPr>
            <a:r>
              <a:rPr lang="en-US" sz="1250" dirty="0">
                <a:solidFill>
                  <a:schemeClr val="tx1"/>
                </a:solidFill>
              </a:rPr>
              <a:t>Fund benchmarks from Bridge's data</a:t>
            </a:r>
            <a:endParaRPr lang="en-US" sz="1250" dirty="0"/>
          </a:p>
        </p:txBody>
      </p:sp>
      <p:sp>
        <p:nvSpPr>
          <p:cNvPr id="32" name="framing-2"/>
          <p:cNvSpPr/>
          <p:nvPr/>
        </p:nvSpPr>
        <p:spPr>
          <a:xfrm>
            <a:off x="8028432" y="5029200"/>
            <a:ext cx="3584448" cy="1298448"/>
          </a:xfrm>
          <a:prstGeom prst="roundRect">
            <a:avLst>
              <a:gd name="adj" fmla="val 5634"/>
            </a:avLst>
          </a:prstGeom>
          <a:solidFill>
            <a:schemeClr val="bg2"/>
          </a:solidFill>
          <a:ln w="6350">
            <a:solidFill>
              <a:schemeClr val="bg2"/>
            </a:solidFill>
            <a:prstDash val="solid"/>
          </a:ln>
        </p:spPr>
      </p:sp>
      <p:sp>
        <p:nvSpPr>
          <p:cNvPr id="33" name="Text 31"/>
          <p:cNvSpPr txBox="1"/>
          <p:nvPr/>
        </p:nvSpPr>
        <p:spPr>
          <a:xfrm>
            <a:off x="8193024" y="5148072"/>
            <a:ext cx="3255264" cy="228600"/>
          </a:xfrm>
          <a:prstGeom prst="rect">
            <a:avLst/>
          </a:prstGeom>
          <a:noFill/>
          <a:ln/>
        </p:spPr>
        <p:txBody>
          <a:bodyPr wrap="square" lIns="0" tIns="0" rIns="0" bIns="0" rtlCol="0" anchor="t"/>
          <a:lstStyle/>
          <a:p>
            <a:pPr indent="0" marL="0">
              <a:buNone/>
            </a:pPr>
            <a:r>
              <a:rPr lang="en-US" sz="1050" b="1" spc="150" kern="0" dirty="0">
                <a:solidFill>
                  <a:schemeClr val="accent1"/>
                </a:solidFill>
              </a:rPr>
              <a:t>ENGINEERING BRIEF</a:t>
            </a:r>
            <a:endParaRPr lang="en-US" sz="1050" dirty="0"/>
          </a:p>
        </p:txBody>
      </p:sp>
      <p:sp>
        <p:nvSpPr>
          <p:cNvPr id="34" name="Text 32"/>
          <p:cNvSpPr txBox="1"/>
          <p:nvPr/>
        </p:nvSpPr>
        <p:spPr>
          <a:xfrm>
            <a:off x="8193024" y="5413248"/>
            <a:ext cx="3255264" cy="841248"/>
          </a:xfrm>
          <a:prstGeom prst="rect">
            <a:avLst/>
          </a:prstGeom>
          <a:noFill/>
          <a:ln/>
        </p:spPr>
        <p:txBody>
          <a:bodyPr wrap="square" lIns="0" tIns="0" rIns="0" bIns="0" rtlCol="0" anchor="t"/>
          <a:lstStyle/>
          <a:p>
            <a:pPr indent="0" marL="0">
              <a:spcAft>
                <a:spcPts val="300"/>
              </a:spcAft>
              <a:buNone/>
            </a:pPr>
            <a:r>
              <a:rPr lang="en-US" sz="1250" b="1" dirty="0">
                <a:solidFill>
                  <a:schemeClr val="tx1"/>
                </a:solidFill>
              </a:rPr>
              <a:t>Get right: </a:t>
            </a:r>
            <a:pPr indent="0" marL="0">
              <a:spcAft>
                <a:spcPts val="300"/>
              </a:spcAft>
              <a:buNone/>
            </a:pPr>
            <a:r>
              <a:rPr lang="en-US" sz="1250" dirty="0">
                <a:solidFill>
                  <a:schemeClr val="tx1"/>
                </a:solidFill>
              </a:rPr>
              <a:t>default deny and household scoping. A Hale document in a Shah report is a privacy incident</a:t>
            </a:r>
            <a:endParaRPr lang="en-US" sz="1250" dirty="0"/>
          </a:p>
          <a:p>
            <a:pPr indent="0" marL="0">
              <a:spcAft>
                <a:spcPts val="300"/>
              </a:spcAft>
              <a:buNone/>
            </a:pPr>
            <a:r>
              <a:rPr lang="en-US" sz="1250" b="1" dirty="0">
                <a:solidFill>
                  <a:schemeClr val="tx1"/>
                </a:solidFill>
              </a:rPr>
              <a:t>Skip: </a:t>
            </a:r>
            <a:pPr indent="0" marL="0">
              <a:spcAft>
                <a:spcPts val="300"/>
              </a:spcAft>
              <a:buNone/>
            </a:pPr>
            <a:r>
              <a:rPr lang="en-US" sz="1250" dirty="0">
                <a:solidFill>
                  <a:schemeClr val="tx1"/>
                </a:solidFill>
              </a:rPr>
              <a:t>templating</a:t>
            </a:r>
            <a:endParaRPr lang="en-US" sz="1250" dirty="0"/>
          </a:p>
        </p:txBody>
      </p:sp>
      <p:sp>
        <p:nvSpPr>
          <p:cNvPr id="25" name="Slide Number Placeholder 0"/>
          <p:cNvSpPr>
            <a:spLocks noGrp="1"/>
          </p:cNvSpPr>
          <p:nvPr>
            <p:ph type="sldNum" sz="quarter" idx="4294967295"/>
          </p:nvPr>
        </p:nvSpPr>
        <p:spPr>
          <a:xfrm>
            <a:off x="11274552" y="6473952"/>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548640"/>
            <a:ext cx="10972800" cy="320040"/>
          </a:xfrm>
          <a:prstGeom prst="rect">
            <a:avLst/>
          </a:prstGeom>
          <a:noFill/>
          <a:ln/>
        </p:spPr>
        <p:txBody>
          <a:bodyPr wrap="square" lIns="0" tIns="0" rIns="0" bIns="0" rtlCol="0"/>
          <a:lstStyle/>
          <a:p>
            <a:pPr indent="0" marL="0">
              <a:buNone/>
            </a:pPr>
            <a:r>
              <a:rPr lang="en-US" sz="1200" b="1" spc="200" kern="0" dirty="0">
                <a:solidFill>
                  <a:schemeClr val="accent6"/>
                </a:solidFill>
              </a:rPr>
              <a:t>ROADMAP</a:t>
            </a:r>
            <a:endParaRPr lang="en-US" sz="1200" dirty="0"/>
          </a:p>
        </p:txBody>
      </p:sp>
      <p:sp>
        <p:nvSpPr>
          <p:cNvPr id="3" name="Text 0"/>
          <p:cNvSpPr/>
          <p:nvPr>
            <p:ph idx="101" type="title" hasCustomPrompt="1"/>
          </p:nvPr>
        </p:nvSpPr>
        <p:spPr>
          <a:xfrm>
            <a:off x="548640" y="914400"/>
            <a:ext cx="10972800" cy="1005840"/>
          </a:xfrm>
          <a:prstGeom prst="rect">
            <a:avLst/>
          </a:prstGeom>
          <a:noFill/>
          <a:ln/>
        </p:spPr>
        <p:txBody>
          <a:bodyPr wrap="square" lIns="0" tIns="0" rIns="0" bIns="0" rtlCol="0" anchor="t"/>
          <a:lstStyle/>
          <a:p>
            <a:pPr algn="l" indent="0" marL="0">
              <a:buNone/>
            </a:pPr>
            <a:r>
              <a:rPr lang="en-US" sz="4800" b="1" dirty="0">
                <a:solidFill>
                  <a:schemeClr val="bg1"/>
                </a:solidFill>
                <a:latin typeface="Cambria" pitchFamily="34" charset="0"/>
                <a:ea typeface="Cambria" pitchFamily="34" charset="-122"/>
                <a:cs typeface="Cambria" pitchFamily="34" charset="-120"/>
              </a:rPr>
              <a:t>Verification is the wedge</a:t>
            </a:r>
            <a:endParaRPr lang="en-US" sz="4800" dirty="0"/>
          </a:p>
        </p:txBody>
      </p:sp>
      <p:sp>
        <p:nvSpPr>
          <p:cNvPr id="4" name="Text 2"/>
          <p:cNvSpPr txBox="1"/>
          <p:nvPr/>
        </p:nvSpPr>
        <p:spPr>
          <a:xfrm>
            <a:off x="548640" y="1874520"/>
            <a:ext cx="10972800" cy="411480"/>
          </a:xfrm>
          <a:prstGeom prst="rect">
            <a:avLst/>
          </a:prstGeom>
          <a:noFill/>
          <a:ln/>
        </p:spPr>
        <p:txBody>
          <a:bodyPr wrap="square" lIns="0" tIns="0" rIns="0" bIns="0" rtlCol="0" anchor="t"/>
          <a:lstStyle/>
          <a:p>
            <a:pPr indent="0" marL="0">
              <a:buNone/>
            </a:pPr>
            <a:r>
              <a:rPr lang="en-US" sz="2000" i="1" dirty="0">
                <a:solidFill>
                  <a:schemeClr val="accent6"/>
                </a:solidFill>
              </a:rPr>
              <a:t>Ops tool  →  advisor tool  →  data underwriters can trust</a:t>
            </a:r>
            <a:endParaRPr lang="en-US" sz="2000" dirty="0"/>
          </a:p>
        </p:txBody>
      </p:sp>
      <p:sp>
        <p:nvSpPr>
          <p:cNvPr id="5" name="Shape 3"/>
          <p:cNvSpPr/>
          <p:nvPr/>
        </p:nvSpPr>
        <p:spPr>
          <a:xfrm>
            <a:off x="548640" y="2743200"/>
            <a:ext cx="3520440" cy="566928"/>
          </a:xfrm>
          <a:prstGeom prst="homePlate">
            <a:avLst/>
          </a:prstGeom>
          <a:solidFill>
            <a:schemeClr val="accent1"/>
          </a:solidFill>
          <a:ln w="12700">
            <a:solidFill>
              <a:schemeClr val="tx2"/>
            </a:solidFill>
            <a:prstDash val="solid"/>
          </a:ln>
        </p:spPr>
      </p:sp>
      <p:sp>
        <p:nvSpPr>
          <p:cNvPr id="6" name="Text 4"/>
          <p:cNvSpPr txBox="1"/>
          <p:nvPr/>
        </p:nvSpPr>
        <p:spPr>
          <a:xfrm>
            <a:off x="777240" y="2743200"/>
            <a:ext cx="2880360" cy="566928"/>
          </a:xfrm>
          <a:prstGeom prst="rect">
            <a:avLst/>
          </a:prstGeom>
          <a:noFill/>
          <a:ln/>
        </p:spPr>
        <p:txBody>
          <a:bodyPr wrap="square" lIns="0" tIns="0" rIns="0" bIns="0" rtlCol="0" anchor="ctr"/>
          <a:lstStyle/>
          <a:p>
            <a:pPr indent="0" marL="0">
              <a:buNone/>
            </a:pPr>
            <a:r>
              <a:rPr lang="en-US" sz="2000" b="1" dirty="0">
                <a:solidFill>
                  <a:schemeClr val="bg1"/>
                </a:solidFill>
              </a:rPr>
              <a:t>Now</a:t>
            </a:r>
            <a:endParaRPr lang="en-US" sz="2000" dirty="0"/>
          </a:p>
        </p:txBody>
      </p:sp>
      <p:sp>
        <p:nvSpPr>
          <p:cNvPr id="7" name="Text 5"/>
          <p:cNvSpPr txBox="1"/>
          <p:nvPr/>
        </p:nvSpPr>
        <p:spPr>
          <a:xfrm>
            <a:off x="640080" y="3611880"/>
            <a:ext cx="3337560" cy="201168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chemeClr val="bg1"/>
                </a:solidFill>
              </a:rPr>
              <a:t>8 checks</a:t>
            </a:r>
            <a:endParaRPr lang="en-US" sz="1700" dirty="0"/>
          </a:p>
          <a:p>
            <a:pPr marL="342900" indent="-342900">
              <a:spcAft>
                <a:spcPts val="1000"/>
              </a:spcAft>
              <a:buSzPct val="100000"/>
              <a:buChar char="•"/>
            </a:pPr>
            <a:r>
              <a:rPr lang="en-US" sz="1700" dirty="0">
                <a:solidFill>
                  <a:schemeClr val="bg1"/>
                </a:solidFill>
              </a:rPr>
              <a:t>Tiered review</a:t>
            </a:r>
            <a:endParaRPr lang="en-US" sz="1700" dirty="0"/>
          </a:p>
          <a:p>
            <a:pPr marL="342900" indent="-342900">
              <a:spcAft>
                <a:spcPts val="1000"/>
              </a:spcAft>
              <a:buSzPct val="100000"/>
              <a:buChar char="•"/>
            </a:pPr>
            <a:r>
              <a:rPr lang="en-US" sz="1700" dirty="0">
                <a:solidFill>
                  <a:schemeClr val="bg1"/>
                </a:solidFill>
              </a:rPr>
              <a:t>Reports with a verification statement</a:t>
            </a:r>
            <a:endParaRPr lang="en-US" sz="1700" dirty="0"/>
          </a:p>
        </p:txBody>
      </p:sp>
      <p:sp>
        <p:nvSpPr>
          <p:cNvPr id="8" name="Shape 6"/>
          <p:cNvSpPr/>
          <p:nvPr/>
        </p:nvSpPr>
        <p:spPr>
          <a:xfrm>
            <a:off x="4315968" y="2743200"/>
            <a:ext cx="3520440" cy="566928"/>
          </a:xfrm>
          <a:prstGeom prst="chevron">
            <a:avLst/>
          </a:prstGeom>
          <a:solidFill>
            <a:srgbClr val="2B6A55"/>
          </a:solidFill>
          <a:ln w="12700">
            <a:solidFill>
              <a:schemeClr val="tx2"/>
            </a:solidFill>
            <a:prstDash val="solid"/>
          </a:ln>
        </p:spPr>
      </p:sp>
      <p:sp>
        <p:nvSpPr>
          <p:cNvPr id="9" name="Text 7"/>
          <p:cNvSpPr txBox="1"/>
          <p:nvPr/>
        </p:nvSpPr>
        <p:spPr>
          <a:xfrm>
            <a:off x="4727448" y="2743200"/>
            <a:ext cx="2880360" cy="566928"/>
          </a:xfrm>
          <a:prstGeom prst="rect">
            <a:avLst/>
          </a:prstGeom>
          <a:noFill/>
          <a:ln/>
        </p:spPr>
        <p:txBody>
          <a:bodyPr wrap="square" lIns="0" tIns="0" rIns="0" bIns="0" rtlCol="0" anchor="ctr"/>
          <a:lstStyle/>
          <a:p>
            <a:pPr indent="0" marL="0">
              <a:buNone/>
            </a:pPr>
            <a:r>
              <a:rPr lang="en-US" sz="2000" b="1" dirty="0">
                <a:solidFill>
                  <a:schemeClr val="bg1"/>
                </a:solidFill>
              </a:rPr>
              <a:t>Next</a:t>
            </a:r>
            <a:endParaRPr lang="en-US" sz="2000" dirty="0"/>
          </a:p>
        </p:txBody>
      </p:sp>
      <p:sp>
        <p:nvSpPr>
          <p:cNvPr id="10" name="Text 8"/>
          <p:cNvSpPr txBox="1"/>
          <p:nvPr/>
        </p:nvSpPr>
        <p:spPr>
          <a:xfrm>
            <a:off x="4407408" y="3611880"/>
            <a:ext cx="3337560" cy="201168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chemeClr val="bg1"/>
                </a:solidFill>
              </a:rPr>
              <a:t>Remember GP conventions</a:t>
            </a:r>
            <a:endParaRPr lang="en-US" sz="1700" dirty="0"/>
          </a:p>
          <a:p>
            <a:pPr marL="342900" indent="-342900">
              <a:spcAft>
                <a:spcPts val="1000"/>
              </a:spcAft>
              <a:buSzPct val="100000"/>
              <a:buChar char="•"/>
            </a:pPr>
            <a:r>
              <a:rPr lang="en-US" sz="1700" dirty="0">
                <a:solidFill>
                  <a:schemeClr val="bg1"/>
                </a:solidFill>
              </a:rPr>
              <a:t>Close the loop with GPs</a:t>
            </a:r>
            <a:endParaRPr lang="en-US" sz="1700" dirty="0"/>
          </a:p>
          <a:p>
            <a:pPr marL="342900" indent="-342900">
              <a:spcAft>
                <a:spcPts val="1000"/>
              </a:spcAft>
              <a:buSzPct val="100000"/>
              <a:buChar char="•"/>
            </a:pPr>
            <a:r>
              <a:rPr lang="en-US" sz="1700" dirty="0">
                <a:solidFill>
                  <a:schemeClr val="bg1"/>
                </a:solidFill>
              </a:rPr>
              <a:t>Bulk resolution</a:t>
            </a:r>
            <a:endParaRPr lang="en-US" sz="1700" dirty="0"/>
          </a:p>
        </p:txBody>
      </p:sp>
      <p:sp>
        <p:nvSpPr>
          <p:cNvPr id="11" name="Shape 9"/>
          <p:cNvSpPr/>
          <p:nvPr/>
        </p:nvSpPr>
        <p:spPr>
          <a:xfrm>
            <a:off x="8083296" y="2743200"/>
            <a:ext cx="3520440" cy="566928"/>
          </a:xfrm>
          <a:prstGeom prst="chevron">
            <a:avLst/>
          </a:prstGeom>
          <a:solidFill>
            <a:srgbClr val="3E5A50"/>
          </a:solidFill>
          <a:ln w="12700">
            <a:solidFill>
              <a:schemeClr val="tx2"/>
            </a:solidFill>
            <a:prstDash val="solid"/>
          </a:ln>
        </p:spPr>
      </p:sp>
      <p:sp>
        <p:nvSpPr>
          <p:cNvPr id="12" name="Text 10"/>
          <p:cNvSpPr txBox="1"/>
          <p:nvPr/>
        </p:nvSpPr>
        <p:spPr>
          <a:xfrm>
            <a:off x="8494776" y="2743200"/>
            <a:ext cx="2880360" cy="566928"/>
          </a:xfrm>
          <a:prstGeom prst="rect">
            <a:avLst/>
          </a:prstGeom>
          <a:noFill/>
          <a:ln/>
        </p:spPr>
        <p:txBody>
          <a:bodyPr wrap="square" lIns="0" tIns="0" rIns="0" bIns="0" rtlCol="0" anchor="ctr"/>
          <a:lstStyle/>
          <a:p>
            <a:pPr indent="0" marL="0">
              <a:buNone/>
            </a:pPr>
            <a:r>
              <a:rPr lang="en-US" sz="2000" b="1" dirty="0">
                <a:solidFill>
                  <a:schemeClr val="bg1"/>
                </a:solidFill>
              </a:rPr>
              <a:t>Later</a:t>
            </a:r>
            <a:endParaRPr lang="en-US" sz="2000" dirty="0"/>
          </a:p>
        </p:txBody>
      </p:sp>
      <p:sp>
        <p:nvSpPr>
          <p:cNvPr id="13" name="Text 11"/>
          <p:cNvSpPr txBox="1"/>
          <p:nvPr/>
        </p:nvSpPr>
        <p:spPr>
          <a:xfrm>
            <a:off x="8174736" y="3611880"/>
            <a:ext cx="3337560" cy="201168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chemeClr val="bg1"/>
                </a:solidFill>
              </a:rPr>
              <a:t>Evergreen, hedge funds, directs</a:t>
            </a:r>
            <a:endParaRPr lang="en-US" sz="1700" dirty="0"/>
          </a:p>
          <a:p>
            <a:pPr marL="342900" indent="-342900">
              <a:spcAft>
                <a:spcPts val="1000"/>
              </a:spcAft>
              <a:buSzPct val="100000"/>
              <a:buChar char="•"/>
            </a:pPr>
            <a:r>
              <a:rPr lang="en-US" sz="1700" dirty="0">
                <a:solidFill>
                  <a:schemeClr val="bg1"/>
                </a:solidFill>
              </a:rPr>
              <a:t>Fund benchmarking from Bridge data</a:t>
            </a:r>
            <a:endParaRPr lang="en-US" sz="1700" dirty="0"/>
          </a:p>
          <a:p>
            <a:pPr marL="342900" indent="-342900">
              <a:spcAft>
                <a:spcPts val="1000"/>
              </a:spcAft>
              <a:buSzPct val="100000"/>
              <a:buChar char="•"/>
            </a:pPr>
            <a:r>
              <a:rPr lang="en-US" sz="1700" dirty="0">
                <a:solidFill>
                  <a:schemeClr val="bg1"/>
                </a:solidFill>
              </a:rPr>
              <a:t>Bridge-verified data for lending</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0972800" cy="274320"/>
          </a:xfrm>
          <a:prstGeom prst="rect">
            <a:avLst/>
          </a:prstGeom>
          <a:noFill/>
          <a:ln/>
        </p:spPr>
        <p:txBody>
          <a:bodyPr wrap="square" lIns="0" tIns="0" rIns="0" bIns="0" rtlCol="0"/>
          <a:lstStyle/>
          <a:p>
            <a:pPr indent="0" marL="0">
              <a:buNone/>
            </a:pPr>
            <a:r>
              <a:rPr lang="en-US" sz="1100" b="1" spc="200" kern="0" dirty="0">
                <a:solidFill>
                  <a:schemeClr val="accent1"/>
                </a:solidFill>
              </a:rPr>
              <a:t>APPENDIX</a:t>
            </a:r>
            <a:endParaRPr lang="en-US" sz="1100" dirty="0"/>
          </a:p>
        </p:txBody>
      </p:sp>
      <p:sp>
        <p:nvSpPr>
          <p:cNvPr id="3" name="Text 0"/>
          <p:cNvSpPr/>
          <p:nvPr>
            <p:ph idx="101" type="title" hasCustomPrompt="1"/>
          </p:nvPr>
        </p:nvSpPr>
        <p:spPr>
          <a:xfrm>
            <a:off x="548640" y="621792"/>
            <a:ext cx="11064240" cy="640080"/>
          </a:xfrm>
          <a:prstGeom prst="rect">
            <a:avLst/>
          </a:prstGeom>
          <a:noFill/>
          <a:ln/>
        </p:spPr>
        <p:txBody>
          <a:bodyPr wrap="square" lIns="0" tIns="0" rIns="0" bIns="0" rtlCol="0" anchor="t"/>
          <a:lstStyle/>
          <a:p>
            <a:pPr algn="l" indent="0" marL="0">
              <a:buNone/>
            </a:pPr>
            <a:r>
              <a:rPr lang="en-US" sz="3200" b="1" dirty="0">
                <a:solidFill>
                  <a:schemeClr val="tx2"/>
                </a:solidFill>
                <a:latin typeface="Cambria" pitchFamily="34" charset="0"/>
                <a:ea typeface="Cambria" pitchFamily="34" charset="-122"/>
                <a:cs typeface="Cambria" pitchFamily="34" charset="-120"/>
              </a:rPr>
              <a:t>Every failing row, by check</a:t>
            </a:r>
            <a:endParaRPr lang="en-US" sz="3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914400"/>
        </p:xfrm>
        <a:graphic>
          <a:graphicData uri="http://schemas.openxmlformats.org/drawingml/2006/table">
            <a:tbl>
              <a:tblPr/>
              <a:tblGrid>
                <a:gridCol w="457200"/>
                <a:gridCol w="2103120"/>
                <a:gridCol w="7799832"/>
                <a:gridCol w="731520"/>
              </a:tblGrid>
              <a:tr h="457200">
                <a:tc>
                  <a:txBody>
                    <a:bodyPr/>
                    <a:lstStyle/>
                    <a:p>
                      <a:pPr algn="ctr" indent="0" marL="0">
                        <a:buNone/>
                      </a:pPr>
                      <a:r>
                        <a:rPr lang="en-US" sz="1200" b="1" dirty="0">
                          <a:solidFill>
                            <a:srgbClr val="5B6B64"/>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3152" marR="73152" marT="36576" marB="36576" anchor="ctr">
                    <a:lnL w="6350" cap="flat" cmpd="sng" algn="ctr">
                      <a:solidFill>
                        <a:srgbClr val="EEF2EF"/>
                      </a:solidFill>
                      <a:prstDash val="solid"/>
                      <a:round/>
                      <a:headEnd type="none" w="med" len="med"/>
                      <a:tailEnd type="none" w="med" len="med"/>
                    </a:lnL>
                    <a:lnR w="6350" cap="flat" cmpd="sng" algn="ctr">
                      <a:solidFill>
                        <a:srgbClr val="EEF2EF"/>
                      </a:solidFill>
                      <a:prstDash val="solid"/>
                      <a:round/>
                      <a:headEnd type="none" w="med" len="med"/>
                      <a:tailEnd type="none" w="med" len="med"/>
                    </a:lnR>
                    <a:lnT w="6350" cap="flat" cmpd="sng" algn="ctr">
                      <a:solidFill>
                        <a:srgbClr val="EEF2EF"/>
                      </a:solidFill>
                      <a:prstDash val="solid"/>
                      <a:round/>
                      <a:headEnd type="none" w="med" len="med"/>
                      <a:tailEnd type="none" w="med" len="med"/>
                    </a:lnT>
                    <a:lnB w="6350" cap="flat" cmpd="sng" algn="ctr">
                      <a:solidFill>
                        <a:srgbClr val="EEF2EF"/>
                      </a:solidFill>
                      <a:prstDash val="solid"/>
                      <a:round/>
                      <a:headEnd type="none" w="med" len="med"/>
                      <a:tailEnd type="none" w="med" len="med"/>
                    </a:lnB>
                  </a:tcPr>
                </a:tc>
                <a:tc>
                  <a:txBody>
                    <a:bodyPr/>
                    <a:lstStyle/>
                    <a:p>
                      <a:pPr algn="l" indent="0" marL="0">
                        <a:buNone/>
                      </a:pPr>
                      <a:r>
                        <a:rPr lang="en-US" sz="1200" b="1" dirty="0">
                          <a:solidFill>
                            <a:srgbClr val="5B6B64"/>
                          </a:solidFill>
                          <a:latin typeface="Calibri" pitchFamily="34" charset="0"/>
                          <a:ea typeface="Calibri" pitchFamily="34" charset="-122"/>
                          <a:cs typeface="Calibri" pitchFamily="34" charset="-120"/>
                        </a:rPr>
                        <a:t>Check</a:t>
                      </a:r>
                      <a:endParaRPr lang="en-US" sz="1200" dirty="0">
                        <a:latin typeface="Calibri" charset="0"/>
                        <a:ea typeface="Calibri" charset="0"/>
                        <a:cs typeface="Calibri" charset="0"/>
                      </a:endParaRPr>
                    </a:p>
                  </a:txBody>
                  <a:tcPr marL="73152" marR="73152" marT="36576" marB="36576" anchor="ctr">
                    <a:lnL w="6350" cap="flat" cmpd="sng" algn="ctr">
                      <a:solidFill>
                        <a:srgbClr val="EEF2EF"/>
                      </a:solidFill>
                      <a:prstDash val="solid"/>
                      <a:round/>
                      <a:headEnd type="none" w="med" len="med"/>
                      <a:tailEnd type="none" w="med" len="med"/>
                    </a:lnL>
                    <a:lnR w="6350" cap="flat" cmpd="sng" algn="ctr">
                      <a:solidFill>
                        <a:srgbClr val="EEF2EF"/>
                      </a:solidFill>
                      <a:prstDash val="solid"/>
                      <a:round/>
                      <a:headEnd type="none" w="med" len="med"/>
                      <a:tailEnd type="none" w="med" len="med"/>
                    </a:lnR>
                    <a:lnT w="6350" cap="flat" cmpd="sng" algn="ctr">
                      <a:solidFill>
                        <a:srgbClr val="EEF2EF"/>
                      </a:solidFill>
                      <a:prstDash val="solid"/>
                      <a:round/>
                      <a:headEnd type="none" w="med" len="med"/>
                      <a:tailEnd type="none" w="med" len="med"/>
                    </a:lnT>
                    <a:lnB w="6350" cap="flat" cmpd="sng" algn="ctr">
                      <a:solidFill>
                        <a:srgbClr val="EEF2EF"/>
                      </a:solidFill>
                      <a:prstDash val="solid"/>
                      <a:round/>
                      <a:headEnd type="none" w="med" len="med"/>
                      <a:tailEnd type="none" w="med" len="med"/>
                    </a:lnB>
                  </a:tcPr>
                </a:tc>
                <a:tc>
                  <a:txBody>
                    <a:bodyPr/>
                    <a:lstStyle/>
                    <a:p>
                      <a:pPr algn="l" indent="0" marL="0">
                        <a:buNone/>
                      </a:pPr>
                      <a:r>
                        <a:rPr lang="en-US" sz="1200" b="1" dirty="0">
                          <a:solidFill>
                            <a:srgbClr val="5B6B64"/>
                          </a:solidFill>
                          <a:latin typeface="Calibri" pitchFamily="34" charset="0"/>
                          <a:ea typeface="Calibri" pitchFamily="34" charset="-122"/>
                          <a:cs typeface="Calibri" pitchFamily="34" charset="-120"/>
                        </a:rPr>
                        <a:t>Rows</a:t>
                      </a:r>
                      <a:endParaRPr lang="en-US" sz="1200" dirty="0">
                        <a:latin typeface="Calibri" charset="0"/>
                        <a:ea typeface="Calibri" charset="0"/>
                        <a:cs typeface="Calibri" charset="0"/>
                      </a:endParaRPr>
                    </a:p>
                  </a:txBody>
                  <a:tcPr marL="73152" marR="73152" marT="36576" marB="36576" anchor="ctr">
                    <a:lnL w="6350" cap="flat" cmpd="sng" algn="ctr">
                      <a:solidFill>
                        <a:srgbClr val="EEF2EF"/>
                      </a:solidFill>
                      <a:prstDash val="solid"/>
                      <a:round/>
                      <a:headEnd type="none" w="med" len="med"/>
                      <a:tailEnd type="none" w="med" len="med"/>
                    </a:lnL>
                    <a:lnR w="6350" cap="flat" cmpd="sng" algn="ctr">
                      <a:solidFill>
                        <a:srgbClr val="EEF2EF"/>
                      </a:solidFill>
                      <a:prstDash val="solid"/>
                      <a:round/>
                      <a:headEnd type="none" w="med" len="med"/>
                      <a:tailEnd type="none" w="med" len="med"/>
                    </a:lnR>
                    <a:lnT w="6350" cap="flat" cmpd="sng" algn="ctr">
                      <a:solidFill>
                        <a:srgbClr val="EEF2EF"/>
                      </a:solidFill>
                      <a:prstDash val="solid"/>
                      <a:round/>
                      <a:headEnd type="none" w="med" len="med"/>
                      <a:tailEnd type="none" w="med" len="med"/>
                    </a:lnT>
                    <a:lnB w="6350" cap="flat" cmpd="sng" algn="ctr">
                      <a:solidFill>
                        <a:srgbClr val="EEF2EF"/>
                      </a:solidFill>
                      <a:prstDash val="solid"/>
                      <a:round/>
                      <a:headEnd type="none" w="med" len="med"/>
                      <a:tailEnd type="none" w="med" len="med"/>
                    </a:lnB>
                  </a:tcPr>
                </a:tc>
                <a:tc>
                  <a:txBody>
                    <a:bodyPr/>
                    <a:lstStyle/>
                    <a:p>
                      <a:pPr algn="r" indent="0" marL="0">
                        <a:buNone/>
                      </a:pPr>
                      <a:r>
                        <a:rPr lang="en-US" sz="1200" b="1" dirty="0">
                          <a:solidFill>
                            <a:srgbClr val="5B6B64"/>
                          </a:solidFill>
                          <a:latin typeface="Calibri" pitchFamily="34" charset="0"/>
                          <a:ea typeface="Calibri" pitchFamily="34" charset="-122"/>
                          <a:cs typeface="Calibri" pitchFamily="34" charset="-120"/>
                        </a:rPr>
                        <a:t>Count</a:t>
                      </a:r>
                      <a:endParaRPr lang="en-US" sz="1200" dirty="0">
                        <a:latin typeface="Calibri" charset="0"/>
                        <a:ea typeface="Calibri" charset="0"/>
                        <a:cs typeface="Calibri" charset="0"/>
                      </a:endParaRPr>
                    </a:p>
                  </a:txBody>
                  <a:tcPr marL="73152" marR="73152" marT="36576" marB="36576" anchor="ctr">
                    <a:lnL w="6350" cap="flat" cmpd="sng" algn="ctr">
                      <a:solidFill>
                        <a:srgbClr val="EEF2EF"/>
                      </a:solidFill>
                      <a:prstDash val="solid"/>
                      <a:round/>
                      <a:headEnd type="none" w="med" len="med"/>
                      <a:tailEnd type="none" w="med" len="med"/>
                    </a:lnL>
                    <a:lnR w="6350" cap="flat" cmpd="sng" algn="ctr">
                      <a:solidFill>
                        <a:srgbClr val="EEF2EF"/>
                      </a:solidFill>
                      <a:prstDash val="solid"/>
                      <a:round/>
                      <a:headEnd type="none" w="med" len="med"/>
                      <a:tailEnd type="none" w="med" len="med"/>
                    </a:lnR>
                    <a:lnT w="6350" cap="flat" cmpd="sng" algn="ctr">
                      <a:solidFill>
                        <a:srgbClr val="EEF2EF"/>
                      </a:solidFill>
                      <a:prstDash val="solid"/>
                      <a:round/>
                      <a:headEnd type="none" w="med" len="med"/>
                      <a:tailEnd type="none" w="med" len="med"/>
                    </a:lnT>
                    <a:lnB w="6350" cap="flat" cmpd="sng" algn="ctr">
                      <a:solidFill>
                        <a:srgbClr val="EEF2EF"/>
                      </a:solidFill>
                      <a:prstDash val="solid"/>
                      <a:round/>
                      <a:headEnd type="none" w="med" len="med"/>
                      <a:tailEnd type="none" w="med" len="med"/>
                    </a:lnB>
                  </a:tcPr>
                </a:tc>
              </a:tr>
              <a:tr h="457200">
                <a:tc>
                  <a:txBody>
                    <a:bodyPr/>
                    <a:lstStyle/>
                    <a:p>
                      <a:pPr algn="ctr" indent="0" marL="0">
                        <a:buNone/>
                      </a:pPr>
                      <a:r>
                        <a:rPr lang="en-US" sz="1200" b="1" dirty="0">
                          <a:solidFill>
                            <a:srgbClr val="C2412D"/>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73152" marR="73152" marT="36576" marB="36576" anchor="ctr">
                    <a:lnL w="6350" cap="flat" cmpd="sng" algn="ctr">
                      <a:solidFill>
                        <a:srgbClr val="EEF2EF"/>
                      </a:solidFill>
                      <a:prstDash val="solid"/>
                      <a:round/>
                      <a:headEnd type="none" w="med" len="med"/>
                      <a:tailEnd type="none" w="med" len="med"/>
                    </a:lnL>
                    <a:lnR w="6350" cap="flat" cmpd="sng" algn="ctr">
                      <a:solidFill>
                        <a:srgbClr val="EEF2EF"/>
                      </a:solidFill>
                      <a:prstDash val="solid"/>
                      <a:round/>
                      <a:headEnd type="none" w="med" len="med"/>
                      <a:tailEnd type="none" w="med" len="med"/>
                    </a:lnR>
                    <a:lnT w="6350" cap="flat" cmpd="sng" algn="ctr">
                      <a:solidFill>
                        <a:srgbClr val="EEF2EF"/>
                      </a:solidFill>
                      <a:prstDash val="solid"/>
                      <a:round/>
                      <a:headEnd type="none" w="med" len="med"/>
                      <a:tailEnd type="none" w="med" len="med"/>
                    </a:lnT>
                    <a:lnB w="6350" cap="flat" cmpd="sng" algn="ctr">
                      <a:solidFill>
                        <a:srgbClr val="EEF2EF"/>
                      </a:solidFill>
                      <a:prstDash val="solid"/>
                      <a:round/>
                      <a:headEnd type="none" w="med" len="med"/>
                      <a:tailEnd type="none" w="med" len="med"/>
                    </a:lnB>
                  </a:tcPr>
                </a:tc>
                <a:tc>
                  <a:txBody>
                    <a:bodyPr/>
                    <a:lstStyle/>
                    <a:p>
                      <a:pPr indent="0" marL="0">
                        <a:buNone/>
                      </a:pPr>
                      <a:r>
                        <a:rPr lang="en-US" sz="1200" b="1" dirty="0">
                          <a:solidFill>
                            <a:srgbClr val="1B2420"/>
                          </a:solidFill>
                          <a:latin typeface="Calibri" pitchFamily="34" charset="0"/>
                          <a:ea typeface="Calibri" pitchFamily="34" charset="-122"/>
                          <a:cs typeface="Calibri" pitchFamily="34" charset="-120"/>
                        </a:rPr>
                        <a:t>Money paid in</a:t>
                      </a:r>
                      <a:endParaRPr lang="en-US" sz="1200" dirty="0">
                        <a:latin typeface="Calibri" charset="0"/>
                        <a:ea typeface="Calibri" charset="0"/>
                        <a:cs typeface="Calibri" charset="0"/>
                      </a:endParaRPr>
                    </a:p>
                  </a:txBody>
                  <a:tcPr marL="73152" marR="73152" marT="36576" marB="36576" anchor="ctr">
                    <a:lnL w="6350" cap="flat" cmpd="sng" algn="ctr">
                      <a:solidFill>
                        <a:srgbClr val="EEF2EF"/>
                      </a:solidFill>
                      <a:prstDash val="solid"/>
                      <a:round/>
                      <a:headEnd type="none" w="med" len="med"/>
                      <a:tailEnd type="none" w="med" len="med"/>
                    </a:lnL>
                    <a:lnR w="6350" cap="flat" cmpd="sng" algn="ctr">
                      <a:solidFill>
                        <a:srgbClr val="EEF2EF"/>
                      </a:solidFill>
                      <a:prstDash val="solid"/>
                      <a:round/>
                      <a:headEnd type="none" w="med" len="med"/>
                      <a:tailEnd type="none" w="med" len="med"/>
                    </a:lnR>
                    <a:lnT w="6350" cap="flat" cmpd="sng" algn="ctr">
                      <a:solidFill>
                        <a:srgbClr val="EEF2EF"/>
                      </a:solidFill>
                      <a:prstDash val="solid"/>
                      <a:round/>
                      <a:headEnd type="none" w="med" len="med"/>
                      <a:tailEnd type="none" w="med" len="med"/>
                    </a:lnT>
                    <a:lnB w="6350" cap="flat" cmpd="sng" algn="ctr">
                      <a:solidFill>
                        <a:srgbClr val="EEF2EF"/>
                      </a:solidFill>
                      <a:prstDash val="solid"/>
                      <a:round/>
                      <a:headEnd type="none" w="med" len="med"/>
                      <a:tailEnd type="none" w="med" len="med"/>
                    </a:lnB>
                  </a:tcPr>
                </a:tc>
                <a:tc>
                  <a:txBody>
                    <a:bodyPr/>
                    <a:lstStyle/>
                    <a:p>
                      <a:pPr indent="0" marL="0">
                        <a:buNone/>
                      </a:pPr>
                      <a:r>
                        <a:rPr lang="en-US" sz="1200" dirty="0">
                          <a:solidFill>
                            <a:srgbClr val="1B2420"/>
                          </a:solidFill>
                          <a:latin typeface="Calibri" pitchFamily="34" charset="0"/>
                          <a:ea typeface="Calibri" pitchFamily="34" charset="-122"/>
                          <a:cs typeface="Calibri" pitchFamily="34" charset="-120"/>
                        </a:rPr>
                        <a:t>3, 27, 51, 76, 146, 147, 148, 195, 237, 256, 288, 291, 337</a:t>
                      </a:r>
                      <a:endParaRPr lang="en-US" sz="1200" dirty="0">
                        <a:latin typeface="Calibri" charset="0"/>
                        <a:ea typeface="Calibri" charset="0"/>
                        <a:cs typeface="Calibri" charset="0"/>
                      </a:endParaRPr>
                    </a:p>
                  </a:txBody>
                  <a:tcPr marL="73152" marR="73152" marT="36576" marB="36576" anchor="ctr">
                    <a:lnL w="6350" cap="flat" cmpd="sng" algn="ctr">
                      <a:solidFill>
                        <a:srgbClr val="EEF2EF"/>
                      </a:solidFill>
                      <a:prstDash val="solid"/>
                      <a:round/>
                      <a:headEnd type="none" w="med" len="med"/>
                      <a:tailEnd type="none" w="med" len="med"/>
                    </a:lnL>
                    <a:lnR w="6350" cap="flat" cmpd="sng" algn="ctr">
                      <a:solidFill>
                        <a:srgbClr val="EEF2EF"/>
                      </a:solidFill>
                      <a:prstDash val="solid"/>
                      <a:round/>
                      <a:headEnd type="none" w="med" len="med"/>
                      <a:tailEnd type="none" w="med" len="med"/>
                    </a:lnR>
                    <a:lnT w="6350" cap="flat" cmpd="sng" algn="ctr">
                      <a:solidFill>
                        <a:srgbClr val="EEF2EF"/>
                      </a:solidFill>
                      <a:prstDash val="solid"/>
                      <a:round/>
                      <a:headEnd type="none" w="med" len="med"/>
                      <a:tailEnd type="none" w="med" len="med"/>
                    </a:lnT>
                    <a:lnB w="6350" cap="flat" cmpd="sng" algn="ctr">
                      <a:solidFill>
                        <a:srgbClr val="EEF2EF"/>
                      </a:solidFill>
                      <a:prstDash val="solid"/>
                      <a:round/>
                      <a:headEnd type="none" w="med" len="med"/>
                      <a:tailEnd type="none" w="med" len="med"/>
                    </a:lnB>
                  </a:tcPr>
                </a:tc>
                <a:tc>
                  <a:txBody>
                    <a:bodyPr/>
                    <a:lstStyle/>
                    <a:p>
                      <a:pPr algn="r" indent="0" marL="0">
                        <a:buNone/>
                      </a:pPr>
                      <a:r>
                        <a:rPr lang="en-US" sz="1200" dirty="0">
                          <a:solidFill>
                            <a:srgbClr val="1B2420"/>
                          </a:solidFill>
                          <a:latin typeface="Calibri" pitchFamily="34" charset="0"/>
                          <a:ea typeface="Calibri" pitchFamily="34" charset="-122"/>
                          <a:cs typeface="Calibri" pitchFamily="34" charset="-120"/>
                        </a:rPr>
                        <a:t>13</a:t>
                      </a:r>
                      <a:endParaRPr lang="en-US" sz="1200" dirty="0">
                        <a:latin typeface="Calibri" charset="0"/>
                        <a:ea typeface="Calibri" charset="0"/>
                        <a:cs typeface="Calibri" charset="0"/>
                      </a:endParaRPr>
                    </a:p>
                  </a:txBody>
                  <a:tcPr marL="73152" marR="73152" marT="36576" marB="36576" anchor="ctr">
                    <a:lnL w="6350" cap="flat" cmpd="sng" algn="ctr">
                      <a:solidFill>
                        <a:srgbClr val="EEF2EF"/>
                      </a:solidFill>
                      <a:prstDash val="solid"/>
                      <a:round/>
                      <a:headEnd type="none" w="med" len="med"/>
                      <a:tailEnd type="none" w="med" len="med"/>
                    </a:lnL>
                    <a:lnR w="6350" cap="flat" cmpd="sng" algn="ctr">
                      <a:solidFill>
                        <a:srgbClr val="EEF2EF"/>
                      </a:solidFill>
                      <a:prstDash val="solid"/>
                      <a:round/>
                      <a:headEnd type="none" w="med" len="med"/>
                      <a:tailEnd type="none" w="med" len="med"/>
                    </a:lnR>
                    <a:lnT w="6350" cap="flat" cmpd="sng" algn="ctr">
                      <a:solidFill>
                        <a:srgbClr val="EEF2EF"/>
                      </a:solidFill>
                      <a:prstDash val="solid"/>
                      <a:round/>
                      <a:headEnd type="none" w="med" len="med"/>
                      <a:tailEnd type="none" w="med" len="med"/>
                    </a:lnT>
                    <a:lnB w="6350" cap="flat" cmpd="sng" algn="ctr">
                      <a:solidFill>
                        <a:srgbClr val="EEF2EF"/>
                      </a:solidFill>
                      <a:prstDash val="solid"/>
                      <a:round/>
                      <a:headEnd type="none" w="med" len="med"/>
                      <a:tailEnd type="none" w="med" len="med"/>
                    </a:lnB>
                  </a:tcPr>
                </a:tc>
              </a:tr>
              <a:tr h="457200">
                <a:tc>
                  <a:txBody>
                    <a:bodyPr/>
                    <a:lstStyle/>
                    <a:p>
                      <a:pPr algn="ctr" indent="0" marL="0">
                        <a:buNone/>
                      </a:pPr>
                      <a:r>
                        <a:rPr lang="en-US" sz="1200" b="1" dirty="0">
                          <a:solidFill>
                            <a:srgbClr val="C2412D"/>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73152" marR="73152" marT="36576" marB="36576" anchor="ctr">
                    <a:lnL w="6350" cap="flat" cmpd="sng" algn="ctr">
                      <a:solidFill>
                        <a:srgbClr val="EEF2EF"/>
                      </a:solidFill>
                      <a:prstDash val="solid"/>
                      <a:round/>
                      <a:headEnd type="none" w="med" len="med"/>
                      <a:tailEnd type="none" w="med" len="med"/>
                    </a:lnL>
                    <a:lnR w="6350" cap="flat" cmpd="sng" algn="ctr">
                      <a:solidFill>
                        <a:srgbClr val="EEF2EF"/>
                      </a:solidFill>
                      <a:prstDash val="solid"/>
                      <a:round/>
                      <a:headEnd type="none" w="med" len="med"/>
                      <a:tailEnd type="none" w="med" len="med"/>
                    </a:lnR>
                    <a:lnT w="6350" cap="flat" cmpd="sng" algn="ctr">
                      <a:solidFill>
                        <a:srgbClr val="EEF2EF"/>
                      </a:solidFill>
                      <a:prstDash val="solid"/>
                      <a:round/>
                      <a:headEnd type="none" w="med" len="med"/>
                      <a:tailEnd type="none" w="med" len="med"/>
                    </a:lnT>
                    <a:lnB w="6350" cap="flat" cmpd="sng" algn="ctr">
                      <a:solidFill>
                        <a:srgbClr val="EEF2EF"/>
                      </a:solidFill>
                      <a:prstDash val="solid"/>
                      <a:round/>
                      <a:headEnd type="none" w="med" len="med"/>
                      <a:tailEnd type="none" w="med" len="med"/>
                    </a:lnB>
                  </a:tcPr>
                </a:tc>
                <a:tc>
                  <a:txBody>
                    <a:bodyPr/>
                    <a:lstStyle/>
                    <a:p>
                      <a:pPr indent="0" marL="0">
                        <a:buNone/>
                      </a:pPr>
                      <a:r>
                        <a:rPr lang="en-US" sz="1200" b="1" dirty="0">
                          <a:solidFill>
                            <a:srgbClr val="1B2420"/>
                          </a:solidFill>
                          <a:latin typeface="Calibri" pitchFamily="34" charset="0"/>
                          <a:ea typeface="Calibri" pitchFamily="34" charset="-122"/>
                          <a:cs typeface="Calibri" pitchFamily="34" charset="-120"/>
                        </a:rPr>
                        <a:t>Money paid back</a:t>
                      </a:r>
                      <a:endParaRPr lang="en-US" sz="1200" dirty="0">
                        <a:latin typeface="Calibri" charset="0"/>
                        <a:ea typeface="Calibri" charset="0"/>
                        <a:cs typeface="Calibri" charset="0"/>
                      </a:endParaRPr>
                    </a:p>
                  </a:txBody>
                  <a:tcPr marL="73152" marR="73152" marT="36576" marB="36576" anchor="ctr">
                    <a:lnL w="6350" cap="flat" cmpd="sng" algn="ctr">
                      <a:solidFill>
                        <a:srgbClr val="EEF2EF"/>
                      </a:solidFill>
                      <a:prstDash val="solid"/>
                      <a:round/>
                      <a:headEnd type="none" w="med" len="med"/>
                      <a:tailEnd type="none" w="med" len="med"/>
                    </a:lnL>
                    <a:lnR w="6350" cap="flat" cmpd="sng" algn="ctr">
                      <a:solidFill>
                        <a:srgbClr val="EEF2EF"/>
                      </a:solidFill>
                      <a:prstDash val="solid"/>
                      <a:round/>
                      <a:headEnd type="none" w="med" len="med"/>
                      <a:tailEnd type="none" w="med" len="med"/>
                    </a:lnR>
                    <a:lnT w="6350" cap="flat" cmpd="sng" algn="ctr">
                      <a:solidFill>
                        <a:srgbClr val="EEF2EF"/>
                      </a:solidFill>
                      <a:prstDash val="solid"/>
                      <a:round/>
                      <a:headEnd type="none" w="med" len="med"/>
                      <a:tailEnd type="none" w="med" len="med"/>
                    </a:lnT>
                    <a:lnB w="6350" cap="flat" cmpd="sng" algn="ctr">
                      <a:solidFill>
                        <a:srgbClr val="EEF2EF"/>
                      </a:solidFill>
                      <a:prstDash val="solid"/>
                      <a:round/>
                      <a:headEnd type="none" w="med" len="med"/>
                      <a:tailEnd type="none" w="med" len="med"/>
                    </a:lnB>
                  </a:tcPr>
                </a:tc>
                <a:tc>
                  <a:txBody>
                    <a:bodyPr/>
                    <a:lstStyle/>
                    <a:p>
                      <a:pPr indent="0" marL="0">
                        <a:buNone/>
                      </a:pPr>
                      <a:r>
                        <a:rPr lang="en-US" sz="1200" dirty="0">
                          <a:solidFill>
                            <a:srgbClr val="1B2420"/>
                          </a:solidFill>
                          <a:latin typeface="Calibri" pitchFamily="34" charset="0"/>
                          <a:ea typeface="Calibri" pitchFamily="34" charset="-122"/>
                          <a:cs typeface="Calibri" pitchFamily="34" charset="-120"/>
                        </a:rPr>
                        <a:t>3, 27, 51, 86, 87, 88, 89, 90, 91, 92, 93, 94, 95, 96, 97, 98, 99, 192, 194, 256, 309</a:t>
                      </a:r>
                      <a:endParaRPr lang="en-US" sz="1200" dirty="0">
                        <a:latin typeface="Calibri" charset="0"/>
                        <a:ea typeface="Calibri" charset="0"/>
                        <a:cs typeface="Calibri" charset="0"/>
                      </a:endParaRPr>
                    </a:p>
                  </a:txBody>
                  <a:tcPr marL="73152" marR="73152" marT="36576" marB="36576" anchor="ctr">
                    <a:lnL w="6350" cap="flat" cmpd="sng" algn="ctr">
                      <a:solidFill>
                        <a:srgbClr val="EEF2EF"/>
                      </a:solidFill>
                      <a:prstDash val="solid"/>
                      <a:round/>
                      <a:headEnd type="none" w="med" len="med"/>
                      <a:tailEnd type="none" w="med" len="med"/>
                    </a:lnL>
                    <a:lnR w="6350" cap="flat" cmpd="sng" algn="ctr">
                      <a:solidFill>
                        <a:srgbClr val="EEF2EF"/>
                      </a:solidFill>
                      <a:prstDash val="solid"/>
                      <a:round/>
                      <a:headEnd type="none" w="med" len="med"/>
                      <a:tailEnd type="none" w="med" len="med"/>
                    </a:lnR>
                    <a:lnT w="6350" cap="flat" cmpd="sng" algn="ctr">
                      <a:solidFill>
                        <a:srgbClr val="EEF2EF"/>
                      </a:solidFill>
                      <a:prstDash val="solid"/>
                      <a:round/>
                      <a:headEnd type="none" w="med" len="med"/>
                      <a:tailEnd type="none" w="med" len="med"/>
                    </a:lnT>
                    <a:lnB w="6350" cap="flat" cmpd="sng" algn="ctr">
                      <a:solidFill>
                        <a:srgbClr val="EEF2EF"/>
                      </a:solidFill>
                      <a:prstDash val="solid"/>
                      <a:round/>
                      <a:headEnd type="none" w="med" len="med"/>
                      <a:tailEnd type="none" w="med" len="med"/>
                    </a:lnB>
                  </a:tcPr>
                </a:tc>
                <a:tc>
                  <a:txBody>
                    <a:bodyPr/>
                    <a:lstStyle/>
                    <a:p>
                      <a:pPr algn="r" indent="0" marL="0">
                        <a:buNone/>
                      </a:pPr>
                      <a:r>
                        <a:rPr lang="en-US" sz="1200" dirty="0">
                          <a:solidFill>
                            <a:srgbClr val="1B2420"/>
                          </a:solidFill>
                          <a:latin typeface="Calibri" pitchFamily="34" charset="0"/>
                          <a:ea typeface="Calibri" pitchFamily="34" charset="-122"/>
                          <a:cs typeface="Calibri" pitchFamily="34" charset="-120"/>
                        </a:rPr>
                        <a:t>21</a:t>
                      </a:r>
                      <a:endParaRPr lang="en-US" sz="1200" dirty="0">
                        <a:latin typeface="Calibri" charset="0"/>
                        <a:ea typeface="Calibri" charset="0"/>
                        <a:cs typeface="Calibri" charset="0"/>
                      </a:endParaRPr>
                    </a:p>
                  </a:txBody>
                  <a:tcPr marL="73152" marR="73152" marT="36576" marB="36576" anchor="ctr">
                    <a:lnL w="6350" cap="flat" cmpd="sng" algn="ctr">
                      <a:solidFill>
                        <a:srgbClr val="EEF2EF"/>
                      </a:solidFill>
                      <a:prstDash val="solid"/>
                      <a:round/>
                      <a:headEnd type="none" w="med" len="med"/>
                      <a:tailEnd type="none" w="med" len="med"/>
                    </a:lnL>
                    <a:lnR w="6350" cap="flat" cmpd="sng" algn="ctr">
                      <a:solidFill>
                        <a:srgbClr val="EEF2EF"/>
                      </a:solidFill>
                      <a:prstDash val="solid"/>
                      <a:round/>
                      <a:headEnd type="none" w="med" len="med"/>
                      <a:tailEnd type="none" w="med" len="med"/>
                    </a:lnR>
                    <a:lnT w="6350" cap="flat" cmpd="sng" algn="ctr">
                      <a:solidFill>
                        <a:srgbClr val="EEF2EF"/>
                      </a:solidFill>
                      <a:prstDash val="solid"/>
                      <a:round/>
                      <a:headEnd type="none" w="med" len="med"/>
                      <a:tailEnd type="none" w="med" len="med"/>
                    </a:lnT>
                    <a:lnB w="6350" cap="flat" cmpd="sng" algn="ctr">
                      <a:solidFill>
                        <a:srgbClr val="EEF2EF"/>
                      </a:solidFill>
                      <a:prstDash val="solid"/>
                      <a:round/>
                      <a:headEnd type="none" w="med" len="med"/>
                      <a:tailEnd type="none" w="med" len="med"/>
                    </a:lnB>
                  </a:tcPr>
                </a:tc>
              </a:tr>
              <a:tr h="457200">
                <a:tc>
                  <a:txBody>
                    <a:bodyPr/>
                    <a:lstStyle/>
                    <a:p>
                      <a:pPr algn="ctr" indent="0" marL="0">
                        <a:buNone/>
                      </a:pPr>
                      <a:r>
                        <a:rPr lang="en-US" sz="1200" b="1" dirty="0">
                          <a:solidFill>
                            <a:srgbClr val="C2412D"/>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73152" marR="73152" marT="36576" marB="36576" anchor="ctr">
                    <a:lnL w="6350" cap="flat" cmpd="sng" algn="ctr">
                      <a:solidFill>
                        <a:srgbClr val="EEF2EF"/>
                      </a:solidFill>
                      <a:prstDash val="solid"/>
                      <a:round/>
                      <a:headEnd type="none" w="med" len="med"/>
                      <a:tailEnd type="none" w="med" len="med"/>
                    </a:lnL>
                    <a:lnR w="6350" cap="flat" cmpd="sng" algn="ctr">
                      <a:solidFill>
                        <a:srgbClr val="EEF2EF"/>
                      </a:solidFill>
                      <a:prstDash val="solid"/>
                      <a:round/>
                      <a:headEnd type="none" w="med" len="med"/>
                      <a:tailEnd type="none" w="med" len="med"/>
                    </a:lnR>
                    <a:lnT w="6350" cap="flat" cmpd="sng" algn="ctr">
                      <a:solidFill>
                        <a:srgbClr val="EEF2EF"/>
                      </a:solidFill>
                      <a:prstDash val="solid"/>
                      <a:round/>
                      <a:headEnd type="none" w="med" len="med"/>
                      <a:tailEnd type="none" w="med" len="med"/>
                    </a:lnT>
                    <a:lnB w="6350" cap="flat" cmpd="sng" algn="ctr">
                      <a:solidFill>
                        <a:srgbClr val="EEF2EF"/>
                      </a:solidFill>
                      <a:prstDash val="solid"/>
                      <a:round/>
                      <a:headEnd type="none" w="med" len="med"/>
                      <a:tailEnd type="none" w="med" len="med"/>
                    </a:lnB>
                  </a:tcPr>
                </a:tc>
                <a:tc>
                  <a:txBody>
                    <a:bodyPr/>
                    <a:lstStyle/>
                    <a:p>
                      <a:pPr indent="0" marL="0">
                        <a:buNone/>
                      </a:pPr>
                      <a:r>
                        <a:rPr lang="en-US" sz="1200" b="1" dirty="0">
                          <a:solidFill>
                            <a:srgbClr val="1B2420"/>
                          </a:solidFill>
                          <a:latin typeface="Calibri" pitchFamily="34" charset="0"/>
                          <a:ea typeface="Calibri" pitchFamily="34" charset="-122"/>
                          <a:cs typeface="Calibri" pitchFamily="34" charset="-120"/>
                        </a:rPr>
                        <a:t>Sudden jumps</a:t>
                      </a:r>
                      <a:endParaRPr lang="en-US" sz="1200" dirty="0">
                        <a:latin typeface="Calibri" charset="0"/>
                        <a:ea typeface="Calibri" charset="0"/>
                        <a:cs typeface="Calibri" charset="0"/>
                      </a:endParaRPr>
                    </a:p>
                  </a:txBody>
                  <a:tcPr marL="73152" marR="73152" marT="36576" marB="36576" anchor="ctr">
                    <a:lnL w="6350" cap="flat" cmpd="sng" algn="ctr">
                      <a:solidFill>
                        <a:srgbClr val="EEF2EF"/>
                      </a:solidFill>
                      <a:prstDash val="solid"/>
                      <a:round/>
                      <a:headEnd type="none" w="med" len="med"/>
                      <a:tailEnd type="none" w="med" len="med"/>
                    </a:lnL>
                    <a:lnR w="6350" cap="flat" cmpd="sng" algn="ctr">
                      <a:solidFill>
                        <a:srgbClr val="EEF2EF"/>
                      </a:solidFill>
                      <a:prstDash val="solid"/>
                      <a:round/>
                      <a:headEnd type="none" w="med" len="med"/>
                      <a:tailEnd type="none" w="med" len="med"/>
                    </a:lnR>
                    <a:lnT w="6350" cap="flat" cmpd="sng" algn="ctr">
                      <a:solidFill>
                        <a:srgbClr val="EEF2EF"/>
                      </a:solidFill>
                      <a:prstDash val="solid"/>
                      <a:round/>
                      <a:headEnd type="none" w="med" len="med"/>
                      <a:tailEnd type="none" w="med" len="med"/>
                    </a:lnT>
                    <a:lnB w="6350" cap="flat" cmpd="sng" algn="ctr">
                      <a:solidFill>
                        <a:srgbClr val="EEF2EF"/>
                      </a:solidFill>
                      <a:prstDash val="solid"/>
                      <a:round/>
                      <a:headEnd type="none" w="med" len="med"/>
                      <a:tailEnd type="none" w="med" len="med"/>
                    </a:lnB>
                  </a:tcPr>
                </a:tc>
                <a:tc>
                  <a:txBody>
                    <a:bodyPr/>
                    <a:lstStyle/>
                    <a:p>
                      <a:pPr indent="0" marL="0">
                        <a:buNone/>
                      </a:pPr>
                      <a:r>
                        <a:rPr lang="en-US" sz="1200" dirty="0">
                          <a:solidFill>
                            <a:srgbClr val="1B2420"/>
                          </a:solidFill>
                          <a:latin typeface="Calibri" pitchFamily="34" charset="0"/>
                          <a:ea typeface="Calibri" pitchFamily="34" charset="-122"/>
                          <a:cs typeface="Calibri" pitchFamily="34" charset="-120"/>
                        </a:rPr>
                        <a:t>147, 288, 289, 292, 308, 313</a:t>
                      </a:r>
                      <a:endParaRPr lang="en-US" sz="1200" dirty="0">
                        <a:latin typeface="Calibri" charset="0"/>
                        <a:ea typeface="Calibri" charset="0"/>
                        <a:cs typeface="Calibri" charset="0"/>
                      </a:endParaRPr>
                    </a:p>
                  </a:txBody>
                  <a:tcPr marL="73152" marR="73152" marT="36576" marB="36576" anchor="ctr">
                    <a:lnL w="6350" cap="flat" cmpd="sng" algn="ctr">
                      <a:solidFill>
                        <a:srgbClr val="EEF2EF"/>
                      </a:solidFill>
                      <a:prstDash val="solid"/>
                      <a:round/>
                      <a:headEnd type="none" w="med" len="med"/>
                      <a:tailEnd type="none" w="med" len="med"/>
                    </a:lnL>
                    <a:lnR w="6350" cap="flat" cmpd="sng" algn="ctr">
                      <a:solidFill>
                        <a:srgbClr val="EEF2EF"/>
                      </a:solidFill>
                      <a:prstDash val="solid"/>
                      <a:round/>
                      <a:headEnd type="none" w="med" len="med"/>
                      <a:tailEnd type="none" w="med" len="med"/>
                    </a:lnR>
                    <a:lnT w="6350" cap="flat" cmpd="sng" algn="ctr">
                      <a:solidFill>
                        <a:srgbClr val="EEF2EF"/>
                      </a:solidFill>
                      <a:prstDash val="solid"/>
                      <a:round/>
                      <a:headEnd type="none" w="med" len="med"/>
                      <a:tailEnd type="none" w="med" len="med"/>
                    </a:lnT>
                    <a:lnB w="6350" cap="flat" cmpd="sng" algn="ctr">
                      <a:solidFill>
                        <a:srgbClr val="EEF2EF"/>
                      </a:solidFill>
                      <a:prstDash val="solid"/>
                      <a:round/>
                      <a:headEnd type="none" w="med" len="med"/>
                      <a:tailEnd type="none" w="med" len="med"/>
                    </a:lnB>
                  </a:tcPr>
                </a:tc>
                <a:tc>
                  <a:txBody>
                    <a:bodyPr/>
                    <a:lstStyle/>
                    <a:p>
                      <a:pPr algn="r" indent="0" marL="0">
                        <a:buNone/>
                      </a:pPr>
                      <a:r>
                        <a:rPr lang="en-US" sz="1200" dirty="0">
                          <a:solidFill>
                            <a:srgbClr val="1B2420"/>
                          </a:solidFill>
                          <a:latin typeface="Calibri" pitchFamily="34" charset="0"/>
                          <a:ea typeface="Calibri" pitchFamily="34" charset="-122"/>
                          <a:cs typeface="Calibri" pitchFamily="34" charset="-120"/>
                        </a:rPr>
                        <a:t>6</a:t>
                      </a:r>
                      <a:endParaRPr lang="en-US" sz="1200" dirty="0">
                        <a:latin typeface="Calibri" charset="0"/>
                        <a:ea typeface="Calibri" charset="0"/>
                        <a:cs typeface="Calibri" charset="0"/>
                      </a:endParaRPr>
                    </a:p>
                  </a:txBody>
                  <a:tcPr marL="73152" marR="73152" marT="36576" marB="36576" anchor="ctr">
                    <a:lnL w="6350" cap="flat" cmpd="sng" algn="ctr">
                      <a:solidFill>
                        <a:srgbClr val="EEF2EF"/>
                      </a:solidFill>
                      <a:prstDash val="solid"/>
                      <a:round/>
                      <a:headEnd type="none" w="med" len="med"/>
                      <a:tailEnd type="none" w="med" len="med"/>
                    </a:lnL>
                    <a:lnR w="6350" cap="flat" cmpd="sng" algn="ctr">
                      <a:solidFill>
                        <a:srgbClr val="EEF2EF"/>
                      </a:solidFill>
                      <a:prstDash val="solid"/>
                      <a:round/>
                      <a:headEnd type="none" w="med" len="med"/>
                      <a:tailEnd type="none" w="med" len="med"/>
                    </a:lnR>
                    <a:lnT w="6350" cap="flat" cmpd="sng" algn="ctr">
                      <a:solidFill>
                        <a:srgbClr val="EEF2EF"/>
                      </a:solidFill>
                      <a:prstDash val="solid"/>
                      <a:round/>
                      <a:headEnd type="none" w="med" len="med"/>
                      <a:tailEnd type="none" w="med" len="med"/>
                    </a:lnT>
                    <a:lnB w="6350" cap="flat" cmpd="sng" algn="ctr">
                      <a:solidFill>
                        <a:srgbClr val="EEF2EF"/>
                      </a:solidFill>
                      <a:prstDash val="solid"/>
                      <a:round/>
                      <a:headEnd type="none" w="med" len="med"/>
                      <a:tailEnd type="none" w="med" len="med"/>
                    </a:lnB>
                  </a:tcPr>
                </a:tc>
              </a:tr>
              <a:tr h="457200">
                <a:tc>
                  <a:txBody>
                    <a:bodyPr/>
                    <a:lstStyle/>
                    <a:p>
                      <a:pPr algn="ctr" indent="0" marL="0">
                        <a:buNone/>
                      </a:pPr>
                      <a:r>
                        <a:rPr lang="en-US" sz="1200" b="1" dirty="0">
                          <a:solidFill>
                            <a:srgbClr val="D99A00"/>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73152" marR="73152" marT="36576" marB="36576" anchor="ctr">
                    <a:lnL w="6350" cap="flat" cmpd="sng" algn="ctr">
                      <a:solidFill>
                        <a:srgbClr val="EEF2EF"/>
                      </a:solidFill>
                      <a:prstDash val="solid"/>
                      <a:round/>
                      <a:headEnd type="none" w="med" len="med"/>
                      <a:tailEnd type="none" w="med" len="med"/>
                    </a:lnL>
                    <a:lnR w="6350" cap="flat" cmpd="sng" algn="ctr">
                      <a:solidFill>
                        <a:srgbClr val="EEF2EF"/>
                      </a:solidFill>
                      <a:prstDash val="solid"/>
                      <a:round/>
                      <a:headEnd type="none" w="med" len="med"/>
                      <a:tailEnd type="none" w="med" len="med"/>
                    </a:lnR>
                    <a:lnT w="6350" cap="flat" cmpd="sng" algn="ctr">
                      <a:solidFill>
                        <a:srgbClr val="EEF2EF"/>
                      </a:solidFill>
                      <a:prstDash val="solid"/>
                      <a:round/>
                      <a:headEnd type="none" w="med" len="med"/>
                      <a:tailEnd type="none" w="med" len="med"/>
                    </a:lnT>
                    <a:lnB w="6350" cap="flat" cmpd="sng" algn="ctr">
                      <a:solidFill>
                        <a:srgbClr val="EEF2EF"/>
                      </a:solidFill>
                      <a:prstDash val="solid"/>
                      <a:round/>
                      <a:headEnd type="none" w="med" len="med"/>
                      <a:tailEnd type="none" w="med" len="med"/>
                    </a:lnB>
                  </a:tcPr>
                </a:tc>
                <a:tc>
                  <a:txBody>
                    <a:bodyPr/>
                    <a:lstStyle/>
                    <a:p>
                      <a:pPr indent="0" marL="0">
                        <a:buNone/>
                      </a:pPr>
                      <a:r>
                        <a:rPr lang="en-US" sz="1200" b="1" dirty="0">
                          <a:solidFill>
                            <a:srgbClr val="1B2420"/>
                          </a:solidFill>
                          <a:latin typeface="Calibri" pitchFamily="34" charset="0"/>
                          <a:ea typeface="Calibri" pitchFamily="34" charset="-122"/>
                          <a:cs typeface="Calibri" pitchFamily="34" charset="-120"/>
                        </a:rPr>
                        <a:t>Duplicates</a:t>
                      </a:r>
                      <a:endParaRPr lang="en-US" sz="1200" dirty="0">
                        <a:latin typeface="Calibri" charset="0"/>
                        <a:ea typeface="Calibri" charset="0"/>
                        <a:cs typeface="Calibri" charset="0"/>
                      </a:endParaRPr>
                    </a:p>
                  </a:txBody>
                  <a:tcPr marL="73152" marR="73152" marT="36576" marB="36576" anchor="ctr">
                    <a:lnL w="6350" cap="flat" cmpd="sng" algn="ctr">
                      <a:solidFill>
                        <a:srgbClr val="EEF2EF"/>
                      </a:solidFill>
                      <a:prstDash val="solid"/>
                      <a:round/>
                      <a:headEnd type="none" w="med" len="med"/>
                      <a:tailEnd type="none" w="med" len="med"/>
                    </a:lnL>
                    <a:lnR w="6350" cap="flat" cmpd="sng" algn="ctr">
                      <a:solidFill>
                        <a:srgbClr val="EEF2EF"/>
                      </a:solidFill>
                      <a:prstDash val="solid"/>
                      <a:round/>
                      <a:headEnd type="none" w="med" len="med"/>
                      <a:tailEnd type="none" w="med" len="med"/>
                    </a:lnR>
                    <a:lnT w="6350" cap="flat" cmpd="sng" algn="ctr">
                      <a:solidFill>
                        <a:srgbClr val="EEF2EF"/>
                      </a:solidFill>
                      <a:prstDash val="solid"/>
                      <a:round/>
                      <a:headEnd type="none" w="med" len="med"/>
                      <a:tailEnd type="none" w="med" len="med"/>
                    </a:lnT>
                    <a:lnB w="6350" cap="flat" cmpd="sng" algn="ctr">
                      <a:solidFill>
                        <a:srgbClr val="EEF2EF"/>
                      </a:solidFill>
                      <a:prstDash val="solid"/>
                      <a:round/>
                      <a:headEnd type="none" w="med" len="med"/>
                      <a:tailEnd type="none" w="med" len="med"/>
                    </a:lnB>
                  </a:tcPr>
                </a:tc>
                <a:tc>
                  <a:txBody>
                    <a:bodyPr/>
                    <a:lstStyle/>
                    <a:p>
                      <a:pPr indent="0" marL="0">
                        <a:buNone/>
                      </a:pPr>
                      <a:r>
                        <a:rPr lang="en-US" sz="1200" dirty="0">
                          <a:solidFill>
                            <a:srgbClr val="1B2420"/>
                          </a:solidFill>
                          <a:latin typeface="Calibri" pitchFamily="34" charset="0"/>
                          <a:ea typeface="Calibri" pitchFamily="34" charset="-122"/>
                          <a:cs typeface="Calibri" pitchFamily="34" charset="-120"/>
                        </a:rPr>
                        <a:t>101, 103, 166, 167, 168, 169, 170, 172, 173, 175, 176, 177, 178, 179, 250, 251</a:t>
                      </a:r>
                      <a:endParaRPr lang="en-US" sz="1200" dirty="0">
                        <a:latin typeface="Calibri" charset="0"/>
                        <a:ea typeface="Calibri" charset="0"/>
                        <a:cs typeface="Calibri" charset="0"/>
                      </a:endParaRPr>
                    </a:p>
                  </a:txBody>
                  <a:tcPr marL="73152" marR="73152" marT="36576" marB="36576" anchor="ctr">
                    <a:lnL w="6350" cap="flat" cmpd="sng" algn="ctr">
                      <a:solidFill>
                        <a:srgbClr val="EEF2EF"/>
                      </a:solidFill>
                      <a:prstDash val="solid"/>
                      <a:round/>
                      <a:headEnd type="none" w="med" len="med"/>
                      <a:tailEnd type="none" w="med" len="med"/>
                    </a:lnL>
                    <a:lnR w="6350" cap="flat" cmpd="sng" algn="ctr">
                      <a:solidFill>
                        <a:srgbClr val="EEF2EF"/>
                      </a:solidFill>
                      <a:prstDash val="solid"/>
                      <a:round/>
                      <a:headEnd type="none" w="med" len="med"/>
                      <a:tailEnd type="none" w="med" len="med"/>
                    </a:lnR>
                    <a:lnT w="6350" cap="flat" cmpd="sng" algn="ctr">
                      <a:solidFill>
                        <a:srgbClr val="EEF2EF"/>
                      </a:solidFill>
                      <a:prstDash val="solid"/>
                      <a:round/>
                      <a:headEnd type="none" w="med" len="med"/>
                      <a:tailEnd type="none" w="med" len="med"/>
                    </a:lnT>
                    <a:lnB w="6350" cap="flat" cmpd="sng" algn="ctr">
                      <a:solidFill>
                        <a:srgbClr val="EEF2EF"/>
                      </a:solidFill>
                      <a:prstDash val="solid"/>
                      <a:round/>
                      <a:headEnd type="none" w="med" len="med"/>
                      <a:tailEnd type="none" w="med" len="med"/>
                    </a:lnB>
                  </a:tcPr>
                </a:tc>
                <a:tc>
                  <a:txBody>
                    <a:bodyPr/>
                    <a:lstStyle/>
                    <a:p>
                      <a:pPr algn="r" indent="0" marL="0">
                        <a:buNone/>
                      </a:pPr>
                      <a:r>
                        <a:rPr lang="en-US" sz="1200" dirty="0">
                          <a:solidFill>
                            <a:srgbClr val="1B2420"/>
                          </a:solidFill>
                          <a:latin typeface="Calibri" pitchFamily="34" charset="0"/>
                          <a:ea typeface="Calibri" pitchFamily="34" charset="-122"/>
                          <a:cs typeface="Calibri" pitchFamily="34" charset="-120"/>
                        </a:rPr>
                        <a:t>16</a:t>
                      </a:r>
                      <a:endParaRPr lang="en-US" sz="1200" dirty="0">
                        <a:latin typeface="Calibri" charset="0"/>
                        <a:ea typeface="Calibri" charset="0"/>
                        <a:cs typeface="Calibri" charset="0"/>
                      </a:endParaRPr>
                    </a:p>
                  </a:txBody>
                  <a:tcPr marL="73152" marR="73152" marT="36576" marB="36576" anchor="ctr">
                    <a:lnL w="6350" cap="flat" cmpd="sng" algn="ctr">
                      <a:solidFill>
                        <a:srgbClr val="EEF2EF"/>
                      </a:solidFill>
                      <a:prstDash val="solid"/>
                      <a:round/>
                      <a:headEnd type="none" w="med" len="med"/>
                      <a:tailEnd type="none" w="med" len="med"/>
                    </a:lnL>
                    <a:lnR w="6350" cap="flat" cmpd="sng" algn="ctr">
                      <a:solidFill>
                        <a:srgbClr val="EEF2EF"/>
                      </a:solidFill>
                      <a:prstDash val="solid"/>
                      <a:round/>
                      <a:headEnd type="none" w="med" len="med"/>
                      <a:tailEnd type="none" w="med" len="med"/>
                    </a:lnR>
                    <a:lnT w="6350" cap="flat" cmpd="sng" algn="ctr">
                      <a:solidFill>
                        <a:srgbClr val="EEF2EF"/>
                      </a:solidFill>
                      <a:prstDash val="solid"/>
                      <a:round/>
                      <a:headEnd type="none" w="med" len="med"/>
                      <a:tailEnd type="none" w="med" len="med"/>
                    </a:lnT>
                    <a:lnB w="6350" cap="flat" cmpd="sng" algn="ctr">
                      <a:solidFill>
                        <a:srgbClr val="EEF2EF"/>
                      </a:solidFill>
                      <a:prstDash val="solid"/>
                      <a:round/>
                      <a:headEnd type="none" w="med" len="med"/>
                      <a:tailEnd type="none" w="med" len="med"/>
                    </a:lnB>
                  </a:tcPr>
                </a:tc>
              </a:tr>
              <a:tr h="457200">
                <a:tc>
                  <a:txBody>
                    <a:bodyPr/>
                    <a:lstStyle/>
                    <a:p>
                      <a:pPr algn="ctr" indent="0" marL="0">
                        <a:buNone/>
                      </a:pPr>
                      <a:r>
                        <a:rPr lang="en-US" sz="1200" b="1" dirty="0">
                          <a:solidFill>
                            <a:srgbClr val="D99A00"/>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73152" marR="73152" marT="36576" marB="36576" anchor="ctr">
                    <a:lnL w="6350" cap="flat" cmpd="sng" algn="ctr">
                      <a:solidFill>
                        <a:srgbClr val="EEF2EF"/>
                      </a:solidFill>
                      <a:prstDash val="solid"/>
                      <a:round/>
                      <a:headEnd type="none" w="med" len="med"/>
                      <a:tailEnd type="none" w="med" len="med"/>
                    </a:lnL>
                    <a:lnR w="6350" cap="flat" cmpd="sng" algn="ctr">
                      <a:solidFill>
                        <a:srgbClr val="EEF2EF"/>
                      </a:solidFill>
                      <a:prstDash val="solid"/>
                      <a:round/>
                      <a:headEnd type="none" w="med" len="med"/>
                      <a:tailEnd type="none" w="med" len="med"/>
                    </a:lnR>
                    <a:lnT w="6350" cap="flat" cmpd="sng" algn="ctr">
                      <a:solidFill>
                        <a:srgbClr val="EEF2EF"/>
                      </a:solidFill>
                      <a:prstDash val="solid"/>
                      <a:round/>
                      <a:headEnd type="none" w="med" len="med"/>
                      <a:tailEnd type="none" w="med" len="med"/>
                    </a:lnT>
                    <a:lnB w="6350" cap="flat" cmpd="sng" algn="ctr">
                      <a:solidFill>
                        <a:srgbClr val="EEF2EF"/>
                      </a:solidFill>
                      <a:prstDash val="solid"/>
                      <a:round/>
                      <a:headEnd type="none" w="med" len="med"/>
                      <a:tailEnd type="none" w="med" len="med"/>
                    </a:lnB>
                  </a:tcPr>
                </a:tc>
                <a:tc>
                  <a:txBody>
                    <a:bodyPr/>
                    <a:lstStyle/>
                    <a:p>
                      <a:pPr indent="0" marL="0">
                        <a:buNone/>
                      </a:pPr>
                      <a:r>
                        <a:rPr lang="en-US" sz="1200" b="1" dirty="0">
                          <a:solidFill>
                            <a:srgbClr val="1B2420"/>
                          </a:solidFill>
                          <a:latin typeface="Calibri" pitchFamily="34" charset="0"/>
                          <a:ea typeface="Calibri" pitchFamily="34" charset="-122"/>
                          <a:cs typeface="Calibri" pitchFamily="34" charset="-120"/>
                        </a:rPr>
                        <a:t>Wrong label</a:t>
                      </a:r>
                      <a:endParaRPr lang="en-US" sz="1200" dirty="0">
                        <a:latin typeface="Calibri" charset="0"/>
                        <a:ea typeface="Calibri" charset="0"/>
                        <a:cs typeface="Calibri" charset="0"/>
                      </a:endParaRPr>
                    </a:p>
                  </a:txBody>
                  <a:tcPr marL="73152" marR="73152" marT="36576" marB="36576" anchor="ctr">
                    <a:lnL w="6350" cap="flat" cmpd="sng" algn="ctr">
                      <a:solidFill>
                        <a:srgbClr val="EEF2EF"/>
                      </a:solidFill>
                      <a:prstDash val="solid"/>
                      <a:round/>
                      <a:headEnd type="none" w="med" len="med"/>
                      <a:tailEnd type="none" w="med" len="med"/>
                    </a:lnL>
                    <a:lnR w="6350" cap="flat" cmpd="sng" algn="ctr">
                      <a:solidFill>
                        <a:srgbClr val="EEF2EF"/>
                      </a:solidFill>
                      <a:prstDash val="solid"/>
                      <a:round/>
                      <a:headEnd type="none" w="med" len="med"/>
                      <a:tailEnd type="none" w="med" len="med"/>
                    </a:lnR>
                    <a:lnT w="6350" cap="flat" cmpd="sng" algn="ctr">
                      <a:solidFill>
                        <a:srgbClr val="EEF2EF"/>
                      </a:solidFill>
                      <a:prstDash val="solid"/>
                      <a:round/>
                      <a:headEnd type="none" w="med" len="med"/>
                      <a:tailEnd type="none" w="med" len="med"/>
                    </a:lnT>
                    <a:lnB w="6350" cap="flat" cmpd="sng" algn="ctr">
                      <a:solidFill>
                        <a:srgbClr val="EEF2EF"/>
                      </a:solidFill>
                      <a:prstDash val="solid"/>
                      <a:round/>
                      <a:headEnd type="none" w="med" len="med"/>
                      <a:tailEnd type="none" w="med" len="med"/>
                    </a:lnB>
                  </a:tcPr>
                </a:tc>
                <a:tc>
                  <a:txBody>
                    <a:bodyPr/>
                    <a:lstStyle/>
                    <a:p>
                      <a:pPr indent="0" marL="0">
                        <a:buNone/>
                      </a:pPr>
                      <a:r>
                        <a:rPr lang="en-US" sz="1200" dirty="0">
                          <a:solidFill>
                            <a:srgbClr val="1B2420"/>
                          </a:solidFill>
                          <a:latin typeface="Calibri" pitchFamily="34" charset="0"/>
                          <a:ea typeface="Calibri" pitchFamily="34" charset="-122"/>
                          <a:cs typeface="Calibri" pitchFamily="34" charset="-120"/>
                        </a:rPr>
                        <a:t>58, 187, 188, 189, 338</a:t>
                      </a:r>
                      <a:endParaRPr lang="en-US" sz="1200" dirty="0">
                        <a:latin typeface="Calibri" charset="0"/>
                        <a:ea typeface="Calibri" charset="0"/>
                        <a:cs typeface="Calibri" charset="0"/>
                      </a:endParaRPr>
                    </a:p>
                  </a:txBody>
                  <a:tcPr marL="73152" marR="73152" marT="36576" marB="36576" anchor="ctr">
                    <a:lnL w="6350" cap="flat" cmpd="sng" algn="ctr">
                      <a:solidFill>
                        <a:srgbClr val="EEF2EF"/>
                      </a:solidFill>
                      <a:prstDash val="solid"/>
                      <a:round/>
                      <a:headEnd type="none" w="med" len="med"/>
                      <a:tailEnd type="none" w="med" len="med"/>
                    </a:lnL>
                    <a:lnR w="6350" cap="flat" cmpd="sng" algn="ctr">
                      <a:solidFill>
                        <a:srgbClr val="EEF2EF"/>
                      </a:solidFill>
                      <a:prstDash val="solid"/>
                      <a:round/>
                      <a:headEnd type="none" w="med" len="med"/>
                      <a:tailEnd type="none" w="med" len="med"/>
                    </a:lnR>
                    <a:lnT w="6350" cap="flat" cmpd="sng" algn="ctr">
                      <a:solidFill>
                        <a:srgbClr val="EEF2EF"/>
                      </a:solidFill>
                      <a:prstDash val="solid"/>
                      <a:round/>
                      <a:headEnd type="none" w="med" len="med"/>
                      <a:tailEnd type="none" w="med" len="med"/>
                    </a:lnT>
                    <a:lnB w="6350" cap="flat" cmpd="sng" algn="ctr">
                      <a:solidFill>
                        <a:srgbClr val="EEF2EF"/>
                      </a:solidFill>
                      <a:prstDash val="solid"/>
                      <a:round/>
                      <a:headEnd type="none" w="med" len="med"/>
                      <a:tailEnd type="none" w="med" len="med"/>
                    </a:lnB>
                  </a:tcPr>
                </a:tc>
                <a:tc>
                  <a:txBody>
                    <a:bodyPr/>
                    <a:lstStyle/>
                    <a:p>
                      <a:pPr algn="r" indent="0" marL="0">
                        <a:buNone/>
                      </a:pPr>
                      <a:r>
                        <a:rPr lang="en-US" sz="1200" dirty="0">
                          <a:solidFill>
                            <a:srgbClr val="1B2420"/>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73152" marR="73152" marT="36576" marB="36576" anchor="ctr">
                    <a:lnL w="6350" cap="flat" cmpd="sng" algn="ctr">
                      <a:solidFill>
                        <a:srgbClr val="EEF2EF"/>
                      </a:solidFill>
                      <a:prstDash val="solid"/>
                      <a:round/>
                      <a:headEnd type="none" w="med" len="med"/>
                      <a:tailEnd type="none" w="med" len="med"/>
                    </a:lnL>
                    <a:lnR w="6350" cap="flat" cmpd="sng" algn="ctr">
                      <a:solidFill>
                        <a:srgbClr val="EEF2EF"/>
                      </a:solidFill>
                      <a:prstDash val="solid"/>
                      <a:round/>
                      <a:headEnd type="none" w="med" len="med"/>
                      <a:tailEnd type="none" w="med" len="med"/>
                    </a:lnR>
                    <a:lnT w="6350" cap="flat" cmpd="sng" algn="ctr">
                      <a:solidFill>
                        <a:srgbClr val="EEF2EF"/>
                      </a:solidFill>
                      <a:prstDash val="solid"/>
                      <a:round/>
                      <a:headEnd type="none" w="med" len="med"/>
                      <a:tailEnd type="none" w="med" len="med"/>
                    </a:lnT>
                    <a:lnB w="6350" cap="flat" cmpd="sng" algn="ctr">
                      <a:solidFill>
                        <a:srgbClr val="EEF2EF"/>
                      </a:solidFill>
                      <a:prstDash val="solid"/>
                      <a:round/>
                      <a:headEnd type="none" w="med" len="med"/>
                      <a:tailEnd type="none" w="med" len="med"/>
                    </a:lnB>
                  </a:tcPr>
                </a:tc>
              </a:tr>
              <a:tr h="457200">
                <a:tc>
                  <a:txBody>
                    <a:bodyPr/>
                    <a:lstStyle/>
                    <a:p>
                      <a:pPr algn="ctr" indent="0" marL="0">
                        <a:buNone/>
                      </a:pPr>
                      <a:r>
                        <a:rPr lang="en-US" sz="1200" b="1" dirty="0">
                          <a:solidFill>
                            <a:srgbClr val="D99A00"/>
                          </a:solidFill>
                          <a:latin typeface="Calibri" pitchFamily="34" charset="0"/>
                          <a:ea typeface="Calibri" pitchFamily="34" charset="-122"/>
                          <a:cs typeface="Calibri" pitchFamily="34" charset="-120"/>
                        </a:rPr>
                        <a:t>6</a:t>
                      </a:r>
                      <a:endParaRPr lang="en-US" sz="1200" dirty="0">
                        <a:latin typeface="Calibri" charset="0"/>
                        <a:ea typeface="Calibri" charset="0"/>
                        <a:cs typeface="Calibri" charset="0"/>
                      </a:endParaRPr>
                    </a:p>
                  </a:txBody>
                  <a:tcPr marL="73152" marR="73152" marT="36576" marB="36576" anchor="ctr">
                    <a:lnL w="6350" cap="flat" cmpd="sng" algn="ctr">
                      <a:solidFill>
                        <a:srgbClr val="EEF2EF"/>
                      </a:solidFill>
                      <a:prstDash val="solid"/>
                      <a:round/>
                      <a:headEnd type="none" w="med" len="med"/>
                      <a:tailEnd type="none" w="med" len="med"/>
                    </a:lnL>
                    <a:lnR w="6350" cap="flat" cmpd="sng" algn="ctr">
                      <a:solidFill>
                        <a:srgbClr val="EEF2EF"/>
                      </a:solidFill>
                      <a:prstDash val="solid"/>
                      <a:round/>
                      <a:headEnd type="none" w="med" len="med"/>
                      <a:tailEnd type="none" w="med" len="med"/>
                    </a:lnR>
                    <a:lnT w="6350" cap="flat" cmpd="sng" algn="ctr">
                      <a:solidFill>
                        <a:srgbClr val="EEF2EF"/>
                      </a:solidFill>
                      <a:prstDash val="solid"/>
                      <a:round/>
                      <a:headEnd type="none" w="med" len="med"/>
                      <a:tailEnd type="none" w="med" len="med"/>
                    </a:lnT>
                    <a:lnB w="6350" cap="flat" cmpd="sng" algn="ctr">
                      <a:solidFill>
                        <a:srgbClr val="EEF2EF"/>
                      </a:solidFill>
                      <a:prstDash val="solid"/>
                      <a:round/>
                      <a:headEnd type="none" w="med" len="med"/>
                      <a:tailEnd type="none" w="med" len="med"/>
                    </a:lnB>
                  </a:tcPr>
                </a:tc>
                <a:tc>
                  <a:txBody>
                    <a:bodyPr/>
                    <a:lstStyle/>
                    <a:p>
                      <a:pPr indent="0" marL="0">
                        <a:buNone/>
                      </a:pPr>
                      <a:r>
                        <a:rPr lang="en-US" sz="1200" b="1" dirty="0">
                          <a:solidFill>
                            <a:srgbClr val="1B2420"/>
                          </a:solidFill>
                          <a:latin typeface="Calibri" pitchFamily="34" charset="0"/>
                          <a:ea typeface="Calibri" pitchFamily="34" charset="-122"/>
                          <a:cs typeface="Calibri" pitchFamily="34" charset="-120"/>
                        </a:rPr>
                        <a:t>Wrong date</a:t>
                      </a:r>
                      <a:endParaRPr lang="en-US" sz="1200" dirty="0">
                        <a:latin typeface="Calibri" charset="0"/>
                        <a:ea typeface="Calibri" charset="0"/>
                        <a:cs typeface="Calibri" charset="0"/>
                      </a:endParaRPr>
                    </a:p>
                  </a:txBody>
                  <a:tcPr marL="73152" marR="73152" marT="36576" marB="36576" anchor="ctr">
                    <a:lnL w="6350" cap="flat" cmpd="sng" algn="ctr">
                      <a:solidFill>
                        <a:srgbClr val="EEF2EF"/>
                      </a:solidFill>
                      <a:prstDash val="solid"/>
                      <a:round/>
                      <a:headEnd type="none" w="med" len="med"/>
                      <a:tailEnd type="none" w="med" len="med"/>
                    </a:lnL>
                    <a:lnR w="6350" cap="flat" cmpd="sng" algn="ctr">
                      <a:solidFill>
                        <a:srgbClr val="EEF2EF"/>
                      </a:solidFill>
                      <a:prstDash val="solid"/>
                      <a:round/>
                      <a:headEnd type="none" w="med" len="med"/>
                      <a:tailEnd type="none" w="med" len="med"/>
                    </a:lnR>
                    <a:lnT w="6350" cap="flat" cmpd="sng" algn="ctr">
                      <a:solidFill>
                        <a:srgbClr val="EEF2EF"/>
                      </a:solidFill>
                      <a:prstDash val="solid"/>
                      <a:round/>
                      <a:headEnd type="none" w="med" len="med"/>
                      <a:tailEnd type="none" w="med" len="med"/>
                    </a:lnT>
                    <a:lnB w="6350" cap="flat" cmpd="sng" algn="ctr">
                      <a:solidFill>
                        <a:srgbClr val="EEF2EF"/>
                      </a:solidFill>
                      <a:prstDash val="solid"/>
                      <a:round/>
                      <a:headEnd type="none" w="med" len="med"/>
                      <a:tailEnd type="none" w="med" len="med"/>
                    </a:lnB>
                  </a:tcPr>
                </a:tc>
                <a:tc>
                  <a:txBody>
                    <a:bodyPr/>
                    <a:lstStyle/>
                    <a:p>
                      <a:pPr indent="0" marL="0">
                        <a:buNone/>
                      </a:pPr>
                      <a:r>
                        <a:rPr lang="en-US" sz="1200" dirty="0">
                          <a:solidFill>
                            <a:srgbClr val="1B2420"/>
                          </a:solidFill>
                          <a:latin typeface="Calibri" pitchFamily="34" charset="0"/>
                          <a:ea typeface="Calibri" pitchFamily="34" charset="-122"/>
                          <a:cs typeface="Calibri" pitchFamily="34" charset="-120"/>
                        </a:rPr>
                        <a:t>16, 17, 40, 41, 64, 65, 157, 182, 224, 239, 243, 284</a:t>
                      </a:r>
                      <a:endParaRPr lang="en-US" sz="1200" dirty="0">
                        <a:latin typeface="Calibri" charset="0"/>
                        <a:ea typeface="Calibri" charset="0"/>
                        <a:cs typeface="Calibri" charset="0"/>
                      </a:endParaRPr>
                    </a:p>
                  </a:txBody>
                  <a:tcPr marL="73152" marR="73152" marT="36576" marB="36576" anchor="ctr">
                    <a:lnL w="6350" cap="flat" cmpd="sng" algn="ctr">
                      <a:solidFill>
                        <a:srgbClr val="EEF2EF"/>
                      </a:solidFill>
                      <a:prstDash val="solid"/>
                      <a:round/>
                      <a:headEnd type="none" w="med" len="med"/>
                      <a:tailEnd type="none" w="med" len="med"/>
                    </a:lnL>
                    <a:lnR w="6350" cap="flat" cmpd="sng" algn="ctr">
                      <a:solidFill>
                        <a:srgbClr val="EEF2EF"/>
                      </a:solidFill>
                      <a:prstDash val="solid"/>
                      <a:round/>
                      <a:headEnd type="none" w="med" len="med"/>
                      <a:tailEnd type="none" w="med" len="med"/>
                    </a:lnR>
                    <a:lnT w="6350" cap="flat" cmpd="sng" algn="ctr">
                      <a:solidFill>
                        <a:srgbClr val="EEF2EF"/>
                      </a:solidFill>
                      <a:prstDash val="solid"/>
                      <a:round/>
                      <a:headEnd type="none" w="med" len="med"/>
                      <a:tailEnd type="none" w="med" len="med"/>
                    </a:lnT>
                    <a:lnB w="6350" cap="flat" cmpd="sng" algn="ctr">
                      <a:solidFill>
                        <a:srgbClr val="EEF2EF"/>
                      </a:solidFill>
                      <a:prstDash val="solid"/>
                      <a:round/>
                      <a:headEnd type="none" w="med" len="med"/>
                      <a:tailEnd type="none" w="med" len="med"/>
                    </a:lnB>
                  </a:tcPr>
                </a:tc>
                <a:tc>
                  <a:txBody>
                    <a:bodyPr/>
                    <a:lstStyle/>
                    <a:p>
                      <a:pPr algn="r" indent="0" marL="0">
                        <a:buNone/>
                      </a:pPr>
                      <a:r>
                        <a:rPr lang="en-US" sz="1200" dirty="0">
                          <a:solidFill>
                            <a:srgbClr val="1B2420"/>
                          </a:solidFill>
                          <a:latin typeface="Calibri" pitchFamily="34" charset="0"/>
                          <a:ea typeface="Calibri" pitchFamily="34" charset="-122"/>
                          <a:cs typeface="Calibri" pitchFamily="34" charset="-120"/>
                        </a:rPr>
                        <a:t>12</a:t>
                      </a:r>
                      <a:endParaRPr lang="en-US" sz="1200" dirty="0">
                        <a:latin typeface="Calibri" charset="0"/>
                        <a:ea typeface="Calibri" charset="0"/>
                        <a:cs typeface="Calibri" charset="0"/>
                      </a:endParaRPr>
                    </a:p>
                  </a:txBody>
                  <a:tcPr marL="73152" marR="73152" marT="36576" marB="36576" anchor="ctr">
                    <a:lnL w="6350" cap="flat" cmpd="sng" algn="ctr">
                      <a:solidFill>
                        <a:srgbClr val="EEF2EF"/>
                      </a:solidFill>
                      <a:prstDash val="solid"/>
                      <a:round/>
                      <a:headEnd type="none" w="med" len="med"/>
                      <a:tailEnd type="none" w="med" len="med"/>
                    </a:lnL>
                    <a:lnR w="6350" cap="flat" cmpd="sng" algn="ctr">
                      <a:solidFill>
                        <a:srgbClr val="EEF2EF"/>
                      </a:solidFill>
                      <a:prstDash val="solid"/>
                      <a:round/>
                      <a:headEnd type="none" w="med" len="med"/>
                      <a:tailEnd type="none" w="med" len="med"/>
                    </a:lnR>
                    <a:lnT w="6350" cap="flat" cmpd="sng" algn="ctr">
                      <a:solidFill>
                        <a:srgbClr val="EEF2EF"/>
                      </a:solidFill>
                      <a:prstDash val="solid"/>
                      <a:round/>
                      <a:headEnd type="none" w="med" len="med"/>
                      <a:tailEnd type="none" w="med" len="med"/>
                    </a:lnT>
                    <a:lnB w="6350" cap="flat" cmpd="sng" algn="ctr">
                      <a:solidFill>
                        <a:srgbClr val="EEF2EF"/>
                      </a:solidFill>
                      <a:prstDash val="solid"/>
                      <a:round/>
                      <a:headEnd type="none" w="med" len="med"/>
                      <a:tailEnd type="none" w="med" len="med"/>
                    </a:lnB>
                  </a:tcPr>
                </a:tc>
              </a:tr>
              <a:tr h="457200">
                <a:tc>
                  <a:txBody>
                    <a:bodyPr/>
                    <a:lstStyle/>
                    <a:p>
                      <a:pPr algn="ctr" indent="0" marL="0">
                        <a:buNone/>
                      </a:pPr>
                      <a:r>
                        <a:rPr lang="en-US" sz="1200" b="1" dirty="0">
                          <a:solidFill>
                            <a:srgbClr val="D99A00"/>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73152" marR="73152" marT="36576" marB="36576" anchor="ctr">
                    <a:lnL w="6350" cap="flat" cmpd="sng" algn="ctr">
                      <a:solidFill>
                        <a:srgbClr val="EEF2EF"/>
                      </a:solidFill>
                      <a:prstDash val="solid"/>
                      <a:round/>
                      <a:headEnd type="none" w="med" len="med"/>
                      <a:tailEnd type="none" w="med" len="med"/>
                    </a:lnL>
                    <a:lnR w="6350" cap="flat" cmpd="sng" algn="ctr">
                      <a:solidFill>
                        <a:srgbClr val="EEF2EF"/>
                      </a:solidFill>
                      <a:prstDash val="solid"/>
                      <a:round/>
                      <a:headEnd type="none" w="med" len="med"/>
                      <a:tailEnd type="none" w="med" len="med"/>
                    </a:lnR>
                    <a:lnT w="6350" cap="flat" cmpd="sng" algn="ctr">
                      <a:solidFill>
                        <a:srgbClr val="EEF2EF"/>
                      </a:solidFill>
                      <a:prstDash val="solid"/>
                      <a:round/>
                      <a:headEnd type="none" w="med" len="med"/>
                      <a:tailEnd type="none" w="med" len="med"/>
                    </a:lnT>
                    <a:lnB w="6350" cap="flat" cmpd="sng" algn="ctr">
                      <a:solidFill>
                        <a:srgbClr val="EEF2EF"/>
                      </a:solidFill>
                      <a:prstDash val="solid"/>
                      <a:round/>
                      <a:headEnd type="none" w="med" len="med"/>
                      <a:tailEnd type="none" w="med" len="med"/>
                    </a:lnB>
                  </a:tcPr>
                </a:tc>
                <a:tc>
                  <a:txBody>
                    <a:bodyPr/>
                    <a:lstStyle/>
                    <a:p>
                      <a:pPr indent="0" marL="0">
                        <a:buNone/>
                      </a:pPr>
                      <a:r>
                        <a:rPr lang="en-US" sz="1200" b="1" dirty="0">
                          <a:solidFill>
                            <a:srgbClr val="1B2420"/>
                          </a:solidFill>
                          <a:latin typeface="Calibri" pitchFamily="34" charset="0"/>
                          <a:ea typeface="Calibri" pitchFamily="34" charset="-122"/>
                          <a:cs typeface="Calibri" pitchFamily="34" charset="-120"/>
                        </a:rPr>
                        <a:t>Missing pieces</a:t>
                      </a:r>
                      <a:endParaRPr lang="en-US" sz="1200" dirty="0">
                        <a:latin typeface="Calibri" charset="0"/>
                        <a:ea typeface="Calibri" charset="0"/>
                        <a:cs typeface="Calibri" charset="0"/>
                      </a:endParaRPr>
                    </a:p>
                  </a:txBody>
                  <a:tcPr marL="73152" marR="73152" marT="36576" marB="36576" anchor="ctr">
                    <a:lnL w="6350" cap="flat" cmpd="sng" algn="ctr">
                      <a:solidFill>
                        <a:srgbClr val="EEF2EF"/>
                      </a:solidFill>
                      <a:prstDash val="solid"/>
                      <a:round/>
                      <a:headEnd type="none" w="med" len="med"/>
                      <a:tailEnd type="none" w="med" len="med"/>
                    </a:lnL>
                    <a:lnR w="6350" cap="flat" cmpd="sng" algn="ctr">
                      <a:solidFill>
                        <a:srgbClr val="EEF2EF"/>
                      </a:solidFill>
                      <a:prstDash val="solid"/>
                      <a:round/>
                      <a:headEnd type="none" w="med" len="med"/>
                      <a:tailEnd type="none" w="med" len="med"/>
                    </a:lnR>
                    <a:lnT w="6350" cap="flat" cmpd="sng" algn="ctr">
                      <a:solidFill>
                        <a:srgbClr val="EEF2EF"/>
                      </a:solidFill>
                      <a:prstDash val="solid"/>
                      <a:round/>
                      <a:headEnd type="none" w="med" len="med"/>
                      <a:tailEnd type="none" w="med" len="med"/>
                    </a:lnT>
                    <a:lnB w="6350" cap="flat" cmpd="sng" algn="ctr">
                      <a:solidFill>
                        <a:srgbClr val="EEF2EF"/>
                      </a:solidFill>
                      <a:prstDash val="solid"/>
                      <a:round/>
                      <a:headEnd type="none" w="med" len="med"/>
                      <a:tailEnd type="none" w="med" len="med"/>
                    </a:lnB>
                  </a:tcPr>
                </a:tc>
                <a:tc>
                  <a:txBody>
                    <a:bodyPr/>
                    <a:lstStyle/>
                    <a:p>
                      <a:pPr indent="0" marL="0">
                        <a:buNone/>
                      </a:pPr>
                      <a:r>
                        <a:rPr lang="en-US" sz="1200" dirty="0">
                          <a:solidFill>
                            <a:srgbClr val="1B2420"/>
                          </a:solidFill>
                          <a:latin typeface="Calibri" pitchFamily="34" charset="0"/>
                          <a:ea typeface="Calibri" pitchFamily="34" charset="-122"/>
                          <a:cs typeface="Calibri" pitchFamily="34" charset="-120"/>
                        </a:rPr>
                        <a:t>146, 195, 236, 274, 312, 337, 338</a:t>
                      </a:r>
                      <a:endParaRPr lang="en-US" sz="1200" dirty="0">
                        <a:latin typeface="Calibri" charset="0"/>
                        <a:ea typeface="Calibri" charset="0"/>
                        <a:cs typeface="Calibri" charset="0"/>
                      </a:endParaRPr>
                    </a:p>
                  </a:txBody>
                  <a:tcPr marL="73152" marR="73152" marT="36576" marB="36576" anchor="ctr">
                    <a:lnL w="6350" cap="flat" cmpd="sng" algn="ctr">
                      <a:solidFill>
                        <a:srgbClr val="EEF2EF"/>
                      </a:solidFill>
                      <a:prstDash val="solid"/>
                      <a:round/>
                      <a:headEnd type="none" w="med" len="med"/>
                      <a:tailEnd type="none" w="med" len="med"/>
                    </a:lnL>
                    <a:lnR w="6350" cap="flat" cmpd="sng" algn="ctr">
                      <a:solidFill>
                        <a:srgbClr val="EEF2EF"/>
                      </a:solidFill>
                      <a:prstDash val="solid"/>
                      <a:round/>
                      <a:headEnd type="none" w="med" len="med"/>
                      <a:tailEnd type="none" w="med" len="med"/>
                    </a:lnR>
                    <a:lnT w="6350" cap="flat" cmpd="sng" algn="ctr">
                      <a:solidFill>
                        <a:srgbClr val="EEF2EF"/>
                      </a:solidFill>
                      <a:prstDash val="solid"/>
                      <a:round/>
                      <a:headEnd type="none" w="med" len="med"/>
                      <a:tailEnd type="none" w="med" len="med"/>
                    </a:lnT>
                    <a:lnB w="6350" cap="flat" cmpd="sng" algn="ctr">
                      <a:solidFill>
                        <a:srgbClr val="EEF2EF"/>
                      </a:solidFill>
                      <a:prstDash val="solid"/>
                      <a:round/>
                      <a:headEnd type="none" w="med" len="med"/>
                      <a:tailEnd type="none" w="med" len="med"/>
                    </a:lnB>
                  </a:tcPr>
                </a:tc>
                <a:tc>
                  <a:txBody>
                    <a:bodyPr/>
                    <a:lstStyle/>
                    <a:p>
                      <a:pPr algn="r" indent="0" marL="0">
                        <a:buNone/>
                      </a:pPr>
                      <a:r>
                        <a:rPr lang="en-US" sz="1200" dirty="0">
                          <a:solidFill>
                            <a:srgbClr val="1B2420"/>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73152" marR="73152" marT="36576" marB="36576" anchor="ctr">
                    <a:lnL w="6350" cap="flat" cmpd="sng" algn="ctr">
                      <a:solidFill>
                        <a:srgbClr val="EEF2EF"/>
                      </a:solidFill>
                      <a:prstDash val="solid"/>
                      <a:round/>
                      <a:headEnd type="none" w="med" len="med"/>
                      <a:tailEnd type="none" w="med" len="med"/>
                    </a:lnL>
                    <a:lnR w="6350" cap="flat" cmpd="sng" algn="ctr">
                      <a:solidFill>
                        <a:srgbClr val="EEF2EF"/>
                      </a:solidFill>
                      <a:prstDash val="solid"/>
                      <a:round/>
                      <a:headEnd type="none" w="med" len="med"/>
                      <a:tailEnd type="none" w="med" len="med"/>
                    </a:lnR>
                    <a:lnT w="6350" cap="flat" cmpd="sng" algn="ctr">
                      <a:solidFill>
                        <a:srgbClr val="EEF2EF"/>
                      </a:solidFill>
                      <a:prstDash val="solid"/>
                      <a:round/>
                      <a:headEnd type="none" w="med" len="med"/>
                      <a:tailEnd type="none" w="med" len="med"/>
                    </a:lnT>
                    <a:lnB w="6350" cap="flat" cmpd="sng" algn="ctr">
                      <a:solidFill>
                        <a:srgbClr val="EEF2EF"/>
                      </a:solidFill>
                      <a:prstDash val="solid"/>
                      <a:round/>
                      <a:headEnd type="none" w="med" len="med"/>
                      <a:tailEnd type="none" w="med" len="med"/>
                    </a:lnB>
                  </a:tcPr>
                </a:tc>
              </a:tr>
              <a:tr h="457200">
                <a:tc>
                  <a:txBody>
                    <a:bodyPr/>
                    <a:lstStyle/>
                    <a:p>
                      <a:pPr algn="ctr" indent="0" marL="0">
                        <a:buNone/>
                      </a:pPr>
                      <a:r>
                        <a:rPr lang="en-US" sz="1200" b="1" dirty="0">
                          <a:solidFill>
                            <a:srgbClr val="C2412D"/>
                          </a:solidFill>
                          <a:latin typeface="Calibri" pitchFamily="34" charset="0"/>
                          <a:ea typeface="Calibri" pitchFamily="34" charset="-122"/>
                          <a:cs typeface="Calibri" pitchFamily="34" charset="-120"/>
                        </a:rPr>
                        <a:t>8</a:t>
                      </a:r>
                      <a:endParaRPr lang="en-US" sz="1200" dirty="0">
                        <a:latin typeface="Calibri" charset="0"/>
                        <a:ea typeface="Calibri" charset="0"/>
                        <a:cs typeface="Calibri" charset="0"/>
                      </a:endParaRPr>
                    </a:p>
                  </a:txBody>
                  <a:tcPr marL="73152" marR="73152" marT="36576" marB="36576" anchor="ctr">
                    <a:lnL w="6350" cap="flat" cmpd="sng" algn="ctr">
                      <a:solidFill>
                        <a:srgbClr val="EEF2EF"/>
                      </a:solidFill>
                      <a:prstDash val="solid"/>
                      <a:round/>
                      <a:headEnd type="none" w="med" len="med"/>
                      <a:tailEnd type="none" w="med" len="med"/>
                    </a:lnL>
                    <a:lnR w="6350" cap="flat" cmpd="sng" algn="ctr">
                      <a:solidFill>
                        <a:srgbClr val="EEF2EF"/>
                      </a:solidFill>
                      <a:prstDash val="solid"/>
                      <a:round/>
                      <a:headEnd type="none" w="med" len="med"/>
                      <a:tailEnd type="none" w="med" len="med"/>
                    </a:lnR>
                    <a:lnT w="6350" cap="flat" cmpd="sng" algn="ctr">
                      <a:solidFill>
                        <a:srgbClr val="EEF2EF"/>
                      </a:solidFill>
                      <a:prstDash val="solid"/>
                      <a:round/>
                      <a:headEnd type="none" w="med" len="med"/>
                      <a:tailEnd type="none" w="med" len="med"/>
                    </a:lnT>
                    <a:lnB w="6350" cap="flat" cmpd="sng" algn="ctr">
                      <a:solidFill>
                        <a:srgbClr val="EEF2EF"/>
                      </a:solidFill>
                      <a:prstDash val="solid"/>
                      <a:round/>
                      <a:headEnd type="none" w="med" len="med"/>
                      <a:tailEnd type="none" w="med" len="med"/>
                    </a:lnB>
                  </a:tcPr>
                </a:tc>
                <a:tc>
                  <a:txBody>
                    <a:bodyPr/>
                    <a:lstStyle/>
                    <a:p>
                      <a:pPr indent="0" marL="0">
                        <a:buNone/>
                      </a:pPr>
                      <a:r>
                        <a:rPr lang="en-US" sz="1200" b="1" dirty="0">
                          <a:solidFill>
                            <a:srgbClr val="1B2420"/>
                          </a:solidFill>
                          <a:latin typeface="Calibri" pitchFamily="34" charset="0"/>
                          <a:ea typeface="Calibri" pitchFamily="34" charset="-122"/>
                          <a:cs typeface="Calibri" pitchFamily="34" charset="-120"/>
                        </a:rPr>
                        <a:t>Same fund, same share</a:t>
                      </a:r>
                      <a:endParaRPr lang="en-US" sz="1200" dirty="0">
                        <a:latin typeface="Calibri" charset="0"/>
                        <a:ea typeface="Calibri" charset="0"/>
                        <a:cs typeface="Calibri" charset="0"/>
                      </a:endParaRPr>
                    </a:p>
                  </a:txBody>
                  <a:tcPr marL="73152" marR="73152" marT="36576" marB="36576" anchor="ctr">
                    <a:lnL w="6350" cap="flat" cmpd="sng" algn="ctr">
                      <a:solidFill>
                        <a:srgbClr val="EEF2EF"/>
                      </a:solidFill>
                      <a:prstDash val="solid"/>
                      <a:round/>
                      <a:headEnd type="none" w="med" len="med"/>
                      <a:tailEnd type="none" w="med" len="med"/>
                    </a:lnL>
                    <a:lnR w="6350" cap="flat" cmpd="sng" algn="ctr">
                      <a:solidFill>
                        <a:srgbClr val="EEF2EF"/>
                      </a:solidFill>
                      <a:prstDash val="solid"/>
                      <a:round/>
                      <a:headEnd type="none" w="med" len="med"/>
                      <a:tailEnd type="none" w="med" len="med"/>
                    </a:lnR>
                    <a:lnT w="6350" cap="flat" cmpd="sng" algn="ctr">
                      <a:solidFill>
                        <a:srgbClr val="EEF2EF"/>
                      </a:solidFill>
                      <a:prstDash val="solid"/>
                      <a:round/>
                      <a:headEnd type="none" w="med" len="med"/>
                      <a:tailEnd type="none" w="med" len="med"/>
                    </a:lnT>
                    <a:lnB w="6350" cap="flat" cmpd="sng" algn="ctr">
                      <a:solidFill>
                        <a:srgbClr val="EEF2EF"/>
                      </a:solidFill>
                      <a:prstDash val="solid"/>
                      <a:round/>
                      <a:headEnd type="none" w="med" len="med"/>
                      <a:tailEnd type="none" w="med" len="med"/>
                    </a:lnB>
                  </a:tcPr>
                </a:tc>
                <a:tc>
                  <a:txBody>
                    <a:bodyPr/>
                    <a:lstStyle/>
                    <a:p>
                      <a:pPr indent="0" marL="0">
                        <a:buNone/>
                      </a:pPr>
                      <a:r>
                        <a:rPr lang="en-US" sz="1200" dirty="0">
                          <a:solidFill>
                            <a:srgbClr val="1B2420"/>
                          </a:solidFill>
                          <a:latin typeface="Calibri" pitchFamily="34" charset="0"/>
                          <a:ea typeface="Calibri" pitchFamily="34" charset="-122"/>
                          <a:cs typeface="Calibri" pitchFamily="34" charset="-120"/>
                        </a:rPr>
                        <a:t>197, 198, 199, 200, 314, 315, 316, 317</a:t>
                      </a:r>
                      <a:endParaRPr lang="en-US" sz="1200" dirty="0">
                        <a:latin typeface="Calibri" charset="0"/>
                        <a:ea typeface="Calibri" charset="0"/>
                        <a:cs typeface="Calibri" charset="0"/>
                      </a:endParaRPr>
                    </a:p>
                  </a:txBody>
                  <a:tcPr marL="73152" marR="73152" marT="36576" marB="36576" anchor="ctr">
                    <a:lnL w="6350" cap="flat" cmpd="sng" algn="ctr">
                      <a:solidFill>
                        <a:srgbClr val="EEF2EF"/>
                      </a:solidFill>
                      <a:prstDash val="solid"/>
                      <a:round/>
                      <a:headEnd type="none" w="med" len="med"/>
                      <a:tailEnd type="none" w="med" len="med"/>
                    </a:lnL>
                    <a:lnR w="6350" cap="flat" cmpd="sng" algn="ctr">
                      <a:solidFill>
                        <a:srgbClr val="EEF2EF"/>
                      </a:solidFill>
                      <a:prstDash val="solid"/>
                      <a:round/>
                      <a:headEnd type="none" w="med" len="med"/>
                      <a:tailEnd type="none" w="med" len="med"/>
                    </a:lnR>
                    <a:lnT w="6350" cap="flat" cmpd="sng" algn="ctr">
                      <a:solidFill>
                        <a:srgbClr val="EEF2EF"/>
                      </a:solidFill>
                      <a:prstDash val="solid"/>
                      <a:round/>
                      <a:headEnd type="none" w="med" len="med"/>
                      <a:tailEnd type="none" w="med" len="med"/>
                    </a:lnT>
                    <a:lnB w="6350" cap="flat" cmpd="sng" algn="ctr">
                      <a:solidFill>
                        <a:srgbClr val="EEF2EF"/>
                      </a:solidFill>
                      <a:prstDash val="solid"/>
                      <a:round/>
                      <a:headEnd type="none" w="med" len="med"/>
                      <a:tailEnd type="none" w="med" len="med"/>
                    </a:lnB>
                  </a:tcPr>
                </a:tc>
                <a:tc>
                  <a:txBody>
                    <a:bodyPr/>
                    <a:lstStyle/>
                    <a:p>
                      <a:pPr algn="r" indent="0" marL="0">
                        <a:buNone/>
                      </a:pPr>
                      <a:r>
                        <a:rPr lang="en-US" sz="1200" dirty="0">
                          <a:solidFill>
                            <a:srgbClr val="1B2420"/>
                          </a:solidFill>
                          <a:latin typeface="Calibri" pitchFamily="34" charset="0"/>
                          <a:ea typeface="Calibri" pitchFamily="34" charset="-122"/>
                          <a:cs typeface="Calibri" pitchFamily="34" charset="-120"/>
                        </a:rPr>
                        <a:t>8</a:t>
                      </a:r>
                      <a:endParaRPr lang="en-US" sz="1200" dirty="0">
                        <a:latin typeface="Calibri" charset="0"/>
                        <a:ea typeface="Calibri" charset="0"/>
                        <a:cs typeface="Calibri" charset="0"/>
                      </a:endParaRPr>
                    </a:p>
                  </a:txBody>
                  <a:tcPr marL="73152" marR="73152" marT="36576" marB="36576" anchor="ctr">
                    <a:lnL w="6350" cap="flat" cmpd="sng" algn="ctr">
                      <a:solidFill>
                        <a:srgbClr val="EEF2EF"/>
                      </a:solidFill>
                      <a:prstDash val="solid"/>
                      <a:round/>
                      <a:headEnd type="none" w="med" len="med"/>
                      <a:tailEnd type="none" w="med" len="med"/>
                    </a:lnL>
                    <a:lnR w="6350" cap="flat" cmpd="sng" algn="ctr">
                      <a:solidFill>
                        <a:srgbClr val="EEF2EF"/>
                      </a:solidFill>
                      <a:prstDash val="solid"/>
                      <a:round/>
                      <a:headEnd type="none" w="med" len="med"/>
                      <a:tailEnd type="none" w="med" len="med"/>
                    </a:lnR>
                    <a:lnT w="6350" cap="flat" cmpd="sng" algn="ctr">
                      <a:solidFill>
                        <a:srgbClr val="EEF2EF"/>
                      </a:solidFill>
                      <a:prstDash val="solid"/>
                      <a:round/>
                      <a:headEnd type="none" w="med" len="med"/>
                      <a:tailEnd type="none" w="med" len="med"/>
                    </a:lnT>
                    <a:lnB w="6350" cap="flat" cmpd="sng" algn="ctr">
                      <a:solidFill>
                        <a:srgbClr val="EEF2EF"/>
                      </a:solidFill>
                      <a:prstDash val="solid"/>
                      <a:round/>
                      <a:headEnd type="none" w="med" len="med"/>
                      <a:tailEnd type="none" w="med" len="med"/>
                    </a:lnB>
                  </a:tcPr>
                </a:tc>
              </a:tr>
            </a:tbl>
          </a:graphicData>
        </a:graphic>
      </p:graphicFrame>
      <p:sp>
        <p:nvSpPr>
          <p:cNvPr id="5" name="Text 2"/>
          <p:cNvSpPr txBox="1"/>
          <p:nvPr/>
        </p:nvSpPr>
        <p:spPr>
          <a:xfrm>
            <a:off x="548640" y="5989320"/>
            <a:ext cx="11064240" cy="365760"/>
          </a:xfrm>
          <a:prstGeom prst="rect">
            <a:avLst/>
          </a:prstGeom>
          <a:noFill/>
          <a:ln/>
        </p:spPr>
        <p:txBody>
          <a:bodyPr wrap="square" lIns="0" tIns="0" rIns="0" bIns="0" rtlCol="0" anchor="t"/>
          <a:lstStyle/>
          <a:p>
            <a:pPr indent="0" marL="0">
              <a:buNone/>
            </a:pPr>
            <a:r>
              <a:rPr lang="en-US" sz="1000" i="1" dirty="0">
                <a:solidFill>
                  <a:schemeClr val="accent5"/>
                </a:solidFill>
              </a:rPr>
              <a:t>Check 4 lists cash duplicates (101 / 103) and stored copies. Rows 21/44 and 45/68 share a file name across entities and are not counted as duplicates.</a:t>
            </a:r>
            <a:endParaRPr lang="en-US" sz="1000" dirty="0"/>
          </a:p>
        </p:txBody>
      </p:sp>
      <p:sp>
        <p:nvSpPr>
          <p:cNvPr id="25" name="Slide Number Placeholder 0"/>
          <p:cNvSpPr>
            <a:spLocks noGrp="1"/>
          </p:cNvSpPr>
          <p:nvPr>
            <p:ph type="sldNum" sz="quarter" idx="4294967295"/>
          </p:nvPr>
        </p:nvSpPr>
        <p:spPr>
          <a:xfrm>
            <a:off x="11274552" y="6473952"/>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theme/theme1.xml><?xml version="1.0" encoding="utf-8"?>
<a:theme xmlns:a="http://schemas.openxmlformats.org/drawingml/2006/main" name="Harbor Ridge Review">
  <a:themeElements>
    <a:clrScheme name="Harbor Ridge Review">
      <a:dk1>
        <a:srgbClr val="1B2420"/>
      </a:dk1>
      <a:lt1>
        <a:srgbClr val="FFFFFF"/>
      </a:lt1>
      <a:dk2>
        <a:srgbClr val="123B30"/>
      </a:dk2>
      <a:lt2>
        <a:srgbClr val="EEF2EF"/>
      </a:lt2>
      <a:accent1>
        <a:srgbClr val="1F7A5C"/>
      </a:accent1>
      <a:accent2>
        <a:srgbClr val="C2412D"/>
      </a:accent2>
      <a:accent3>
        <a:srgbClr val="D99A00"/>
      </a:accent3>
      <a:accent4>
        <a:srgbClr val="A9B5AF"/>
      </a:accent4>
      <a:accent5>
        <a:srgbClr val="5B6B64"/>
      </a:accent5>
      <a:accent6>
        <a:srgbClr val="B9D7C9"/>
      </a:accent6>
      <a:hlink>
        <a:srgbClr val="1F7A5C"/>
      </a:hlink>
      <a:folHlink>
        <a:srgbClr val="5B6B64"/>
      </a:folHlink>
    </a:clrScheme>
    <a:fontScheme name="Harbor Ridge Review">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Make Thursday safe to show</dc:title>
  <dc:subject>PptxGenJS Presentation</dc:subject>
  <dc:creator>PptxGenJS</dc:creator>
  <cp:lastModifiedBy>PptxGenJS</cp:lastModifiedBy>
  <cp:revision>1</cp:revision>
  <dcterms:created xsi:type="dcterms:W3CDTF">2026-10-20T03:15:09Z</dcterms:created>
  <dcterms:modified xsi:type="dcterms:W3CDTF">2026-10-20T03:15:09Z</dcterms:modified>
</cp:coreProperties>
</file>